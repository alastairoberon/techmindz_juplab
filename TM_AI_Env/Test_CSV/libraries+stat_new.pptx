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21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9" r:id="rId174"/>
    <p:sldId id="430" r:id="rId175"/>
    <p:sldId id="431" r:id="rId176"/>
    <p:sldId id="432" r:id="rId177"/>
    <p:sldId id="433" r:id="rId178"/>
    <p:sldId id="434" r:id="rId179"/>
    <p:sldId id="435" r:id="rId180"/>
    <p:sldId id="436" r:id="rId181"/>
    <p:sldId id="437" r:id="rId182"/>
    <p:sldId id="438" r:id="rId183"/>
    <p:sldId id="439" r:id="rId184"/>
    <p:sldId id="440" r:id="rId185"/>
    <p:sldId id="441" r:id="rId186"/>
    <p:sldId id="442" r:id="rId187"/>
    <p:sldId id="443" r:id="rId188"/>
    <p:sldId id="444" r:id="rId189"/>
    <p:sldId id="445" r:id="rId190"/>
    <p:sldId id="446" r:id="rId191"/>
    <p:sldId id="448" r:id="rId192"/>
    <p:sldId id="449" r:id="rId193"/>
    <p:sldId id="450" r:id="rId194"/>
    <p:sldId id="451" r:id="rId195"/>
    <p:sldId id="452" r:id="rId196"/>
    <p:sldId id="453" r:id="rId197"/>
    <p:sldId id="454" r:id="rId198"/>
    <p:sldId id="455" r:id="rId199"/>
    <p:sldId id="456" r:id="rId200"/>
    <p:sldId id="457" r:id="rId201"/>
    <p:sldId id="458" r:id="rId202"/>
    <p:sldId id="459" r:id="rId203"/>
    <p:sldId id="460" r:id="rId204"/>
    <p:sldId id="461" r:id="rId205"/>
    <p:sldId id="462" r:id="rId206"/>
    <p:sldId id="463" r:id="rId207"/>
    <p:sldId id="464" r:id="rId208"/>
    <p:sldId id="465" r:id="rId209"/>
    <p:sldId id="466" r:id="rId210"/>
    <p:sldId id="467" r:id="rId211"/>
    <p:sldId id="468" r:id="rId212"/>
  </p:sldIdLst>
  <p:sldSz cx="9144000" cy="5143500" type="screen16x9"/>
  <p:notesSz cx="6858000" cy="9144000"/>
  <p:embeddedFontLst>
    <p:embeddedFont>
      <p:font typeface="Georgia" panose="02040502050405020303" pitchFamily="18" charset="0"/>
      <p:regular r:id="rId214"/>
      <p:bold r:id="rId215"/>
      <p:italic r:id="rId216"/>
      <p:boldItalic r:id="rId217"/>
    </p:embeddedFont>
    <p:embeddedFont>
      <p:font typeface="Open Sans" panose="020B0606030504020204" pitchFamily="34" charset="0"/>
      <p:regular r:id="rId218"/>
      <p:bold r:id="rId219"/>
      <p:italic r:id="rId220"/>
      <p:boldItalic r:id="rId221"/>
    </p:embeddedFont>
    <p:embeddedFont>
      <p:font typeface="Source Code Pro" panose="020B0509030403020204" pitchFamily="49" charset="0"/>
      <p:regular r:id="rId222"/>
      <p:bold r:id="rId223"/>
      <p:italic r:id="rId224"/>
      <p:boldItalic r:id="rId225"/>
    </p:embeddedFont>
    <p:embeddedFont>
      <p:font typeface="Spectral" panose="020B0604020202020204" charset="0"/>
      <p:regular r:id="rId226"/>
      <p:bold r:id="rId227"/>
      <p:italic r:id="rId228"/>
      <p:boldItalic r:id="rId2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8A72CF2-371C-45DC-8122-FC23861CFCA5}">
  <a:tblStyle styleId="{D8A72CF2-371C-45DC-8122-FC23861CFCA5}"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3" d="100"/>
          <a:sy n="103" d="100"/>
        </p:scale>
        <p:origin x="874" y="8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226" Type="http://schemas.openxmlformats.org/officeDocument/2006/relationships/font" Target="fonts/font13.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16" Type="http://schemas.openxmlformats.org/officeDocument/2006/relationships/font" Target="fonts/font3.fntdata"/><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227" Type="http://schemas.openxmlformats.org/officeDocument/2006/relationships/font" Target="fonts/font14.fntdata"/><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217" Type="http://schemas.openxmlformats.org/officeDocument/2006/relationships/font" Target="fonts/font4.fntdata"/><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228" Type="http://schemas.openxmlformats.org/officeDocument/2006/relationships/font" Target="fonts/font15.fntdata"/><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18" Type="http://schemas.openxmlformats.org/officeDocument/2006/relationships/font" Target="fonts/font5.fntdata"/><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229" Type="http://schemas.openxmlformats.org/officeDocument/2006/relationships/font" Target="fonts/font16.fntdata"/><Relationship Id="rId14" Type="http://schemas.openxmlformats.org/officeDocument/2006/relationships/slide" Target="slides/slide13.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8" Type="http://schemas.openxmlformats.org/officeDocument/2006/relationships/slide" Target="slides/slide7.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219" Type="http://schemas.openxmlformats.org/officeDocument/2006/relationships/font" Target="fonts/font6.fntdata"/><Relationship Id="rId230" Type="http://schemas.openxmlformats.org/officeDocument/2006/relationships/presProps" Target="presProp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slide" Target="slides/slide208.xml"/><Relationship Id="rId190" Type="http://schemas.openxmlformats.org/officeDocument/2006/relationships/slide" Target="slides/slide189.xml"/><Relationship Id="rId204" Type="http://schemas.openxmlformats.org/officeDocument/2006/relationships/slide" Target="slides/slide203.xml"/><Relationship Id="rId220" Type="http://schemas.openxmlformats.org/officeDocument/2006/relationships/font" Target="fonts/font7.fntdata"/><Relationship Id="rId225" Type="http://schemas.openxmlformats.org/officeDocument/2006/relationships/font" Target="fonts/font12.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slide" Target="slides/slide209.xml"/><Relationship Id="rId215" Type="http://schemas.openxmlformats.org/officeDocument/2006/relationships/font" Target="fonts/font2.fntdata"/><Relationship Id="rId26" Type="http://schemas.openxmlformats.org/officeDocument/2006/relationships/slide" Target="slides/slide25.xml"/><Relationship Id="rId231" Type="http://schemas.openxmlformats.org/officeDocument/2006/relationships/viewProps" Target="viewProps.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221" Type="http://schemas.openxmlformats.org/officeDocument/2006/relationships/font" Target="fonts/font8.fntdata"/><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slide" Target="slides/slide210.xml"/><Relationship Id="rId232" Type="http://schemas.openxmlformats.org/officeDocument/2006/relationships/theme" Target="theme/theme1.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222" Type="http://schemas.openxmlformats.org/officeDocument/2006/relationships/font" Target="fonts/font9.fntdata"/><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slide" Target="slides/slide211.xml"/><Relationship Id="rId233" Type="http://schemas.openxmlformats.org/officeDocument/2006/relationships/tableStyles" Target="tableStyles.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223" Type="http://schemas.openxmlformats.org/officeDocument/2006/relationships/font" Target="fonts/font10.fntdata"/><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notesMaster" Target="notesMasters/notesMaster1.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 Id="rId19" Type="http://schemas.openxmlformats.org/officeDocument/2006/relationships/slide" Target="slides/slide18.xml"/><Relationship Id="rId224" Type="http://schemas.openxmlformats.org/officeDocument/2006/relationships/font" Target="fonts/font11.fntdata"/><Relationship Id="rId30" Type="http://schemas.openxmlformats.org/officeDocument/2006/relationships/slide" Target="slides/slide2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font" Target="fonts/font1.fntdata"/><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
        <p:cNvGrpSpPr/>
        <p:nvPr/>
      </p:nvGrpSpPr>
      <p:grpSpPr>
        <a:xfrm>
          <a:off x="0" y="0"/>
          <a:ext cx="0" cy="0"/>
          <a:chOff x="0" y="0"/>
          <a:chExt cx="0" cy="0"/>
        </a:xfrm>
      </p:grpSpPr>
      <p:sp>
        <p:nvSpPr>
          <p:cNvPr id="66" name="Google Shape;66;g6f908a70f5_0_5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 name="Google Shape;67;g6f908a70f5_0_5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g6f908a70f5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 name="Google Shape;74;g6f908a70f5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6f908a70f5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 name="Google Shape;81;g6f908a70f5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g6f908a70f5_0_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 name="Google Shape;87;g6f908a70f5_0_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
        <p:cNvGrpSpPr/>
        <p:nvPr/>
      </p:nvGrpSpPr>
      <p:grpSpPr>
        <a:xfrm>
          <a:off x="0" y="0"/>
          <a:ext cx="0" cy="0"/>
          <a:chOff x="0" y="0"/>
          <a:chExt cx="0" cy="0"/>
        </a:xfrm>
      </p:grpSpPr>
      <p:sp>
        <p:nvSpPr>
          <p:cNvPr id="92" name="Google Shape;92;g6f908a70f5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 name="Google Shape;93;g6f908a70f5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6f908a70f5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6f908a70f5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g6f908a70f5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 name="Google Shape;106;g6f908a70f5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g6f908a70f5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 name="Google Shape;113;g6f908a70f5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g6f908a70f5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 name="Google Shape;119;g6f908a70f5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6f908a70f5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g6f908a70f5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6f908a70f5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6f908a70f5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6f908a70f5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6f908a70f5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6f908a70f5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6f908a70f5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6f908a70f5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6f908a70f5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6f908a70f5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6f908a70f5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6f908a70f5_0_2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6f908a70f5_0_2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6f908a70f5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6f908a70f5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6f908a70f5_0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6f908a70f5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6f908a70f5_0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6f908a70f5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6f908a70f5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6f908a70f5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6f908a70f5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6f908a70f5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6f908a70f5_0_1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6f908a70f5_0_1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sz="1050">
                <a:solidFill>
                  <a:schemeClr val="dk1"/>
                </a:solidFill>
                <a:highlight>
                  <a:srgbClr val="FFFFFF"/>
                </a:highlight>
              </a:rPr>
              <a:t>Exercise: create array as given below </a:t>
            </a:r>
            <a:endParaRPr sz="1050">
              <a:solidFill>
                <a:schemeClr val="dk1"/>
              </a:solidFill>
              <a:highlight>
                <a:srgbClr val="FFFFFF"/>
              </a:highlight>
            </a:endParaRPr>
          </a:p>
          <a:p>
            <a:pPr marL="0" lvl="0" indent="0" algn="l" rtl="0">
              <a:spcBef>
                <a:spcPts val="0"/>
              </a:spcBef>
              <a:spcAft>
                <a:spcPts val="0"/>
              </a:spcAft>
              <a:buNone/>
            </a:pPr>
            <a:r>
              <a:rPr lang="de-CH" sz="1050">
                <a:solidFill>
                  <a:schemeClr val="dk1"/>
                </a:solidFill>
                <a:highlight>
                  <a:srgbClr val="FFFFFF"/>
                </a:highlight>
              </a:rPr>
              <a:t> [1. 1. 1. 1. 1.]</a:t>
            </a:r>
            <a:endParaRPr sz="1050">
              <a:solidFill>
                <a:schemeClr val="dk1"/>
              </a:solidFill>
              <a:highlight>
                <a:srgbClr val="FFFFFF"/>
              </a:highlight>
            </a:endParaRPr>
          </a:p>
          <a:p>
            <a:pPr marL="0" lvl="0" indent="0" algn="l" rtl="0">
              <a:spcBef>
                <a:spcPts val="0"/>
              </a:spcBef>
              <a:spcAft>
                <a:spcPts val="0"/>
              </a:spcAft>
              <a:buNone/>
            </a:pPr>
            <a:r>
              <a:rPr lang="de-CH" sz="1050">
                <a:solidFill>
                  <a:schemeClr val="dk1"/>
                </a:solidFill>
                <a:highlight>
                  <a:srgbClr val="FFFFFF"/>
                </a:highlight>
              </a:rPr>
              <a:t> [1. 0. 0. 0. 1.]</a:t>
            </a:r>
            <a:endParaRPr sz="1050">
              <a:solidFill>
                <a:schemeClr val="dk1"/>
              </a:solidFill>
              <a:highlight>
                <a:srgbClr val="FFFFFF"/>
              </a:highlight>
            </a:endParaRPr>
          </a:p>
          <a:p>
            <a:pPr marL="0" lvl="0" indent="0" algn="l" rtl="0">
              <a:spcBef>
                <a:spcPts val="0"/>
              </a:spcBef>
              <a:spcAft>
                <a:spcPts val="0"/>
              </a:spcAft>
              <a:buNone/>
            </a:pPr>
            <a:r>
              <a:rPr lang="de-CH" sz="1050">
                <a:solidFill>
                  <a:schemeClr val="dk1"/>
                </a:solidFill>
                <a:highlight>
                  <a:srgbClr val="FFFFFF"/>
                </a:highlight>
              </a:rPr>
              <a:t> [1. 0. 9. 0. 1.]</a:t>
            </a:r>
            <a:endParaRPr sz="1050">
              <a:solidFill>
                <a:schemeClr val="dk1"/>
              </a:solidFill>
              <a:highlight>
                <a:srgbClr val="FFFFFF"/>
              </a:highlight>
            </a:endParaRPr>
          </a:p>
          <a:p>
            <a:pPr marL="0" lvl="0" indent="0" algn="l" rtl="0">
              <a:spcBef>
                <a:spcPts val="0"/>
              </a:spcBef>
              <a:spcAft>
                <a:spcPts val="0"/>
              </a:spcAft>
              <a:buNone/>
            </a:pPr>
            <a:r>
              <a:rPr lang="de-CH" sz="1050">
                <a:solidFill>
                  <a:schemeClr val="dk1"/>
                </a:solidFill>
                <a:highlight>
                  <a:srgbClr val="FFFFFF"/>
                </a:highlight>
              </a:rPr>
              <a:t> [1. 0. 0. 0. 1.]</a:t>
            </a:r>
            <a:endParaRPr sz="1050">
              <a:solidFill>
                <a:schemeClr val="dk1"/>
              </a:solidFill>
              <a:highlight>
                <a:srgbClr val="FFFFFF"/>
              </a:highlight>
            </a:endParaRPr>
          </a:p>
          <a:p>
            <a:pPr marL="0" lvl="0" indent="0" algn="l" rtl="0">
              <a:lnSpc>
                <a:spcPct val="115000"/>
              </a:lnSpc>
              <a:spcBef>
                <a:spcPts val="0"/>
              </a:spcBef>
              <a:spcAft>
                <a:spcPts val="0"/>
              </a:spcAft>
              <a:buClr>
                <a:schemeClr val="dk1"/>
              </a:buClr>
              <a:buSzPts val="1100"/>
              <a:buFont typeface="Arial"/>
              <a:buNone/>
            </a:pPr>
            <a:r>
              <a:rPr lang="de-CH" sz="1050">
                <a:solidFill>
                  <a:schemeClr val="dk1"/>
                </a:solidFill>
                <a:highlight>
                  <a:srgbClr val="FFFFFF"/>
                </a:highlight>
              </a:rPr>
              <a:t> [1. 1. 1. 1. 1.]]</a:t>
            </a:r>
            <a:endParaRPr sz="1050">
              <a:solidFill>
                <a:schemeClr val="dk1"/>
              </a:solidFill>
              <a:highlight>
                <a:srgbClr val="FFFFFF"/>
              </a:highlight>
            </a:endParaRPr>
          </a:p>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6f908a70f5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6f908a70f5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t>Identity</a:t>
            </a:r>
            <a:endParaRPr/>
          </a:p>
          <a:p>
            <a:pPr marL="0" lvl="0" indent="0" algn="l" rtl="0">
              <a:spcBef>
                <a:spcPts val="0"/>
              </a:spcBef>
              <a:spcAft>
                <a:spcPts val="0"/>
              </a:spcAft>
              <a:buNone/>
            </a:pPr>
            <a:r>
              <a:rPr lang="de-CH"/>
              <a:t>repeat</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6f908a70f5_0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6f908a70f5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658bdab3f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658bdab3f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g658bdab3f6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1" name="Google Shape;221;g658bdab3f6_1_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658bdab3f6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658bdab3f6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70852bc130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70852bc130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6f908a70f5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6f908a70f5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6f908a70f5_0_3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6f908a70f5_0_3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t>Create an array of size 3x3 array with all values True</a:t>
            </a:r>
            <a:endParaRPr/>
          </a:p>
          <a:p>
            <a:pPr marL="0" lvl="0" indent="0" algn="l" rtl="0">
              <a:spcBef>
                <a:spcPts val="0"/>
              </a:spcBef>
              <a:spcAft>
                <a:spcPts val="0"/>
              </a:spcAft>
              <a:buNone/>
            </a:pPr>
            <a:r>
              <a:rPr lang="de-CH"/>
              <a:t>Create a numpy array of elements from range 10 to 100 with 25 elements</a:t>
            </a:r>
            <a:endParaRPr/>
          </a:p>
          <a:p>
            <a:pPr marL="0" lvl="0" indent="0" algn="l" rtl="0">
              <a:spcBef>
                <a:spcPts val="0"/>
              </a:spcBef>
              <a:spcAft>
                <a:spcPts val="0"/>
              </a:spcAft>
              <a:buNone/>
            </a:pPr>
            <a:r>
              <a:rPr lang="de-CH"/>
              <a:t>Extract all odd numbers from that</a:t>
            </a:r>
            <a:endParaRPr/>
          </a:p>
          <a:p>
            <a:pPr marL="0" lvl="0" indent="0" algn="l" rtl="0">
              <a:spcBef>
                <a:spcPts val="0"/>
              </a:spcBef>
              <a:spcAft>
                <a:spcPts val="0"/>
              </a:spcAft>
              <a:buNone/>
            </a:pPr>
            <a:r>
              <a:rPr lang="de-CH" sz="1150">
                <a:solidFill>
                  <a:srgbClr val="333333"/>
                </a:solidFill>
                <a:highlight>
                  <a:srgbClr val="FFFFFF"/>
                </a:highlight>
                <a:latin typeface="Open Sans"/>
                <a:ea typeface="Open Sans"/>
                <a:cs typeface="Open Sans"/>
                <a:sym typeface="Open Sans"/>
              </a:rPr>
              <a:t>Replace all odd numbers in </a:t>
            </a:r>
            <a:r>
              <a:rPr lang="de-CH" sz="950">
                <a:solidFill>
                  <a:schemeClr val="dk1"/>
                </a:solidFill>
                <a:highlight>
                  <a:srgbClr val="FAFAFA"/>
                </a:highlight>
                <a:latin typeface="Source Code Pro"/>
                <a:ea typeface="Source Code Pro"/>
                <a:cs typeface="Source Code Pro"/>
                <a:sym typeface="Source Code Pro"/>
              </a:rPr>
              <a:t>arr</a:t>
            </a:r>
            <a:r>
              <a:rPr lang="de-CH" sz="1150">
                <a:solidFill>
                  <a:srgbClr val="333333"/>
                </a:solidFill>
                <a:highlight>
                  <a:srgbClr val="FFFFFF"/>
                </a:highlight>
                <a:latin typeface="Open Sans"/>
                <a:ea typeface="Open Sans"/>
                <a:cs typeface="Open Sans"/>
                <a:sym typeface="Open Sans"/>
              </a:rPr>
              <a:t> with -1</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6f908a70f5_0_2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1" name="Google Shape;251;g6f908a70f5_0_2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5"/>
        <p:cNvGrpSpPr/>
        <p:nvPr/>
      </p:nvGrpSpPr>
      <p:grpSpPr>
        <a:xfrm>
          <a:off x="0" y="0"/>
          <a:ext cx="0" cy="0"/>
          <a:chOff x="0" y="0"/>
          <a:chExt cx="0" cy="0"/>
        </a:xfrm>
      </p:grpSpPr>
      <p:sp>
        <p:nvSpPr>
          <p:cNvPr id="256" name="Google Shape;256;g6f908a70f5_0_3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7" name="Google Shape;257;g6f908a70f5_0_3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g6f908a70f5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3" name="Google Shape;263;g6f908a70f5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6f908a70f5_0_1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9" name="Google Shape;269;g6f908a70f5_0_1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t>Exercises:</a:t>
            </a:r>
            <a:endParaRPr/>
          </a:p>
          <a:p>
            <a:pPr marL="0" lvl="0" indent="0" algn="l" rtl="0">
              <a:spcBef>
                <a:spcPts val="0"/>
              </a:spcBef>
              <a:spcAft>
                <a:spcPts val="0"/>
              </a:spcAft>
              <a:buNone/>
            </a:pPr>
            <a:r>
              <a:rPr lang="de-CH"/>
              <a:t>Find how to do?</a:t>
            </a:r>
            <a:endParaRPr/>
          </a:p>
          <a:p>
            <a:pPr marL="0" lvl="0" indent="0" algn="l" rtl="0">
              <a:spcBef>
                <a:spcPts val="0"/>
              </a:spcBef>
              <a:spcAft>
                <a:spcPts val="0"/>
              </a:spcAft>
              <a:buNone/>
            </a:pPr>
            <a:r>
              <a:rPr lang="de-CH"/>
              <a:t>1.Inverse of a matrix</a:t>
            </a:r>
            <a:endParaRPr/>
          </a:p>
          <a:p>
            <a:pPr marL="0" lvl="0" indent="0" algn="l" rtl="0">
              <a:spcBef>
                <a:spcPts val="0"/>
              </a:spcBef>
              <a:spcAft>
                <a:spcPts val="0"/>
              </a:spcAft>
              <a:buNone/>
            </a:pPr>
            <a:r>
              <a:rPr lang="de-CH"/>
              <a:t>2.Determinant</a:t>
            </a:r>
            <a:endParaRPr/>
          </a:p>
          <a:p>
            <a:pPr marL="0" lvl="0" indent="0" algn="l" rtl="0">
              <a:spcBef>
                <a:spcPts val="0"/>
              </a:spcBef>
              <a:spcAft>
                <a:spcPts val="0"/>
              </a:spcAft>
              <a:buNone/>
            </a:pPr>
            <a:r>
              <a:rPr lang="de-CH"/>
              <a:t>3.Trace</a:t>
            </a:r>
            <a:endParaRPr/>
          </a:p>
          <a:p>
            <a:pPr marL="0" lvl="0" indent="0" algn="l" rtl="0">
              <a:spcBef>
                <a:spcPts val="0"/>
              </a:spcBef>
              <a:spcAft>
                <a:spcPts val="0"/>
              </a:spcAft>
              <a:buNone/>
            </a:pPr>
            <a:r>
              <a:rPr lang="de-CH"/>
              <a:t>4.Matrix Norm</a:t>
            </a:r>
            <a:endParaRPr/>
          </a:p>
          <a:p>
            <a:pPr marL="0" lvl="0" indent="0" algn="l" rtl="0">
              <a:spcBef>
                <a:spcPts val="0"/>
              </a:spcBef>
              <a:spcAft>
                <a:spcPts val="0"/>
              </a:spcAft>
              <a:buNone/>
            </a:pPr>
            <a:r>
              <a:rPr lang="de-CH"/>
              <a:t>5.Singular vector decomposition</a:t>
            </a:r>
            <a:endParaRPr/>
          </a:p>
          <a:p>
            <a:pPr marL="0" lvl="0" indent="0" algn="l" rtl="0">
              <a:spcBef>
                <a:spcPts val="0"/>
              </a:spcBef>
              <a:spcAft>
                <a:spcPts val="0"/>
              </a:spcAft>
              <a:buNone/>
            </a:pPr>
            <a:r>
              <a:rPr lang="de-CH"/>
              <a:t>6.matrix addition</a:t>
            </a:r>
            <a:endParaRPr/>
          </a:p>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6f908a70f5_0_1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6f908a70f5_0_1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6f908a70f5_0_1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6f908a70f5_0_1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6f908a70f5_0_2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6f908a70f5_0_2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de-CH"/>
              <a:t>1,2,3,4,5,6,7,8,9</a:t>
            </a:r>
            <a:endParaRPr/>
          </a:p>
          <a:p>
            <a:pPr marL="0" lvl="0" indent="0" algn="l" rtl="0">
              <a:spcBef>
                <a:spcPts val="0"/>
              </a:spcBef>
              <a:spcAft>
                <a:spcPts val="0"/>
              </a:spcAft>
              <a:buClr>
                <a:schemeClr val="dk1"/>
              </a:buClr>
              <a:buSzPts val="1100"/>
              <a:buFont typeface="Arial"/>
              <a:buNone/>
            </a:pPr>
            <a:r>
              <a:rPr lang="de-CH"/>
              <a:t>4,5,6,7,7,8,3,5,3</a:t>
            </a:r>
            <a:endParaRPr/>
          </a:p>
          <a:p>
            <a:pPr marL="0" lvl="0" indent="0" algn="l" rtl="0">
              <a:spcBef>
                <a:spcPts val="0"/>
              </a:spcBef>
              <a:spcAft>
                <a:spcPts val="0"/>
              </a:spcAft>
              <a:buClr>
                <a:schemeClr val="dk1"/>
              </a:buClr>
              <a:buSzPts val="1100"/>
              <a:buFont typeface="Arial"/>
              <a:buNone/>
            </a:pPr>
            <a:r>
              <a:rPr lang="de-CH"/>
              <a:t>2,3,5,6,4,3,2,1,4</a:t>
            </a:r>
            <a:endParaRPr/>
          </a:p>
          <a:p>
            <a:pPr marL="0" lvl="0" indent="0" algn="l" rtl="0">
              <a:spcBef>
                <a:spcPts val="0"/>
              </a:spcBef>
              <a:spcAft>
                <a:spcPts val="0"/>
              </a:spcAft>
              <a:buClr>
                <a:schemeClr val="dk1"/>
              </a:buClr>
              <a:buSzPts val="1100"/>
              <a:buFont typeface="Arial"/>
              <a:buNone/>
            </a:pPr>
            <a:r>
              <a:rPr lang="de-CH"/>
              <a:t>2,4,5,3,5,3,5,3,5</a:t>
            </a:r>
            <a:endParaRPr/>
          </a:p>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g6f908a70f5_0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3" name="Google Shape;293;g6f908a70f5_0_2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6f908a70f5_0_2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6f908a70f5_0_2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g6f908a70f5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5" name="Google Shape;305;g6f908a70f5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sz="1050">
                <a:solidFill>
                  <a:schemeClr val="dk1"/>
                </a:solidFill>
                <a:highlight>
                  <a:srgbClr val="FFFFFF"/>
                </a:highlight>
              </a:rPr>
              <a:t>       [ 1,  2,  3,  4,  5],</a:t>
            </a:r>
            <a:endParaRPr sz="1050">
              <a:solidFill>
                <a:schemeClr val="dk1"/>
              </a:solidFill>
              <a:highlight>
                <a:srgbClr val="FFFFFF"/>
              </a:highlight>
            </a:endParaRPr>
          </a:p>
          <a:p>
            <a:pPr marL="0" lvl="0" indent="0" algn="l" rtl="0">
              <a:spcBef>
                <a:spcPts val="0"/>
              </a:spcBef>
              <a:spcAft>
                <a:spcPts val="0"/>
              </a:spcAft>
              <a:buNone/>
            </a:pPr>
            <a:r>
              <a:rPr lang="de-CH" sz="1050">
                <a:solidFill>
                  <a:schemeClr val="dk1"/>
                </a:solidFill>
                <a:highlight>
                  <a:srgbClr val="FFFFFF"/>
                </a:highlight>
              </a:rPr>
              <a:t>       [ 6,  7,  8,  9, 10],</a:t>
            </a:r>
            <a:endParaRPr sz="1050">
              <a:solidFill>
                <a:schemeClr val="dk1"/>
              </a:solidFill>
              <a:highlight>
                <a:srgbClr val="FFFFFF"/>
              </a:highlight>
            </a:endParaRPr>
          </a:p>
          <a:p>
            <a:pPr marL="0" lvl="0" indent="0" algn="l" rtl="0">
              <a:spcBef>
                <a:spcPts val="0"/>
              </a:spcBef>
              <a:spcAft>
                <a:spcPts val="0"/>
              </a:spcAft>
              <a:buNone/>
            </a:pPr>
            <a:r>
              <a:rPr lang="de-CH" sz="1050">
                <a:solidFill>
                  <a:schemeClr val="dk1"/>
                </a:solidFill>
                <a:highlight>
                  <a:srgbClr val="FFFFFF"/>
                </a:highlight>
              </a:rPr>
              <a:t>       [11, 12, 13, 14, 15],</a:t>
            </a:r>
            <a:endParaRPr sz="1050">
              <a:solidFill>
                <a:schemeClr val="dk1"/>
              </a:solidFill>
              <a:highlight>
                <a:srgbClr val="FFFFFF"/>
              </a:highlight>
            </a:endParaRPr>
          </a:p>
          <a:p>
            <a:pPr marL="0" lvl="0" indent="0" algn="l" rtl="0">
              <a:spcBef>
                <a:spcPts val="0"/>
              </a:spcBef>
              <a:spcAft>
                <a:spcPts val="0"/>
              </a:spcAft>
              <a:buNone/>
            </a:pPr>
            <a:r>
              <a:rPr lang="de-CH" sz="1050">
                <a:solidFill>
                  <a:schemeClr val="dk1"/>
                </a:solidFill>
                <a:highlight>
                  <a:srgbClr val="FFFFFF"/>
                </a:highlight>
              </a:rPr>
              <a:t>       [16, 17, 18, 19, 20],</a:t>
            </a:r>
            <a:endParaRPr sz="1050">
              <a:solidFill>
                <a:schemeClr val="dk1"/>
              </a:solidFill>
              <a:highlight>
                <a:srgbClr val="FFFFFF"/>
              </a:highlight>
            </a:endParaRPr>
          </a:p>
          <a:p>
            <a:pPr marL="0" lvl="0" indent="0" algn="l" rtl="0">
              <a:spcBef>
                <a:spcPts val="0"/>
              </a:spcBef>
              <a:spcAft>
                <a:spcPts val="0"/>
              </a:spcAft>
              <a:buNone/>
            </a:pPr>
            <a:r>
              <a:rPr lang="de-CH" sz="1050">
                <a:solidFill>
                  <a:schemeClr val="dk1"/>
                </a:solidFill>
                <a:highlight>
                  <a:srgbClr val="FFFFFF"/>
                </a:highlight>
              </a:rPr>
              <a:t>       [21, 22, 23, 24, 25],</a:t>
            </a:r>
            <a:endParaRPr sz="1050">
              <a:solidFill>
                <a:schemeClr val="dk1"/>
              </a:solidFill>
              <a:highlight>
                <a:srgbClr val="FFFFFF"/>
              </a:highlight>
            </a:endParaRPr>
          </a:p>
          <a:p>
            <a:pPr marL="0" lvl="0" indent="0" algn="l" rtl="0">
              <a:lnSpc>
                <a:spcPct val="115000"/>
              </a:lnSpc>
              <a:spcBef>
                <a:spcPts val="0"/>
              </a:spcBef>
              <a:spcAft>
                <a:spcPts val="0"/>
              </a:spcAft>
              <a:buClr>
                <a:schemeClr val="dk1"/>
              </a:buClr>
              <a:buSzPts val="1100"/>
              <a:buFont typeface="Arial"/>
              <a:buNone/>
            </a:pPr>
            <a:r>
              <a:rPr lang="de-CH" sz="1050">
                <a:solidFill>
                  <a:schemeClr val="dk1"/>
                </a:solidFill>
                <a:highlight>
                  <a:srgbClr val="FFFFFF"/>
                </a:highlight>
              </a:rPr>
              <a:t>       [26, 27, 28, 29, 30]]</a:t>
            </a:r>
            <a:endParaRPr sz="1050">
              <a:solidFill>
                <a:schemeClr val="dk1"/>
              </a:solidFill>
              <a:highlight>
                <a:srgbClr val="FFFFFF"/>
              </a:highlight>
            </a:endParaRPr>
          </a:p>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g6f908a70f5_0_2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1" name="Google Shape;311;g6f908a70f5_0_2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g6f908a70f5_0_2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7" name="Google Shape;317;g6f908a70f5_0_2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6571d613f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3" name="Google Shape;323;g6571d613f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t>axis=0</a:t>
            </a:r>
            <a:endParaRPr/>
          </a:p>
          <a:p>
            <a:pPr marL="0" lvl="0" indent="0" algn="l" rtl="0">
              <a:spcBef>
                <a:spcPts val="0"/>
              </a:spcBef>
              <a:spcAft>
                <a:spcPts val="0"/>
              </a:spcAft>
              <a:buNone/>
            </a:pPr>
            <a:r>
              <a:rPr lang="de-CH"/>
              <a:t>[a,b]</a:t>
            </a:r>
            <a:endParaRPr/>
          </a:p>
          <a:p>
            <a:pPr marL="0" lvl="0" indent="0" algn="l" rtl="0">
              <a:spcBef>
                <a:spcPts val="0"/>
              </a:spcBef>
              <a:spcAft>
                <a:spcPts val="0"/>
              </a:spcAft>
              <a:buNone/>
            </a:pPr>
            <a:r>
              <a:rPr lang="de-CH"/>
              <a:t>Arr[:a,:]</a:t>
            </a:r>
            <a:endParaRPr/>
          </a:p>
          <a:p>
            <a:pPr marL="0" lvl="0" indent="0" algn="l" rtl="0">
              <a:spcBef>
                <a:spcPts val="0"/>
              </a:spcBef>
              <a:spcAft>
                <a:spcPts val="0"/>
              </a:spcAft>
              <a:buNone/>
            </a:pPr>
            <a:r>
              <a:rPr lang="de-CH"/>
              <a:t>Arr[a:b,:]</a:t>
            </a:r>
            <a:endParaRPr/>
          </a:p>
          <a:p>
            <a:pPr marL="0" lvl="0" indent="0" algn="l" rtl="0">
              <a:spcBef>
                <a:spcPts val="0"/>
              </a:spcBef>
              <a:spcAft>
                <a:spcPts val="0"/>
              </a:spcAft>
              <a:buNone/>
            </a:pPr>
            <a:r>
              <a:rPr lang="de-CH"/>
              <a:t>arr[b:,:]</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7"/>
        <p:cNvGrpSpPr/>
        <p:nvPr/>
      </p:nvGrpSpPr>
      <p:grpSpPr>
        <a:xfrm>
          <a:off x="0" y="0"/>
          <a:ext cx="0" cy="0"/>
          <a:chOff x="0" y="0"/>
          <a:chExt cx="0" cy="0"/>
        </a:xfrm>
      </p:grpSpPr>
      <p:sp>
        <p:nvSpPr>
          <p:cNvPr id="328" name="Google Shape;328;g6571d613f7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9" name="Google Shape;329;g6571d613f7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3"/>
        <p:cNvGrpSpPr/>
        <p:nvPr/>
      </p:nvGrpSpPr>
      <p:grpSpPr>
        <a:xfrm>
          <a:off x="0" y="0"/>
          <a:ext cx="0" cy="0"/>
          <a:chOff x="0" y="0"/>
          <a:chExt cx="0" cy="0"/>
        </a:xfrm>
      </p:grpSpPr>
      <p:sp>
        <p:nvSpPr>
          <p:cNvPr id="334" name="Google Shape;334;g6571d613f7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5" name="Google Shape;335;g6571d613f7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658bc35e47_3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658bc35e47_3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t>4 0 0 0 </a:t>
            </a:r>
            <a:endParaRPr/>
          </a:p>
          <a:p>
            <a:pPr marL="0" lvl="0" indent="0" algn="l" rtl="0">
              <a:spcBef>
                <a:spcPts val="0"/>
              </a:spcBef>
              <a:spcAft>
                <a:spcPts val="0"/>
              </a:spcAft>
              <a:buNone/>
            </a:pPr>
            <a:r>
              <a:rPr lang="de-CH"/>
              <a:t>0 5 0 0 </a:t>
            </a:r>
            <a:endParaRPr/>
          </a:p>
          <a:p>
            <a:pPr marL="0" lvl="0" indent="0" algn="l" rtl="0">
              <a:spcBef>
                <a:spcPts val="0"/>
              </a:spcBef>
              <a:spcAft>
                <a:spcPts val="0"/>
              </a:spcAft>
              <a:buNone/>
            </a:pPr>
            <a:r>
              <a:rPr lang="de-CH"/>
              <a:t>0 0 6 0 </a:t>
            </a:r>
            <a:endParaRPr/>
          </a:p>
          <a:p>
            <a:pPr marL="0" lvl="0" indent="0" algn="l" rtl="0">
              <a:spcBef>
                <a:spcPts val="0"/>
              </a:spcBef>
              <a:spcAft>
                <a:spcPts val="0"/>
              </a:spcAft>
              <a:buNone/>
            </a:pPr>
            <a:r>
              <a:rPr lang="de-CH"/>
              <a:t>0 0 0 8</a:t>
            </a:r>
            <a:endParaRPr/>
          </a:p>
          <a:p>
            <a:pPr marL="0" lvl="0" indent="0" algn="l" rtl="0">
              <a:spcBef>
                <a:spcPts val="0"/>
              </a:spcBef>
              <a:spcAft>
                <a:spcPts val="0"/>
              </a:spcAft>
              <a:buNone/>
            </a:pPr>
            <a:endParaRPr/>
          </a:p>
          <a:p>
            <a:pPr marL="0" lvl="0" indent="0" algn="l" rtl="0">
              <a:spcBef>
                <a:spcPts val="0"/>
              </a:spcBef>
              <a:spcAft>
                <a:spcPts val="0"/>
              </a:spcAft>
              <a:buNone/>
            </a:pPr>
            <a:r>
              <a:rPr lang="de-CH"/>
              <a:t>10101010</a:t>
            </a:r>
            <a:endParaRPr/>
          </a:p>
          <a:p>
            <a:pPr marL="0" lvl="0" indent="0" algn="l" rtl="0">
              <a:spcBef>
                <a:spcPts val="0"/>
              </a:spcBef>
              <a:spcAft>
                <a:spcPts val="0"/>
              </a:spcAft>
              <a:buNone/>
            </a:pPr>
            <a:r>
              <a:rPr lang="de-CH"/>
              <a:t>01010101</a:t>
            </a:r>
            <a:endParaRPr/>
          </a:p>
          <a:p>
            <a:pPr marL="0" lvl="0" indent="0" algn="l" rtl="0">
              <a:spcBef>
                <a:spcPts val="0"/>
              </a:spcBef>
              <a:spcAft>
                <a:spcPts val="0"/>
              </a:spcAft>
              <a:buNone/>
            </a:pPr>
            <a:r>
              <a:rPr lang="de-CH"/>
              <a:t>10101010</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g6571d613f7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8" name="Google Shape;348;g6571d613f7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g6fb3b096ce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4" name="Google Shape;354;g6fb3b096ce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6fb3b096ce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9" name="Google Shape;359;g6fb3b096ce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g6fc1617b94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5" name="Google Shape;365;g6fc1617b94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9"/>
        <p:cNvGrpSpPr/>
        <p:nvPr/>
      </p:nvGrpSpPr>
      <p:grpSpPr>
        <a:xfrm>
          <a:off x="0" y="0"/>
          <a:ext cx="0" cy="0"/>
          <a:chOff x="0" y="0"/>
          <a:chExt cx="0" cy="0"/>
        </a:xfrm>
      </p:grpSpPr>
      <p:sp>
        <p:nvSpPr>
          <p:cNvPr id="370" name="Google Shape;370;g12faf692711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 name="Google Shape;371;g12faf692711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5"/>
        <p:cNvGrpSpPr/>
        <p:nvPr/>
      </p:nvGrpSpPr>
      <p:grpSpPr>
        <a:xfrm>
          <a:off x="0" y="0"/>
          <a:ext cx="0" cy="0"/>
          <a:chOff x="0" y="0"/>
          <a:chExt cx="0" cy="0"/>
        </a:xfrm>
      </p:grpSpPr>
      <p:sp>
        <p:nvSpPr>
          <p:cNvPr id="376" name="Google Shape;376;g6571d613f7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7" name="Google Shape;377;g6571d613f7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g6571d613f7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3" name="Google Shape;383;g6571d613f7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7"/>
        <p:cNvGrpSpPr/>
        <p:nvPr/>
      </p:nvGrpSpPr>
      <p:grpSpPr>
        <a:xfrm>
          <a:off x="0" y="0"/>
          <a:ext cx="0" cy="0"/>
          <a:chOff x="0" y="0"/>
          <a:chExt cx="0" cy="0"/>
        </a:xfrm>
      </p:grpSpPr>
      <p:sp>
        <p:nvSpPr>
          <p:cNvPr id="388" name="Google Shape;388;g6571d613f7_0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9" name="Google Shape;389;g6571d613f7_0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t>emp={ 'id':[101,102,103,104,105],</a:t>
            </a:r>
            <a:endParaRPr/>
          </a:p>
          <a:p>
            <a:pPr marL="0" lvl="0" indent="0" algn="l" rtl="0">
              <a:spcBef>
                <a:spcPts val="0"/>
              </a:spcBef>
              <a:spcAft>
                <a:spcPts val="0"/>
              </a:spcAft>
              <a:buNone/>
            </a:pPr>
            <a:r>
              <a:rPr lang="de-CH"/>
              <a:t>'name':['deepak','shyam','arun','manu','jeena'],</a:t>
            </a:r>
            <a:endParaRPr/>
          </a:p>
          <a:p>
            <a:pPr marL="0" lvl="0" indent="0" algn="l" rtl="0">
              <a:spcBef>
                <a:spcPts val="0"/>
              </a:spcBef>
              <a:spcAft>
                <a:spcPts val="0"/>
              </a:spcAft>
              <a:buNone/>
            </a:pPr>
            <a:r>
              <a:rPr lang="de-CH"/>
              <a:t>'age':[25,22,24,20,27],</a:t>
            </a:r>
            <a:endParaRPr/>
          </a:p>
          <a:p>
            <a:pPr marL="0" lvl="0" indent="0" algn="l" rtl="0">
              <a:spcBef>
                <a:spcPts val="0"/>
              </a:spcBef>
              <a:spcAft>
                <a:spcPts val="0"/>
              </a:spcAft>
              <a:buNone/>
            </a:pPr>
            <a:r>
              <a:rPr lang="de-CH"/>
              <a:t>'salary':[25000,30000,150000,10000,30000]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3"/>
        <p:cNvGrpSpPr/>
        <p:nvPr/>
      </p:nvGrpSpPr>
      <p:grpSpPr>
        <a:xfrm>
          <a:off x="0" y="0"/>
          <a:ext cx="0" cy="0"/>
          <a:chOff x="0" y="0"/>
          <a:chExt cx="0" cy="0"/>
        </a:xfrm>
      </p:grpSpPr>
      <p:sp>
        <p:nvSpPr>
          <p:cNvPr id="394" name="Google Shape;394;g6571d613f7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5" name="Google Shape;395;g6571d613f7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6571d613f7_0_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6571d613f7_0_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de-CH"/>
              <a:t>emp_data_list=[{'id':101,'name':'deepak','age':25,'salary':25000},</a:t>
            </a:r>
            <a:endParaRPr/>
          </a:p>
          <a:p>
            <a:pPr marL="0" lvl="0" indent="0" algn="l" rtl="0">
              <a:spcBef>
                <a:spcPts val="0"/>
              </a:spcBef>
              <a:spcAft>
                <a:spcPts val="0"/>
              </a:spcAft>
              <a:buClr>
                <a:schemeClr val="dk1"/>
              </a:buClr>
              <a:buSzPts val="1100"/>
              <a:buFont typeface="Arial"/>
              <a:buNone/>
            </a:pPr>
            <a:r>
              <a:rPr lang="de-CH"/>
              <a:t>{'id':102,'name':'shyam','age':22,'salary':30000},</a:t>
            </a:r>
            <a:endParaRPr/>
          </a:p>
          <a:p>
            <a:pPr marL="0" lvl="0" indent="0" algn="l" rtl="0">
              <a:spcBef>
                <a:spcPts val="0"/>
              </a:spcBef>
              <a:spcAft>
                <a:spcPts val="0"/>
              </a:spcAft>
              <a:buClr>
                <a:schemeClr val="dk1"/>
              </a:buClr>
              <a:buSzPts val="1100"/>
              <a:buFont typeface="Arial"/>
              <a:buNone/>
            </a:pPr>
            <a:r>
              <a:rPr lang="de-CH"/>
              <a:t>{'id':103,'name':'arun','age':24,'salary':150000},</a:t>
            </a:r>
            <a:endParaRPr/>
          </a:p>
          <a:p>
            <a:pPr marL="0" lvl="0" indent="0" algn="l" rtl="0">
              <a:spcBef>
                <a:spcPts val="0"/>
              </a:spcBef>
              <a:spcAft>
                <a:spcPts val="0"/>
              </a:spcAft>
              <a:buClr>
                <a:schemeClr val="dk1"/>
              </a:buClr>
              <a:buSzPts val="1100"/>
              <a:buFont typeface="Arial"/>
              <a:buNone/>
            </a:pPr>
            <a:r>
              <a:rPr lang="de-CH"/>
              <a:t>{'id':104,'name':'manu','age':20,'salary':10000},</a:t>
            </a:r>
            <a:endParaRPr/>
          </a:p>
          <a:p>
            <a:pPr marL="0" lvl="0" indent="0" algn="l" rtl="0">
              <a:spcBef>
                <a:spcPts val="0"/>
              </a:spcBef>
              <a:spcAft>
                <a:spcPts val="0"/>
              </a:spcAft>
              <a:buClr>
                <a:schemeClr val="dk1"/>
              </a:buClr>
              <a:buSzPts val="1100"/>
              <a:buFont typeface="Arial"/>
              <a:buNone/>
            </a:pPr>
            <a:r>
              <a:rPr lang="de-CH"/>
              <a:t>{'id':105,'name':'jeena','age':27,'salary':30000}]</a:t>
            </a:r>
            <a:endParaRPr/>
          </a:p>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5"/>
        <p:cNvGrpSpPr/>
        <p:nvPr/>
      </p:nvGrpSpPr>
      <p:grpSpPr>
        <a:xfrm>
          <a:off x="0" y="0"/>
          <a:ext cx="0" cy="0"/>
          <a:chOff x="0" y="0"/>
          <a:chExt cx="0" cy="0"/>
        </a:xfrm>
      </p:grpSpPr>
      <p:sp>
        <p:nvSpPr>
          <p:cNvPr id="406" name="Google Shape;406;g6571d613f7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7" name="Google Shape;407;g6571d613f7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de-CH"/>
              <a:t>id,name,age,tmarks</a:t>
            </a:r>
            <a:endParaRPr/>
          </a:p>
          <a:p>
            <a:pPr marL="0" lvl="0" indent="0" algn="l" rtl="0">
              <a:spcBef>
                <a:spcPts val="0"/>
              </a:spcBef>
              <a:spcAft>
                <a:spcPts val="0"/>
              </a:spcAft>
              <a:buClr>
                <a:schemeClr val="dk1"/>
              </a:buClr>
              <a:buSzPts val="1100"/>
              <a:buFont typeface="Arial"/>
              <a:buNone/>
            </a:pPr>
            <a:r>
              <a:rPr lang="de-CH"/>
              <a:t>1,mithun,24,450</a:t>
            </a:r>
            <a:endParaRPr/>
          </a:p>
          <a:p>
            <a:pPr marL="0" lvl="0" indent="0" algn="l" rtl="0">
              <a:spcBef>
                <a:spcPts val="0"/>
              </a:spcBef>
              <a:spcAft>
                <a:spcPts val="0"/>
              </a:spcAft>
              <a:buClr>
                <a:schemeClr val="dk1"/>
              </a:buClr>
              <a:buSzPts val="1100"/>
              <a:buFont typeface="Arial"/>
              <a:buNone/>
            </a:pPr>
            <a:r>
              <a:rPr lang="de-CH"/>
              <a:t>2,shibin,24,250</a:t>
            </a:r>
            <a:endParaRPr/>
          </a:p>
          <a:p>
            <a:pPr marL="0" lvl="0" indent="0" algn="l" rtl="0">
              <a:spcBef>
                <a:spcPts val="0"/>
              </a:spcBef>
              <a:spcAft>
                <a:spcPts val="0"/>
              </a:spcAft>
              <a:buClr>
                <a:schemeClr val="dk1"/>
              </a:buClr>
              <a:buSzPts val="1100"/>
              <a:buFont typeface="Arial"/>
              <a:buNone/>
            </a:pPr>
            <a:r>
              <a:rPr lang="de-CH"/>
              <a:t>3,sarang,23,490</a:t>
            </a:r>
            <a:endParaRPr/>
          </a:p>
          <a:p>
            <a:pPr marL="0" lvl="0" indent="0" algn="l" rtl="0">
              <a:spcBef>
                <a:spcPts val="0"/>
              </a:spcBef>
              <a:spcAft>
                <a:spcPts val="0"/>
              </a:spcAft>
              <a:buClr>
                <a:schemeClr val="dk1"/>
              </a:buClr>
              <a:buSzPts val="1100"/>
              <a:buFont typeface="Arial"/>
              <a:buNone/>
            </a:pPr>
            <a:r>
              <a:rPr lang="de-CH"/>
              <a:t>4,shana,22,250</a:t>
            </a:r>
            <a:endParaRPr/>
          </a:p>
          <a:p>
            <a:pPr marL="0" lvl="0" indent="0" algn="l" rtl="0">
              <a:spcBef>
                <a:spcPts val="0"/>
              </a:spcBef>
              <a:spcAft>
                <a:spcPts val="0"/>
              </a:spcAft>
              <a:buClr>
                <a:schemeClr val="dk1"/>
              </a:buClr>
              <a:buSzPts val="1100"/>
              <a:buFont typeface="Arial"/>
              <a:buNone/>
            </a:pPr>
            <a:r>
              <a:rPr lang="de-CH"/>
              <a:t>5,shyam,26,360</a:t>
            </a:r>
            <a:endParaRPr/>
          </a:p>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130b27ffc3c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130b27ffc3c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130b27ffc3c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9" name="Google Shape;419;g130b27ffc3c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g130b27ffc3c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5" name="Google Shape;425;g130b27ffc3c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9"/>
        <p:cNvGrpSpPr/>
        <p:nvPr/>
      </p:nvGrpSpPr>
      <p:grpSpPr>
        <a:xfrm>
          <a:off x="0" y="0"/>
          <a:ext cx="0" cy="0"/>
          <a:chOff x="0" y="0"/>
          <a:chExt cx="0" cy="0"/>
        </a:xfrm>
      </p:grpSpPr>
      <p:sp>
        <p:nvSpPr>
          <p:cNvPr id="430" name="Google Shape;430;g7448100f55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1" name="Google Shape;431;g7448100f55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g6571d613f7_0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7" name="Google Shape;437;g6571d613f7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65aed2863e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65aed2863e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65aed2863e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9" name="Google Shape;449;g65aed2863e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3"/>
        <p:cNvGrpSpPr/>
        <p:nvPr/>
      </p:nvGrpSpPr>
      <p:grpSpPr>
        <a:xfrm>
          <a:off x="0" y="0"/>
          <a:ext cx="0" cy="0"/>
          <a:chOff x="0" y="0"/>
          <a:chExt cx="0" cy="0"/>
        </a:xfrm>
      </p:grpSpPr>
      <p:sp>
        <p:nvSpPr>
          <p:cNvPr id="454" name="Google Shape;454;g65aed2863e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5" name="Google Shape;455;g65aed2863e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g709fbebefb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1" name="Google Shape;461;g709fbebefb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12faf69271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12faf69271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g12faf692711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3" name="Google Shape;473;g12faf692711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g12faf692711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9" name="Google Shape;479;g12faf692711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g6fc1617b94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5" name="Google Shape;485;g6fc1617b94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9"/>
        <p:cNvGrpSpPr/>
        <p:nvPr/>
      </p:nvGrpSpPr>
      <p:grpSpPr>
        <a:xfrm>
          <a:off x="0" y="0"/>
          <a:ext cx="0" cy="0"/>
          <a:chOff x="0" y="0"/>
          <a:chExt cx="0" cy="0"/>
        </a:xfrm>
      </p:grpSpPr>
      <p:sp>
        <p:nvSpPr>
          <p:cNvPr id="490" name="Google Shape;490;g6571d613f7_0_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1" name="Google Shape;491;g6571d613f7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g130b27ffc3c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7" name="Google Shape;497;g130b27ffc3c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g12fb5bf95c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3" name="Google Shape;503;g12fb5bf95c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7"/>
        <p:cNvGrpSpPr/>
        <p:nvPr/>
      </p:nvGrpSpPr>
      <p:grpSpPr>
        <a:xfrm>
          <a:off x="0" y="0"/>
          <a:ext cx="0" cy="0"/>
          <a:chOff x="0" y="0"/>
          <a:chExt cx="0" cy="0"/>
        </a:xfrm>
      </p:grpSpPr>
      <p:sp>
        <p:nvSpPr>
          <p:cNvPr id="508" name="Google Shape;508;g130b27ffc3c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9" name="Google Shape;509;g130b27ffc3c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g130b27ffc3c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5" name="Google Shape;515;g130b27ffc3c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g6fc1617b94_0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1" name="Google Shape;521;g6fc1617b94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g6571d613f7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7" name="Google Shape;527;g6571d613f7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g6571d613f7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3" name="Google Shape;533;g6571d613f7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g6571d613f7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9" name="Google Shape;539;g6571d613f7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g12fb5bf95c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5" name="Google Shape;545;g12fb5bf95c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9"/>
        <p:cNvGrpSpPr/>
        <p:nvPr/>
      </p:nvGrpSpPr>
      <p:grpSpPr>
        <a:xfrm>
          <a:off x="0" y="0"/>
          <a:ext cx="0" cy="0"/>
          <a:chOff x="0" y="0"/>
          <a:chExt cx="0" cy="0"/>
        </a:xfrm>
      </p:grpSpPr>
      <p:sp>
        <p:nvSpPr>
          <p:cNvPr id="550" name="Google Shape;550;g12fb5bf95c2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1" name="Google Shape;551;g12fb5bf95c2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5"/>
        <p:cNvGrpSpPr/>
        <p:nvPr/>
      </p:nvGrpSpPr>
      <p:grpSpPr>
        <a:xfrm>
          <a:off x="0" y="0"/>
          <a:ext cx="0" cy="0"/>
          <a:chOff x="0" y="0"/>
          <a:chExt cx="0" cy="0"/>
        </a:xfrm>
      </p:grpSpPr>
      <p:sp>
        <p:nvSpPr>
          <p:cNvPr id="556" name="Google Shape;556;g709fbebefb_0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7" name="Google Shape;557;g709fbebefb_0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1"/>
        <p:cNvGrpSpPr/>
        <p:nvPr/>
      </p:nvGrpSpPr>
      <p:grpSpPr>
        <a:xfrm>
          <a:off x="0" y="0"/>
          <a:ext cx="0" cy="0"/>
          <a:chOff x="0" y="0"/>
          <a:chExt cx="0" cy="0"/>
        </a:xfrm>
      </p:grpSpPr>
      <p:sp>
        <p:nvSpPr>
          <p:cNvPr id="562" name="Google Shape;562;g6571d613f7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3" name="Google Shape;563;g6571d613f7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g6571d613f7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9" name="Google Shape;569;g6571d613f7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g6571d613f7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5" name="Google Shape;575;g6571d613f7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9"/>
        <p:cNvGrpSpPr/>
        <p:nvPr/>
      </p:nvGrpSpPr>
      <p:grpSpPr>
        <a:xfrm>
          <a:off x="0" y="0"/>
          <a:ext cx="0" cy="0"/>
          <a:chOff x="0" y="0"/>
          <a:chExt cx="0" cy="0"/>
        </a:xfrm>
      </p:grpSpPr>
      <p:sp>
        <p:nvSpPr>
          <p:cNvPr id="580" name="Google Shape;580;g6571d613f7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1" name="Google Shape;581;g6571d613f7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g6571d613f7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7" name="Google Shape;587;g6571d613f7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6571d613f7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6571d613f7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g6ace27004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9" name="Google Shape;599;g6ace27004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g6571d613f7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6" name="Google Shape;606;g6571d613f7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t>Find total number of movie released in each year??</a:t>
            </a:r>
            <a:endParaRPr/>
          </a:p>
          <a:p>
            <a:pPr marL="0" lvl="0" indent="0" algn="l" rtl="0">
              <a:spcBef>
                <a:spcPts val="0"/>
              </a:spcBef>
              <a:spcAft>
                <a:spcPts val="0"/>
              </a:spcAft>
              <a:buNone/>
            </a:pPr>
            <a:r>
              <a:rPr lang="de-CH"/>
              <a:t>Find which movie got highest number of ratings??</a:t>
            </a:r>
            <a:endParaRPr/>
          </a:p>
          <a:p>
            <a:pPr marL="0" lvl="0" indent="0" algn="l" rtl="0">
              <a:spcBef>
                <a:spcPts val="0"/>
              </a:spcBef>
              <a:spcAft>
                <a:spcPts val="0"/>
              </a:spcAft>
              <a:buNone/>
            </a:pPr>
            <a:r>
              <a:rPr lang="de-CH"/>
              <a:t>Find the rating that have rated most number of time?</a:t>
            </a:r>
            <a:endParaRPr sz="1000">
              <a:solidFill>
                <a:schemeClr val="dk1"/>
              </a:solidFill>
              <a:highlight>
                <a:srgbClr val="FFFFFF"/>
              </a:highlight>
            </a:endParaRPr>
          </a:p>
          <a:p>
            <a:pPr marL="0" lvl="0" indent="0" algn="l" rtl="0">
              <a:spcBef>
                <a:spcPts val="0"/>
              </a:spcBef>
              <a:spcAft>
                <a:spcPts val="0"/>
              </a:spcAft>
              <a:buNone/>
            </a:pPr>
            <a:r>
              <a:rPr lang="de-CH" sz="1000">
                <a:solidFill>
                  <a:schemeClr val="dk1"/>
                </a:solidFill>
                <a:highlight>
                  <a:srgbClr val="FFFFFF"/>
                </a:highlight>
              </a:rPr>
              <a:t>What is the duration of movie Night Tide , in hour?</a:t>
            </a:r>
            <a:endParaRPr sz="1000">
              <a:solidFill>
                <a:schemeClr val="dk1"/>
              </a:solidFill>
              <a:highlight>
                <a:srgbClr val="FFFFFF"/>
              </a:highlight>
            </a:endParaRPr>
          </a:p>
          <a:p>
            <a:pPr marL="0" lvl="0" indent="0" algn="l" rtl="0">
              <a:spcBef>
                <a:spcPts val="0"/>
              </a:spcBef>
              <a:spcAft>
                <a:spcPts val="0"/>
              </a:spcAft>
              <a:buNone/>
            </a:pPr>
            <a:r>
              <a:rPr lang="de-CH" sz="1000">
                <a:solidFill>
                  <a:schemeClr val="dk1"/>
                </a:solidFill>
                <a:highlight>
                  <a:srgbClr val="FFFFFF"/>
                </a:highlight>
              </a:rPr>
              <a:t>How many movies got rating 2.9?</a:t>
            </a:r>
            <a:endParaRPr sz="1000">
              <a:solidFill>
                <a:schemeClr val="dk1"/>
              </a:solidFill>
              <a:highlight>
                <a:srgbClr val="FFFFFF"/>
              </a:highlight>
            </a:endParaRPr>
          </a:p>
          <a:p>
            <a:pPr marL="0" lvl="0" indent="0" algn="l" rtl="0">
              <a:spcBef>
                <a:spcPts val="0"/>
              </a:spcBef>
              <a:spcAft>
                <a:spcPts val="0"/>
              </a:spcAft>
              <a:buNone/>
            </a:pPr>
            <a:r>
              <a:rPr lang="de-CH" sz="1000">
                <a:solidFill>
                  <a:schemeClr val="dk1"/>
                </a:solidFill>
                <a:highlight>
                  <a:srgbClr val="FFFFFF"/>
                </a:highlight>
              </a:rPr>
              <a:t>What is the total duration of all the movies that released in 1994?</a:t>
            </a:r>
            <a:endParaRPr sz="1000">
              <a:solidFill>
                <a:schemeClr val="dk1"/>
              </a:solidFill>
              <a:highlight>
                <a:srgbClr val="FFFFFF"/>
              </a:highlight>
            </a:endParaRPr>
          </a:p>
          <a:p>
            <a:pPr marL="0" lvl="0" indent="0" algn="l" rtl="0">
              <a:spcBef>
                <a:spcPts val="0"/>
              </a:spcBef>
              <a:spcAft>
                <a:spcPts val="0"/>
              </a:spcAft>
              <a:buNone/>
            </a:pPr>
            <a:r>
              <a:rPr lang="de-CH" sz="1000">
                <a:solidFill>
                  <a:schemeClr val="dk1"/>
                </a:solidFill>
                <a:highlight>
                  <a:srgbClr val="FFFFFF"/>
                </a:highlight>
              </a:rPr>
              <a:t>Find the total count of movie which released in 1994 and have rating 3.9?</a:t>
            </a:r>
            <a:endParaRPr sz="1000">
              <a:solidFill>
                <a:schemeClr val="dk1"/>
              </a:solidFill>
              <a:highlight>
                <a:srgbClr val="FFFFFF"/>
              </a:highlight>
            </a:endParaRPr>
          </a:p>
        </p:txBody>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0"/>
        <p:cNvGrpSpPr/>
        <p:nvPr/>
      </p:nvGrpSpPr>
      <p:grpSpPr>
        <a:xfrm>
          <a:off x="0" y="0"/>
          <a:ext cx="0" cy="0"/>
          <a:chOff x="0" y="0"/>
          <a:chExt cx="0" cy="0"/>
        </a:xfrm>
      </p:grpSpPr>
      <p:sp>
        <p:nvSpPr>
          <p:cNvPr id="611" name="Google Shape;611;g6ace270042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2" name="Google Shape;612;g6ace270042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t>Find the max temperature in each city?</a:t>
            </a:r>
            <a:endParaRPr/>
          </a:p>
          <a:p>
            <a:pPr marL="0" lvl="0" indent="0" algn="l" rtl="0">
              <a:spcBef>
                <a:spcPts val="0"/>
              </a:spcBef>
              <a:spcAft>
                <a:spcPts val="0"/>
              </a:spcAft>
              <a:buNone/>
            </a:pPr>
            <a:r>
              <a:rPr lang="de-CH"/>
              <a:t>Find the average wind speed in mumbai city??</a:t>
            </a:r>
            <a:endParaRPr/>
          </a:p>
          <a:p>
            <a:pPr marL="0" lvl="0" indent="0" algn="l" rtl="0">
              <a:spcBef>
                <a:spcPts val="0"/>
              </a:spcBef>
              <a:spcAft>
                <a:spcPts val="0"/>
              </a:spcAft>
              <a:buNone/>
            </a:pPr>
            <a:r>
              <a:rPr lang="de-CH"/>
              <a:t>What is the count of mumbai city?</a:t>
            </a:r>
            <a:endParaRPr/>
          </a:p>
        </p:txBody>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6"/>
        <p:cNvGrpSpPr/>
        <p:nvPr/>
      </p:nvGrpSpPr>
      <p:grpSpPr>
        <a:xfrm>
          <a:off x="0" y="0"/>
          <a:ext cx="0" cy="0"/>
          <a:chOff x="0" y="0"/>
          <a:chExt cx="0" cy="0"/>
        </a:xfrm>
      </p:grpSpPr>
      <p:sp>
        <p:nvSpPr>
          <p:cNvPr id="617" name="Google Shape;617;g6571d613f7_0_1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8" name="Google Shape;618;g6571d613f7_0_1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g6571d613f7_0_1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4" name="Google Shape;624;g6571d613f7_0_1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8"/>
        <p:cNvGrpSpPr/>
        <p:nvPr/>
      </p:nvGrpSpPr>
      <p:grpSpPr>
        <a:xfrm>
          <a:off x="0" y="0"/>
          <a:ext cx="0" cy="0"/>
          <a:chOff x="0" y="0"/>
          <a:chExt cx="0" cy="0"/>
        </a:xfrm>
      </p:grpSpPr>
      <p:sp>
        <p:nvSpPr>
          <p:cNvPr id="629" name="Google Shape;629;g6571d613f7_0_1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0" name="Google Shape;630;g6571d613f7_0_1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de-CH"/>
              <a:t>tcs={'id':[101,102,103,104],</a:t>
            </a:r>
            <a:endParaRPr/>
          </a:p>
          <a:p>
            <a:pPr marL="0" lvl="0" indent="0" algn="l" rtl="0">
              <a:spcBef>
                <a:spcPts val="0"/>
              </a:spcBef>
              <a:spcAft>
                <a:spcPts val="0"/>
              </a:spcAft>
              <a:buClr>
                <a:schemeClr val="dk1"/>
              </a:buClr>
              <a:buSzPts val="1100"/>
              <a:buFont typeface="Arial"/>
              <a:buNone/>
            </a:pPr>
            <a:r>
              <a:rPr lang="de-CH"/>
              <a:t>      'name':['Mithun','Dipin','jose','Rahul']}</a:t>
            </a:r>
            <a:endParaRPr/>
          </a:p>
          <a:p>
            <a:pPr marL="0" lvl="0" indent="0" algn="l" rtl="0">
              <a:spcBef>
                <a:spcPts val="0"/>
              </a:spcBef>
              <a:spcAft>
                <a:spcPts val="0"/>
              </a:spcAft>
              <a:buClr>
                <a:schemeClr val="dk1"/>
              </a:buClr>
              <a:buSzPts val="1100"/>
              <a:buFont typeface="Arial"/>
              <a:buNone/>
            </a:pPr>
            <a:r>
              <a:rPr lang="de-CH"/>
              <a:t>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de-CH"/>
              <a:t>wipro={'id':[101,102,103,104],</a:t>
            </a:r>
            <a:endParaRPr/>
          </a:p>
          <a:p>
            <a:pPr marL="0" lvl="0" indent="0" algn="l" rtl="0">
              <a:spcBef>
                <a:spcPts val="0"/>
              </a:spcBef>
              <a:spcAft>
                <a:spcPts val="0"/>
              </a:spcAft>
              <a:buClr>
                <a:schemeClr val="dk1"/>
              </a:buClr>
              <a:buSzPts val="1100"/>
              <a:buFont typeface="Arial"/>
              <a:buNone/>
            </a:pPr>
            <a:r>
              <a:rPr lang="de-CH"/>
              <a:t>      'age':[24,24,27,26]}</a:t>
            </a:r>
            <a:endParaRPr/>
          </a:p>
          <a:p>
            <a:pPr marL="0" lvl="0" indent="0" algn="l" rtl="0">
              <a:spcBef>
                <a:spcPts val="0"/>
              </a:spcBef>
              <a:spcAft>
                <a:spcPts val="0"/>
              </a:spcAft>
              <a:buClr>
                <a:schemeClr val="dk1"/>
              </a:buClr>
              <a:buSzPts val="1100"/>
              <a:buFont typeface="Arial"/>
              <a:buNone/>
            </a:pPr>
            <a:r>
              <a:rPr lang="de-CH"/>
              <a:t>tcs_emp=pd.DataFrame(tcs)</a:t>
            </a:r>
            <a:endParaRPr/>
          </a:p>
          <a:p>
            <a:pPr marL="0" lvl="0" indent="0" algn="l" rtl="0">
              <a:spcBef>
                <a:spcPts val="0"/>
              </a:spcBef>
              <a:spcAft>
                <a:spcPts val="0"/>
              </a:spcAft>
              <a:buClr>
                <a:schemeClr val="dk1"/>
              </a:buClr>
              <a:buSzPts val="1100"/>
              <a:buFont typeface="Arial"/>
              <a:buNone/>
            </a:pPr>
            <a:r>
              <a:rPr lang="de-CH"/>
              <a:t>wipro_emp=pd.DataFrame(wipro)</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r>
              <a:rPr lang="de-CH"/>
              <a:t>pd.concat([tcs_emp,wipro_emp],axis=1)</a:t>
            </a: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None/>
            </a:pPr>
            <a:endParaRPr/>
          </a:p>
          <a:p>
            <a:pPr marL="0" lvl="0" indent="0" algn="l" rtl="0">
              <a:spcBef>
                <a:spcPts val="0"/>
              </a:spcBef>
              <a:spcAft>
                <a:spcPts val="0"/>
              </a:spcAft>
              <a:buClr>
                <a:schemeClr val="dk1"/>
              </a:buClr>
              <a:buSzPts val="1100"/>
              <a:buFont typeface="Arial"/>
              <a:buNone/>
            </a:pPr>
            <a:r>
              <a:rPr lang="de-CH"/>
              <a:t>tcs={'id':[101,102,103,104],</a:t>
            </a:r>
            <a:endParaRPr/>
          </a:p>
          <a:p>
            <a:pPr marL="0" lvl="0" indent="0" algn="l" rtl="0">
              <a:spcBef>
                <a:spcPts val="0"/>
              </a:spcBef>
              <a:spcAft>
                <a:spcPts val="0"/>
              </a:spcAft>
              <a:buClr>
                <a:schemeClr val="dk1"/>
              </a:buClr>
              <a:buSzPts val="1100"/>
              <a:buFont typeface="Arial"/>
              <a:buNone/>
            </a:pPr>
            <a:r>
              <a:rPr lang="de-CH"/>
              <a:t>      'name':['Mithun','Dipin','jose','Rahul']}</a:t>
            </a:r>
            <a:endParaRPr/>
          </a:p>
          <a:p>
            <a:pPr marL="0" lvl="0" indent="0" algn="l" rtl="0">
              <a:spcBef>
                <a:spcPts val="0"/>
              </a:spcBef>
              <a:spcAft>
                <a:spcPts val="0"/>
              </a:spcAft>
              <a:buClr>
                <a:schemeClr val="dk1"/>
              </a:buClr>
              <a:buSzPts val="1100"/>
              <a:buFont typeface="Arial"/>
              <a:buNone/>
            </a:pPr>
            <a:r>
              <a:rPr lang="de-CH"/>
              <a:t>     </a:t>
            </a:r>
            <a:endParaRPr/>
          </a:p>
          <a:p>
            <a:pPr marL="0" lvl="0" indent="0" algn="l" rtl="0">
              <a:spcBef>
                <a:spcPts val="0"/>
              </a:spcBef>
              <a:spcAft>
                <a:spcPts val="0"/>
              </a:spcAft>
              <a:buClr>
                <a:schemeClr val="dk1"/>
              </a:buClr>
              <a:buSzPts val="1100"/>
              <a:buFont typeface="Arial"/>
              <a:buNone/>
            </a:pPr>
            <a:endParaRPr/>
          </a:p>
          <a:p>
            <a:pPr marL="0" lvl="0" indent="0" algn="l" rtl="0">
              <a:spcBef>
                <a:spcPts val="0"/>
              </a:spcBef>
              <a:spcAft>
                <a:spcPts val="0"/>
              </a:spcAft>
              <a:buClr>
                <a:schemeClr val="dk1"/>
              </a:buClr>
              <a:buSzPts val="1100"/>
              <a:buFont typeface="Arial"/>
              <a:buNone/>
            </a:pPr>
            <a:r>
              <a:rPr lang="de-CH"/>
              <a:t>wipro={'id':[101,103,102,104],</a:t>
            </a:r>
            <a:endParaRPr/>
          </a:p>
          <a:p>
            <a:pPr marL="0" lvl="0" indent="0" algn="l" rtl="0">
              <a:spcBef>
                <a:spcPts val="0"/>
              </a:spcBef>
              <a:spcAft>
                <a:spcPts val="0"/>
              </a:spcAft>
              <a:buClr>
                <a:schemeClr val="dk1"/>
              </a:buClr>
              <a:buSzPts val="1100"/>
              <a:buFont typeface="Arial"/>
              <a:buNone/>
            </a:pPr>
            <a:r>
              <a:rPr lang="de-CH"/>
              <a:t>      'age':[24,24,27,26]}</a:t>
            </a:r>
            <a:endParaRPr/>
          </a:p>
          <a:p>
            <a:pPr marL="0" lvl="0" indent="0" algn="l" rtl="0">
              <a:spcBef>
                <a:spcPts val="0"/>
              </a:spcBef>
              <a:spcAft>
                <a:spcPts val="0"/>
              </a:spcAft>
              <a:buClr>
                <a:schemeClr val="dk1"/>
              </a:buClr>
              <a:buSzPts val="1100"/>
              <a:buFont typeface="Arial"/>
              <a:buNone/>
            </a:pPr>
            <a:r>
              <a:rPr lang="de-CH"/>
              <a:t>tcs_emp=pd.DataFrame(tcs,index=[0,1,2,3])</a:t>
            </a:r>
            <a:endParaRPr/>
          </a:p>
          <a:p>
            <a:pPr marL="0" lvl="0" indent="0" algn="l" rtl="0">
              <a:spcBef>
                <a:spcPts val="0"/>
              </a:spcBef>
              <a:spcAft>
                <a:spcPts val="0"/>
              </a:spcAft>
              <a:buClr>
                <a:schemeClr val="dk1"/>
              </a:buClr>
              <a:buSzPts val="1100"/>
              <a:buFont typeface="Arial"/>
              <a:buNone/>
            </a:pPr>
            <a:r>
              <a:rPr lang="de-CH"/>
              <a:t>wipro_emp=pd.DataFrame(wipro,index=[0,2,1,3])</a:t>
            </a:r>
            <a:endParaRPr/>
          </a:p>
          <a:p>
            <a:pPr marL="0" lvl="0" indent="0" algn="l" rtl="0">
              <a:spcBef>
                <a:spcPts val="0"/>
              </a:spcBef>
              <a:spcAft>
                <a:spcPts val="0"/>
              </a:spcAft>
              <a:buNone/>
            </a:pPr>
            <a:endParaRPr/>
          </a:p>
        </p:txBody>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g6571d613f7_0_1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6" name="Google Shape;636;g6571d613f7_0_1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0"/>
        <p:cNvGrpSpPr/>
        <p:nvPr/>
      </p:nvGrpSpPr>
      <p:grpSpPr>
        <a:xfrm>
          <a:off x="0" y="0"/>
          <a:ext cx="0" cy="0"/>
          <a:chOff x="0" y="0"/>
          <a:chExt cx="0" cy="0"/>
        </a:xfrm>
      </p:grpSpPr>
      <p:sp>
        <p:nvSpPr>
          <p:cNvPr id="641" name="Google Shape;641;g6571d613f7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2" name="Google Shape;642;g6571d613f7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g6571d613f7_0_1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8" name="Google Shape;648;g6571d613f7_0_1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6571d613f7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4" name="Google Shape;654;g6571d613f7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8"/>
        <p:cNvGrpSpPr/>
        <p:nvPr/>
      </p:nvGrpSpPr>
      <p:grpSpPr>
        <a:xfrm>
          <a:off x="0" y="0"/>
          <a:ext cx="0" cy="0"/>
          <a:chOff x="0" y="0"/>
          <a:chExt cx="0" cy="0"/>
        </a:xfrm>
      </p:grpSpPr>
      <p:sp>
        <p:nvSpPr>
          <p:cNvPr id="659" name="Google Shape;659;g6571d613f7_0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0" name="Google Shape;660;g6571d613f7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g6571d613f7_0_2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6" name="Google Shape;666;g6571d613f7_0_2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0"/>
        <p:cNvGrpSpPr/>
        <p:nvPr/>
      </p:nvGrpSpPr>
      <p:grpSpPr>
        <a:xfrm>
          <a:off x="0" y="0"/>
          <a:ext cx="0" cy="0"/>
          <a:chOff x="0" y="0"/>
          <a:chExt cx="0" cy="0"/>
        </a:xfrm>
      </p:grpSpPr>
      <p:sp>
        <p:nvSpPr>
          <p:cNvPr id="671" name="Google Shape;671;g6571d613f7_0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2" name="Google Shape;672;g6571d613f7_0_2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6"/>
        <p:cNvGrpSpPr/>
        <p:nvPr/>
      </p:nvGrpSpPr>
      <p:grpSpPr>
        <a:xfrm>
          <a:off x="0" y="0"/>
          <a:ext cx="0" cy="0"/>
          <a:chOff x="0" y="0"/>
          <a:chExt cx="0" cy="0"/>
        </a:xfrm>
      </p:grpSpPr>
      <p:sp>
        <p:nvSpPr>
          <p:cNvPr id="677" name="Google Shape;677;g6571d613f7_0_2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78" name="Google Shape;678;g6571d613f7_0_2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g78e6442bca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4" name="Google Shape;684;g78e6442bca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g6571d613f7_0_2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9" name="Google Shape;689;g6571d613f7_0_2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g6571d613f7_0_2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5" name="Google Shape;695;g6571d613f7_0_2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g6571d613f7_0_2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1" name="Google Shape;701;g6571d613f7_0_2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6"/>
        <p:cNvGrpSpPr/>
        <p:nvPr/>
      </p:nvGrpSpPr>
      <p:grpSpPr>
        <a:xfrm>
          <a:off x="0" y="0"/>
          <a:ext cx="0" cy="0"/>
          <a:chOff x="0" y="0"/>
          <a:chExt cx="0" cy="0"/>
        </a:xfrm>
      </p:grpSpPr>
      <p:sp>
        <p:nvSpPr>
          <p:cNvPr id="707" name="Google Shape;707;g6571d613f7_0_3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8" name="Google Shape;708;g6571d613f7_0_3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g78e6442bca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15" name="Google Shape;715;g78e6442bca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g78e6442bca_0_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1" name="Google Shape;721;g78e6442bca_0_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6"/>
        <p:cNvGrpSpPr/>
        <p:nvPr/>
      </p:nvGrpSpPr>
      <p:grpSpPr>
        <a:xfrm>
          <a:off x="0" y="0"/>
          <a:ext cx="0" cy="0"/>
          <a:chOff x="0" y="0"/>
          <a:chExt cx="0" cy="0"/>
        </a:xfrm>
      </p:grpSpPr>
      <p:sp>
        <p:nvSpPr>
          <p:cNvPr id="727" name="Google Shape;727;g78e6442bca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8" name="Google Shape;728;g78e6442bca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g78e6442bca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34" name="Google Shape;734;g78e6442bca_0_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g78e6442bca_0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0" name="Google Shape;740;g78e6442bca_0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5"/>
        <p:cNvGrpSpPr/>
        <p:nvPr/>
      </p:nvGrpSpPr>
      <p:grpSpPr>
        <a:xfrm>
          <a:off x="0" y="0"/>
          <a:ext cx="0" cy="0"/>
          <a:chOff x="0" y="0"/>
          <a:chExt cx="0" cy="0"/>
        </a:xfrm>
      </p:grpSpPr>
      <p:sp>
        <p:nvSpPr>
          <p:cNvPr id="746" name="Google Shape;746;g78e6442bca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47" name="Google Shape;747;g78e6442bca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1"/>
        <p:cNvGrpSpPr/>
        <p:nvPr/>
      </p:nvGrpSpPr>
      <p:grpSpPr>
        <a:xfrm>
          <a:off x="0" y="0"/>
          <a:ext cx="0" cy="0"/>
          <a:chOff x="0" y="0"/>
          <a:chExt cx="0" cy="0"/>
        </a:xfrm>
      </p:grpSpPr>
      <p:sp>
        <p:nvSpPr>
          <p:cNvPr id="752" name="Google Shape;752;g78e6442bca_0_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3" name="Google Shape;753;g78e6442bca_0_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g78e6442bca_0_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9" name="Google Shape;759;g78e6442bca_0_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4"/>
        <p:cNvGrpSpPr/>
        <p:nvPr/>
      </p:nvGrpSpPr>
      <p:grpSpPr>
        <a:xfrm>
          <a:off x="0" y="0"/>
          <a:ext cx="0" cy="0"/>
          <a:chOff x="0" y="0"/>
          <a:chExt cx="0" cy="0"/>
        </a:xfrm>
      </p:grpSpPr>
      <p:sp>
        <p:nvSpPr>
          <p:cNvPr id="765" name="Google Shape;765;g78e6442bca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6" name="Google Shape;766;g78e6442bca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0"/>
        <p:cNvGrpSpPr/>
        <p:nvPr/>
      </p:nvGrpSpPr>
      <p:grpSpPr>
        <a:xfrm>
          <a:off x="0" y="0"/>
          <a:ext cx="0" cy="0"/>
          <a:chOff x="0" y="0"/>
          <a:chExt cx="0" cy="0"/>
        </a:xfrm>
      </p:grpSpPr>
      <p:sp>
        <p:nvSpPr>
          <p:cNvPr id="771" name="Google Shape;771;g78e6442bca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2" name="Google Shape;772;g78e6442bca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6"/>
        <p:cNvGrpSpPr/>
        <p:nvPr/>
      </p:nvGrpSpPr>
      <p:grpSpPr>
        <a:xfrm>
          <a:off x="0" y="0"/>
          <a:ext cx="0" cy="0"/>
          <a:chOff x="0" y="0"/>
          <a:chExt cx="0" cy="0"/>
        </a:xfrm>
      </p:grpSpPr>
      <p:sp>
        <p:nvSpPr>
          <p:cNvPr id="777" name="Google Shape;777;g78e6442bca_0_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78" name="Google Shape;778;g78e6442bca_0_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2"/>
        <p:cNvGrpSpPr/>
        <p:nvPr/>
      </p:nvGrpSpPr>
      <p:grpSpPr>
        <a:xfrm>
          <a:off x="0" y="0"/>
          <a:ext cx="0" cy="0"/>
          <a:chOff x="0" y="0"/>
          <a:chExt cx="0" cy="0"/>
        </a:xfrm>
      </p:grpSpPr>
      <p:sp>
        <p:nvSpPr>
          <p:cNvPr id="783" name="Google Shape;783;g78e6442bca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84" name="Google Shape;784;g78e6442bca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9"/>
        <p:cNvGrpSpPr/>
        <p:nvPr/>
      </p:nvGrpSpPr>
      <p:grpSpPr>
        <a:xfrm>
          <a:off x="0" y="0"/>
          <a:ext cx="0" cy="0"/>
          <a:chOff x="0" y="0"/>
          <a:chExt cx="0" cy="0"/>
        </a:xfrm>
      </p:grpSpPr>
      <p:sp>
        <p:nvSpPr>
          <p:cNvPr id="790" name="Google Shape;790;g78e6442bca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1" name="Google Shape;791;g78e6442bca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5"/>
        <p:cNvGrpSpPr/>
        <p:nvPr/>
      </p:nvGrpSpPr>
      <p:grpSpPr>
        <a:xfrm>
          <a:off x="0" y="0"/>
          <a:ext cx="0" cy="0"/>
          <a:chOff x="0" y="0"/>
          <a:chExt cx="0" cy="0"/>
        </a:xfrm>
      </p:grpSpPr>
      <p:sp>
        <p:nvSpPr>
          <p:cNvPr id="796" name="Google Shape;796;g78e6442bca_0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7" name="Google Shape;797;g78e6442bca_0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1"/>
        <p:cNvGrpSpPr/>
        <p:nvPr/>
      </p:nvGrpSpPr>
      <p:grpSpPr>
        <a:xfrm>
          <a:off x="0" y="0"/>
          <a:ext cx="0" cy="0"/>
          <a:chOff x="0" y="0"/>
          <a:chExt cx="0" cy="0"/>
        </a:xfrm>
      </p:grpSpPr>
      <p:sp>
        <p:nvSpPr>
          <p:cNvPr id="802" name="Google Shape;802;g78e6442bca_0_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3" name="Google Shape;803;g78e6442bca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7"/>
        <p:cNvGrpSpPr/>
        <p:nvPr/>
      </p:nvGrpSpPr>
      <p:grpSpPr>
        <a:xfrm>
          <a:off x="0" y="0"/>
          <a:ext cx="0" cy="0"/>
          <a:chOff x="0" y="0"/>
          <a:chExt cx="0" cy="0"/>
        </a:xfrm>
      </p:grpSpPr>
      <p:sp>
        <p:nvSpPr>
          <p:cNvPr id="808" name="Google Shape;808;g78e6442bca_0_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09" name="Google Shape;809;g78e6442bca_0_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4"/>
        <p:cNvGrpSpPr/>
        <p:nvPr/>
      </p:nvGrpSpPr>
      <p:grpSpPr>
        <a:xfrm>
          <a:off x="0" y="0"/>
          <a:ext cx="0" cy="0"/>
          <a:chOff x="0" y="0"/>
          <a:chExt cx="0" cy="0"/>
        </a:xfrm>
      </p:grpSpPr>
      <p:sp>
        <p:nvSpPr>
          <p:cNvPr id="815" name="Google Shape;815;g78e6442bca_0_1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16" name="Google Shape;816;g78e6442bca_0_1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1"/>
        <p:cNvGrpSpPr/>
        <p:nvPr/>
      </p:nvGrpSpPr>
      <p:grpSpPr>
        <a:xfrm>
          <a:off x="0" y="0"/>
          <a:ext cx="0" cy="0"/>
          <a:chOff x="0" y="0"/>
          <a:chExt cx="0" cy="0"/>
        </a:xfrm>
      </p:grpSpPr>
      <p:sp>
        <p:nvSpPr>
          <p:cNvPr id="822" name="Google Shape;822;g78e6442bca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3" name="Google Shape;823;g78e6442bca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8"/>
        <p:cNvGrpSpPr/>
        <p:nvPr/>
      </p:nvGrpSpPr>
      <p:grpSpPr>
        <a:xfrm>
          <a:off x="0" y="0"/>
          <a:ext cx="0" cy="0"/>
          <a:chOff x="0" y="0"/>
          <a:chExt cx="0" cy="0"/>
        </a:xfrm>
      </p:grpSpPr>
      <p:sp>
        <p:nvSpPr>
          <p:cNvPr id="829" name="Google Shape;829;g78e6442bca_0_1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0" name="Google Shape;830;g78e6442bca_0_1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5"/>
        <p:cNvGrpSpPr/>
        <p:nvPr/>
      </p:nvGrpSpPr>
      <p:grpSpPr>
        <a:xfrm>
          <a:off x="0" y="0"/>
          <a:ext cx="0" cy="0"/>
          <a:chOff x="0" y="0"/>
          <a:chExt cx="0" cy="0"/>
        </a:xfrm>
      </p:grpSpPr>
      <p:sp>
        <p:nvSpPr>
          <p:cNvPr id="836" name="Google Shape;836;g78e6442bca_0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7" name="Google Shape;837;g78e6442bca_0_1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2"/>
        <p:cNvGrpSpPr/>
        <p:nvPr/>
      </p:nvGrpSpPr>
      <p:grpSpPr>
        <a:xfrm>
          <a:off x="0" y="0"/>
          <a:ext cx="0" cy="0"/>
          <a:chOff x="0" y="0"/>
          <a:chExt cx="0" cy="0"/>
        </a:xfrm>
      </p:grpSpPr>
      <p:sp>
        <p:nvSpPr>
          <p:cNvPr id="843" name="Google Shape;843;g78e6442bca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44" name="Google Shape;844;g78e6442bca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8"/>
        <p:cNvGrpSpPr/>
        <p:nvPr/>
      </p:nvGrpSpPr>
      <p:grpSpPr>
        <a:xfrm>
          <a:off x="0" y="0"/>
          <a:ext cx="0" cy="0"/>
          <a:chOff x="0" y="0"/>
          <a:chExt cx="0" cy="0"/>
        </a:xfrm>
      </p:grpSpPr>
      <p:sp>
        <p:nvSpPr>
          <p:cNvPr id="849" name="Google Shape;849;g79377e7392_0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0" name="Google Shape;850;g79377e7392_0_2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g79377e7392_0_2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56" name="Google Shape;856;g79377e7392_0_2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1"/>
        <p:cNvGrpSpPr/>
        <p:nvPr/>
      </p:nvGrpSpPr>
      <p:grpSpPr>
        <a:xfrm>
          <a:off x="0" y="0"/>
          <a:ext cx="0" cy="0"/>
          <a:chOff x="0" y="0"/>
          <a:chExt cx="0" cy="0"/>
        </a:xfrm>
      </p:grpSpPr>
      <p:sp>
        <p:nvSpPr>
          <p:cNvPr id="862" name="Google Shape;862;g79377e7392_0_2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3" name="Google Shape;863;g79377e7392_0_2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g6aeb8e932cae731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0" name="Google Shape;870;g6aeb8e932cae731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3"/>
        <p:cNvGrpSpPr/>
        <p:nvPr/>
      </p:nvGrpSpPr>
      <p:grpSpPr>
        <a:xfrm>
          <a:off x="0" y="0"/>
          <a:ext cx="0" cy="0"/>
          <a:chOff x="0" y="0"/>
          <a:chExt cx="0" cy="0"/>
        </a:xfrm>
      </p:grpSpPr>
      <p:sp>
        <p:nvSpPr>
          <p:cNvPr id="874" name="Google Shape;874;g1634f589125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75" name="Google Shape;875;g1634f589125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g1634f589125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1" name="Google Shape;881;g1634f589125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5"/>
        <p:cNvGrpSpPr/>
        <p:nvPr/>
      </p:nvGrpSpPr>
      <p:grpSpPr>
        <a:xfrm>
          <a:off x="0" y="0"/>
          <a:ext cx="0" cy="0"/>
          <a:chOff x="0" y="0"/>
          <a:chExt cx="0" cy="0"/>
        </a:xfrm>
      </p:grpSpPr>
      <p:sp>
        <p:nvSpPr>
          <p:cNvPr id="886" name="Google Shape;886;g1634f589125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87" name="Google Shape;887;g1634f589125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1"/>
        <p:cNvGrpSpPr/>
        <p:nvPr/>
      </p:nvGrpSpPr>
      <p:grpSpPr>
        <a:xfrm>
          <a:off x="0" y="0"/>
          <a:ext cx="0" cy="0"/>
          <a:chOff x="0" y="0"/>
          <a:chExt cx="0" cy="0"/>
        </a:xfrm>
      </p:grpSpPr>
      <p:sp>
        <p:nvSpPr>
          <p:cNvPr id="892" name="Google Shape;892;g1634f589125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3" name="Google Shape;893;g1634f589125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8"/>
        <p:cNvGrpSpPr/>
        <p:nvPr/>
      </p:nvGrpSpPr>
      <p:grpSpPr>
        <a:xfrm>
          <a:off x="0" y="0"/>
          <a:ext cx="0" cy="0"/>
          <a:chOff x="0" y="0"/>
          <a:chExt cx="0" cy="0"/>
        </a:xfrm>
      </p:grpSpPr>
      <p:sp>
        <p:nvSpPr>
          <p:cNvPr id="899" name="Google Shape;899;g6aeb8e932cae7311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0" name="Google Shape;900;g6aeb8e932cae7311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4"/>
        <p:cNvGrpSpPr/>
        <p:nvPr/>
      </p:nvGrpSpPr>
      <p:grpSpPr>
        <a:xfrm>
          <a:off x="0" y="0"/>
          <a:ext cx="0" cy="0"/>
          <a:chOff x="0" y="0"/>
          <a:chExt cx="0" cy="0"/>
        </a:xfrm>
      </p:grpSpPr>
      <p:sp>
        <p:nvSpPr>
          <p:cNvPr id="905" name="Google Shape;905;g6aeb8e932cae7311_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6" name="Google Shape;906;g6aeb8e932cae7311_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0"/>
        <p:cNvGrpSpPr/>
        <p:nvPr/>
      </p:nvGrpSpPr>
      <p:grpSpPr>
        <a:xfrm>
          <a:off x="0" y="0"/>
          <a:ext cx="0" cy="0"/>
          <a:chOff x="0" y="0"/>
          <a:chExt cx="0" cy="0"/>
        </a:xfrm>
      </p:grpSpPr>
      <p:sp>
        <p:nvSpPr>
          <p:cNvPr id="911" name="Google Shape;911;g79377e7392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2" name="Google Shape;912;g79377e7392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7"/>
        <p:cNvGrpSpPr/>
        <p:nvPr/>
      </p:nvGrpSpPr>
      <p:grpSpPr>
        <a:xfrm>
          <a:off x="0" y="0"/>
          <a:ext cx="0" cy="0"/>
          <a:chOff x="0" y="0"/>
          <a:chExt cx="0" cy="0"/>
        </a:xfrm>
      </p:grpSpPr>
      <p:sp>
        <p:nvSpPr>
          <p:cNvPr id="918" name="Google Shape;918;g79377e7392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19" name="Google Shape;919;g79377e7392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3"/>
        <p:cNvGrpSpPr/>
        <p:nvPr/>
      </p:nvGrpSpPr>
      <p:grpSpPr>
        <a:xfrm>
          <a:off x="0" y="0"/>
          <a:ext cx="0" cy="0"/>
          <a:chOff x="0" y="0"/>
          <a:chExt cx="0" cy="0"/>
        </a:xfrm>
      </p:grpSpPr>
      <p:sp>
        <p:nvSpPr>
          <p:cNvPr id="924" name="Google Shape;924;g79377e7392_0_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5" name="Google Shape;925;g79377e7392_0_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9"/>
        <p:cNvGrpSpPr/>
        <p:nvPr/>
      </p:nvGrpSpPr>
      <p:grpSpPr>
        <a:xfrm>
          <a:off x="0" y="0"/>
          <a:ext cx="0" cy="0"/>
          <a:chOff x="0" y="0"/>
          <a:chExt cx="0" cy="0"/>
        </a:xfrm>
      </p:grpSpPr>
      <p:sp>
        <p:nvSpPr>
          <p:cNvPr id="930" name="Google Shape;930;g78e6442bca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1" name="Google Shape;931;g78e6442bca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5"/>
        <p:cNvGrpSpPr/>
        <p:nvPr/>
      </p:nvGrpSpPr>
      <p:grpSpPr>
        <a:xfrm>
          <a:off x="0" y="0"/>
          <a:ext cx="0" cy="0"/>
          <a:chOff x="0" y="0"/>
          <a:chExt cx="0" cy="0"/>
        </a:xfrm>
      </p:grpSpPr>
      <p:sp>
        <p:nvSpPr>
          <p:cNvPr id="936" name="Google Shape;936;g6bf99b56e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37" name="Google Shape;937;g6bf99b56e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1"/>
        <p:cNvGrpSpPr/>
        <p:nvPr/>
      </p:nvGrpSpPr>
      <p:grpSpPr>
        <a:xfrm>
          <a:off x="0" y="0"/>
          <a:ext cx="0" cy="0"/>
          <a:chOff x="0" y="0"/>
          <a:chExt cx="0" cy="0"/>
        </a:xfrm>
      </p:grpSpPr>
      <p:sp>
        <p:nvSpPr>
          <p:cNvPr id="942" name="Google Shape;942;g6bf99b56e3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3" name="Google Shape;943;g6bf99b56e3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7"/>
        <p:cNvGrpSpPr/>
        <p:nvPr/>
      </p:nvGrpSpPr>
      <p:grpSpPr>
        <a:xfrm>
          <a:off x="0" y="0"/>
          <a:ext cx="0" cy="0"/>
          <a:chOff x="0" y="0"/>
          <a:chExt cx="0" cy="0"/>
        </a:xfrm>
      </p:grpSpPr>
      <p:sp>
        <p:nvSpPr>
          <p:cNvPr id="948" name="Google Shape;948;g6bf99b56e3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9" name="Google Shape;949;g6bf99b56e3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3"/>
        <p:cNvGrpSpPr/>
        <p:nvPr/>
      </p:nvGrpSpPr>
      <p:grpSpPr>
        <a:xfrm>
          <a:off x="0" y="0"/>
          <a:ext cx="0" cy="0"/>
          <a:chOff x="0" y="0"/>
          <a:chExt cx="0" cy="0"/>
        </a:xfrm>
      </p:grpSpPr>
      <p:sp>
        <p:nvSpPr>
          <p:cNvPr id="954" name="Google Shape;954;g6bf99b56e3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55" name="Google Shape;955;g6bf99b56e3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9"/>
        <p:cNvGrpSpPr/>
        <p:nvPr/>
      </p:nvGrpSpPr>
      <p:grpSpPr>
        <a:xfrm>
          <a:off x="0" y="0"/>
          <a:ext cx="0" cy="0"/>
          <a:chOff x="0" y="0"/>
          <a:chExt cx="0" cy="0"/>
        </a:xfrm>
      </p:grpSpPr>
      <p:sp>
        <p:nvSpPr>
          <p:cNvPr id="960" name="Google Shape;960;g6bf99b56e3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1" name="Google Shape;961;g6bf99b56e3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5"/>
        <p:cNvGrpSpPr/>
        <p:nvPr/>
      </p:nvGrpSpPr>
      <p:grpSpPr>
        <a:xfrm>
          <a:off x="0" y="0"/>
          <a:ext cx="0" cy="0"/>
          <a:chOff x="0" y="0"/>
          <a:chExt cx="0" cy="0"/>
        </a:xfrm>
      </p:grpSpPr>
      <p:sp>
        <p:nvSpPr>
          <p:cNvPr id="966" name="Google Shape;966;g6bf99b56e3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7" name="Google Shape;967;g6bf99b56e3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1"/>
        <p:cNvGrpSpPr/>
        <p:nvPr/>
      </p:nvGrpSpPr>
      <p:grpSpPr>
        <a:xfrm>
          <a:off x="0" y="0"/>
          <a:ext cx="0" cy="0"/>
          <a:chOff x="0" y="0"/>
          <a:chExt cx="0" cy="0"/>
        </a:xfrm>
      </p:grpSpPr>
      <p:sp>
        <p:nvSpPr>
          <p:cNvPr id="972" name="Google Shape;972;g6bf99b56e3_0_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3" name="Google Shape;973;g6bf99b56e3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7"/>
        <p:cNvGrpSpPr/>
        <p:nvPr/>
      </p:nvGrpSpPr>
      <p:grpSpPr>
        <a:xfrm>
          <a:off x="0" y="0"/>
          <a:ext cx="0" cy="0"/>
          <a:chOff x="0" y="0"/>
          <a:chExt cx="0" cy="0"/>
        </a:xfrm>
      </p:grpSpPr>
      <p:sp>
        <p:nvSpPr>
          <p:cNvPr id="978" name="Google Shape;978;g6bf99b56e3_0_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9" name="Google Shape;979;g6bf99b56e3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3"/>
        <p:cNvGrpSpPr/>
        <p:nvPr/>
      </p:nvGrpSpPr>
      <p:grpSpPr>
        <a:xfrm>
          <a:off x="0" y="0"/>
          <a:ext cx="0" cy="0"/>
          <a:chOff x="0" y="0"/>
          <a:chExt cx="0" cy="0"/>
        </a:xfrm>
      </p:grpSpPr>
      <p:sp>
        <p:nvSpPr>
          <p:cNvPr id="984" name="Google Shape;984;g6bf99b56e3_0_9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5" name="Google Shape;985;g6bf99b56e3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g6bf99b56e3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1" name="Google Shape;991;g6bf99b56e3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5"/>
        <p:cNvGrpSpPr/>
        <p:nvPr/>
      </p:nvGrpSpPr>
      <p:grpSpPr>
        <a:xfrm>
          <a:off x="0" y="0"/>
          <a:ext cx="0" cy="0"/>
          <a:chOff x="0" y="0"/>
          <a:chExt cx="0" cy="0"/>
        </a:xfrm>
      </p:grpSpPr>
      <p:sp>
        <p:nvSpPr>
          <p:cNvPr id="996" name="Google Shape;996;g6bf99b56e3_0_10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7" name="Google Shape;997;g6bf99b56e3_0_10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g78e6442bca_0_1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3" name="Google Shape;1003;g78e6442bca_0_1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7"/>
        <p:cNvGrpSpPr/>
        <p:nvPr/>
      </p:nvGrpSpPr>
      <p:grpSpPr>
        <a:xfrm>
          <a:off x="0" y="0"/>
          <a:ext cx="0" cy="0"/>
          <a:chOff x="0" y="0"/>
          <a:chExt cx="0" cy="0"/>
        </a:xfrm>
      </p:grpSpPr>
      <p:sp>
        <p:nvSpPr>
          <p:cNvPr id="1008" name="Google Shape;1008;g78e6442bca_0_1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09" name="Google Shape;1009;g78e6442bca_0_1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3"/>
        <p:cNvGrpSpPr/>
        <p:nvPr/>
      </p:nvGrpSpPr>
      <p:grpSpPr>
        <a:xfrm>
          <a:off x="0" y="0"/>
          <a:ext cx="0" cy="0"/>
          <a:chOff x="0" y="0"/>
          <a:chExt cx="0" cy="0"/>
        </a:xfrm>
      </p:grpSpPr>
      <p:sp>
        <p:nvSpPr>
          <p:cNvPr id="1014" name="Google Shape;1014;g78e6442bca_0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15" name="Google Shape;1015;g78e6442bca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1"/>
        <p:cNvGrpSpPr/>
        <p:nvPr/>
      </p:nvGrpSpPr>
      <p:grpSpPr>
        <a:xfrm>
          <a:off x="0" y="0"/>
          <a:ext cx="0" cy="0"/>
          <a:chOff x="0" y="0"/>
          <a:chExt cx="0" cy="0"/>
        </a:xfrm>
      </p:grpSpPr>
      <p:sp>
        <p:nvSpPr>
          <p:cNvPr id="1022" name="Google Shape;1022;g79377e7392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3" name="Google Shape;1023;g79377e7392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7"/>
        <p:cNvGrpSpPr/>
        <p:nvPr/>
      </p:nvGrpSpPr>
      <p:grpSpPr>
        <a:xfrm>
          <a:off x="0" y="0"/>
          <a:ext cx="0" cy="0"/>
          <a:chOff x="0" y="0"/>
          <a:chExt cx="0" cy="0"/>
        </a:xfrm>
      </p:grpSpPr>
      <p:sp>
        <p:nvSpPr>
          <p:cNvPr id="1028" name="Google Shape;1028;g79377e7392_0_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29" name="Google Shape;1029;g79377e7392_0_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4"/>
        <p:cNvGrpSpPr/>
        <p:nvPr/>
      </p:nvGrpSpPr>
      <p:grpSpPr>
        <a:xfrm>
          <a:off x="0" y="0"/>
          <a:ext cx="0" cy="0"/>
          <a:chOff x="0" y="0"/>
          <a:chExt cx="0" cy="0"/>
        </a:xfrm>
      </p:grpSpPr>
      <p:sp>
        <p:nvSpPr>
          <p:cNvPr id="1035" name="Google Shape;1035;g79377e7392_0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36" name="Google Shape;1036;g79377e7392_0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1"/>
        <p:cNvGrpSpPr/>
        <p:nvPr/>
      </p:nvGrpSpPr>
      <p:grpSpPr>
        <a:xfrm>
          <a:off x="0" y="0"/>
          <a:ext cx="0" cy="0"/>
          <a:chOff x="0" y="0"/>
          <a:chExt cx="0" cy="0"/>
        </a:xfrm>
      </p:grpSpPr>
      <p:sp>
        <p:nvSpPr>
          <p:cNvPr id="1042" name="Google Shape;1042;g79377e7392_0_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3" name="Google Shape;1043;g79377e7392_0_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7"/>
        <p:cNvGrpSpPr/>
        <p:nvPr/>
      </p:nvGrpSpPr>
      <p:grpSpPr>
        <a:xfrm>
          <a:off x="0" y="0"/>
          <a:ext cx="0" cy="0"/>
          <a:chOff x="0" y="0"/>
          <a:chExt cx="0" cy="0"/>
        </a:xfrm>
      </p:grpSpPr>
      <p:sp>
        <p:nvSpPr>
          <p:cNvPr id="1048" name="Google Shape;1048;g79377e7392_0_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9" name="Google Shape;1049;g79377e7392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3"/>
        <p:cNvGrpSpPr/>
        <p:nvPr/>
      </p:nvGrpSpPr>
      <p:grpSpPr>
        <a:xfrm>
          <a:off x="0" y="0"/>
          <a:ext cx="0" cy="0"/>
          <a:chOff x="0" y="0"/>
          <a:chExt cx="0" cy="0"/>
        </a:xfrm>
      </p:grpSpPr>
      <p:sp>
        <p:nvSpPr>
          <p:cNvPr id="1054" name="Google Shape;1054;g79377e7392_0_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55" name="Google Shape;1055;g79377e7392_0_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9"/>
        <p:cNvGrpSpPr/>
        <p:nvPr/>
      </p:nvGrpSpPr>
      <p:grpSpPr>
        <a:xfrm>
          <a:off x="0" y="0"/>
          <a:ext cx="0" cy="0"/>
          <a:chOff x="0" y="0"/>
          <a:chExt cx="0" cy="0"/>
        </a:xfrm>
      </p:grpSpPr>
      <p:sp>
        <p:nvSpPr>
          <p:cNvPr id="1060" name="Google Shape;1060;g79377e7392_0_7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1" name="Google Shape;1061;g79377e7392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7"/>
        <p:cNvGrpSpPr/>
        <p:nvPr/>
      </p:nvGrpSpPr>
      <p:grpSpPr>
        <a:xfrm>
          <a:off x="0" y="0"/>
          <a:ext cx="0" cy="0"/>
          <a:chOff x="0" y="0"/>
          <a:chExt cx="0" cy="0"/>
        </a:xfrm>
      </p:grpSpPr>
      <p:sp>
        <p:nvSpPr>
          <p:cNvPr id="1068" name="Google Shape;1068;g79377e7392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69" name="Google Shape;1069;g79377e7392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3"/>
        <p:cNvGrpSpPr/>
        <p:nvPr/>
      </p:nvGrpSpPr>
      <p:grpSpPr>
        <a:xfrm>
          <a:off x="0" y="0"/>
          <a:ext cx="0" cy="0"/>
          <a:chOff x="0" y="0"/>
          <a:chExt cx="0" cy="0"/>
        </a:xfrm>
      </p:grpSpPr>
      <p:sp>
        <p:nvSpPr>
          <p:cNvPr id="1074" name="Google Shape;1074;g79377e7392_0_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5" name="Google Shape;1075;g79377e7392_0_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g79377e7392_0_9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1" name="Google Shape;1081;g79377e7392_0_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5"/>
        <p:cNvGrpSpPr/>
        <p:nvPr/>
      </p:nvGrpSpPr>
      <p:grpSpPr>
        <a:xfrm>
          <a:off x="0" y="0"/>
          <a:ext cx="0" cy="0"/>
          <a:chOff x="0" y="0"/>
          <a:chExt cx="0" cy="0"/>
        </a:xfrm>
      </p:grpSpPr>
      <p:sp>
        <p:nvSpPr>
          <p:cNvPr id="1086" name="Google Shape;1086;g1b265a0c02b_0_1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87" name="Google Shape;1087;g1b265a0c02b_0_1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2"/>
        <p:cNvGrpSpPr/>
        <p:nvPr/>
      </p:nvGrpSpPr>
      <p:grpSpPr>
        <a:xfrm>
          <a:off x="0" y="0"/>
          <a:ext cx="0" cy="0"/>
          <a:chOff x="0" y="0"/>
          <a:chExt cx="0" cy="0"/>
        </a:xfrm>
      </p:grpSpPr>
      <p:sp>
        <p:nvSpPr>
          <p:cNvPr id="1093" name="Google Shape;1093;g1b265a0c02b_0_1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94" name="Google Shape;1094;g1b265a0c02b_0_1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g1b265a0c02b_0_1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0" name="Google Shape;1100;g1b265a0c02b_0_1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4"/>
        <p:cNvGrpSpPr/>
        <p:nvPr/>
      </p:nvGrpSpPr>
      <p:grpSpPr>
        <a:xfrm>
          <a:off x="0" y="0"/>
          <a:ext cx="0" cy="0"/>
          <a:chOff x="0" y="0"/>
          <a:chExt cx="0" cy="0"/>
        </a:xfrm>
      </p:grpSpPr>
      <p:sp>
        <p:nvSpPr>
          <p:cNvPr id="1105" name="Google Shape;1105;g1b265a0c02b_0_1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6" name="Google Shape;1106;g1b265a0c02b_0_1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g256685554d7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2" name="Google Shape;1112;g256685554d7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2"/>
        <p:cNvGrpSpPr/>
        <p:nvPr/>
      </p:nvGrpSpPr>
      <p:grpSpPr>
        <a:xfrm>
          <a:off x="0" y="0"/>
          <a:ext cx="0" cy="0"/>
          <a:chOff x="0" y="0"/>
          <a:chExt cx="0" cy="0"/>
        </a:xfrm>
      </p:grpSpPr>
      <p:sp>
        <p:nvSpPr>
          <p:cNvPr id="1123" name="Google Shape;1123;g1b265a0c02b_0_17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24" name="Google Shape;1124;g1b265a0c02b_0_17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8"/>
        <p:cNvGrpSpPr/>
        <p:nvPr/>
      </p:nvGrpSpPr>
      <p:grpSpPr>
        <a:xfrm>
          <a:off x="0" y="0"/>
          <a:ext cx="0" cy="0"/>
          <a:chOff x="0" y="0"/>
          <a:chExt cx="0" cy="0"/>
        </a:xfrm>
      </p:grpSpPr>
      <p:sp>
        <p:nvSpPr>
          <p:cNvPr id="1129" name="Google Shape;1129;g256685554d7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0" name="Google Shape;1130;g256685554d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4"/>
        <p:cNvGrpSpPr/>
        <p:nvPr/>
      </p:nvGrpSpPr>
      <p:grpSpPr>
        <a:xfrm>
          <a:off x="0" y="0"/>
          <a:ext cx="0" cy="0"/>
          <a:chOff x="0" y="0"/>
          <a:chExt cx="0" cy="0"/>
        </a:xfrm>
      </p:grpSpPr>
      <p:sp>
        <p:nvSpPr>
          <p:cNvPr id="1135" name="Google Shape;1135;g1b265a0c02b_0_1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36" name="Google Shape;1136;g1b265a0c02b_0_1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0"/>
        <p:cNvGrpSpPr/>
        <p:nvPr/>
      </p:nvGrpSpPr>
      <p:grpSpPr>
        <a:xfrm>
          <a:off x="0" y="0"/>
          <a:ext cx="0" cy="0"/>
          <a:chOff x="0" y="0"/>
          <a:chExt cx="0" cy="0"/>
        </a:xfrm>
      </p:grpSpPr>
      <p:sp>
        <p:nvSpPr>
          <p:cNvPr id="1141" name="Google Shape;1141;g25697398456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2" name="Google Shape;1142;g25697398456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6"/>
        <p:cNvGrpSpPr/>
        <p:nvPr/>
      </p:nvGrpSpPr>
      <p:grpSpPr>
        <a:xfrm>
          <a:off x="0" y="0"/>
          <a:ext cx="0" cy="0"/>
          <a:chOff x="0" y="0"/>
          <a:chExt cx="0" cy="0"/>
        </a:xfrm>
      </p:grpSpPr>
      <p:sp>
        <p:nvSpPr>
          <p:cNvPr id="1147" name="Google Shape;1147;g257de8db47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8" name="Google Shape;1148;g257de8db47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2"/>
        <p:cNvGrpSpPr/>
        <p:nvPr/>
      </p:nvGrpSpPr>
      <p:grpSpPr>
        <a:xfrm>
          <a:off x="0" y="0"/>
          <a:ext cx="0" cy="0"/>
          <a:chOff x="0" y="0"/>
          <a:chExt cx="0" cy="0"/>
        </a:xfrm>
      </p:grpSpPr>
      <p:sp>
        <p:nvSpPr>
          <p:cNvPr id="1153" name="Google Shape;1153;g2581753fa7f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54" name="Google Shape;1154;g2581753fa7f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9"/>
        <p:cNvGrpSpPr/>
        <p:nvPr/>
      </p:nvGrpSpPr>
      <p:grpSpPr>
        <a:xfrm>
          <a:off x="0" y="0"/>
          <a:ext cx="0" cy="0"/>
          <a:chOff x="0" y="0"/>
          <a:chExt cx="0" cy="0"/>
        </a:xfrm>
      </p:grpSpPr>
      <p:sp>
        <p:nvSpPr>
          <p:cNvPr id="1160" name="Google Shape;1160;g25866172d77_0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1" name="Google Shape;1161;g25866172d77_0_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5"/>
        <p:cNvGrpSpPr/>
        <p:nvPr/>
      </p:nvGrpSpPr>
      <p:grpSpPr>
        <a:xfrm>
          <a:off x="0" y="0"/>
          <a:ext cx="0" cy="0"/>
          <a:chOff x="0" y="0"/>
          <a:chExt cx="0" cy="0"/>
        </a:xfrm>
      </p:grpSpPr>
      <p:sp>
        <p:nvSpPr>
          <p:cNvPr id="1166" name="Google Shape;1166;g1b265a0c02b_0_1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7" name="Google Shape;1167;g1b265a0c02b_0_1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1"/>
        <p:cNvGrpSpPr/>
        <p:nvPr/>
      </p:nvGrpSpPr>
      <p:grpSpPr>
        <a:xfrm>
          <a:off x="0" y="0"/>
          <a:ext cx="0" cy="0"/>
          <a:chOff x="0" y="0"/>
          <a:chExt cx="0" cy="0"/>
        </a:xfrm>
      </p:grpSpPr>
      <p:sp>
        <p:nvSpPr>
          <p:cNvPr id="1172" name="Google Shape;1172;g79377e7392_0_9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3" name="Google Shape;1173;g79377e7392_0_9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7"/>
        <p:cNvGrpSpPr/>
        <p:nvPr/>
      </p:nvGrpSpPr>
      <p:grpSpPr>
        <a:xfrm>
          <a:off x="0" y="0"/>
          <a:ext cx="0" cy="0"/>
          <a:chOff x="0" y="0"/>
          <a:chExt cx="0" cy="0"/>
        </a:xfrm>
      </p:grpSpPr>
      <p:sp>
        <p:nvSpPr>
          <p:cNvPr id="1178" name="Google Shape;1178;g79377e7392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9" name="Google Shape;1179;g79377e7392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4"/>
        <p:cNvGrpSpPr/>
        <p:nvPr/>
      </p:nvGrpSpPr>
      <p:grpSpPr>
        <a:xfrm>
          <a:off x="0" y="0"/>
          <a:ext cx="0" cy="0"/>
          <a:chOff x="0" y="0"/>
          <a:chExt cx="0" cy="0"/>
        </a:xfrm>
      </p:grpSpPr>
      <p:sp>
        <p:nvSpPr>
          <p:cNvPr id="1185" name="Google Shape;1185;g79377e7392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6" name="Google Shape;1186;g79377e7392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0"/>
        <p:cNvGrpSpPr/>
        <p:nvPr/>
      </p:nvGrpSpPr>
      <p:grpSpPr>
        <a:xfrm>
          <a:off x="0" y="0"/>
          <a:ext cx="0" cy="0"/>
          <a:chOff x="0" y="0"/>
          <a:chExt cx="0" cy="0"/>
        </a:xfrm>
      </p:grpSpPr>
      <p:sp>
        <p:nvSpPr>
          <p:cNvPr id="1191" name="Google Shape;1191;g79377e7392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92" name="Google Shape;1192;g79377e7392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98"/>
        <p:cNvGrpSpPr/>
        <p:nvPr/>
      </p:nvGrpSpPr>
      <p:grpSpPr>
        <a:xfrm>
          <a:off x="0" y="0"/>
          <a:ext cx="0" cy="0"/>
          <a:chOff x="0" y="0"/>
          <a:chExt cx="0" cy="0"/>
        </a:xfrm>
      </p:grpSpPr>
      <p:sp>
        <p:nvSpPr>
          <p:cNvPr id="1199" name="Google Shape;1199;g79377e7392_0_1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0" name="Google Shape;1200;g79377e7392_0_1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4"/>
        <p:cNvGrpSpPr/>
        <p:nvPr/>
      </p:nvGrpSpPr>
      <p:grpSpPr>
        <a:xfrm>
          <a:off x="0" y="0"/>
          <a:ext cx="0" cy="0"/>
          <a:chOff x="0" y="0"/>
          <a:chExt cx="0" cy="0"/>
        </a:xfrm>
      </p:grpSpPr>
      <p:sp>
        <p:nvSpPr>
          <p:cNvPr id="1205" name="Google Shape;1205;g79377e7392_0_1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06" name="Google Shape;1206;g79377e7392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p:cNvGrpSpPr/>
        <p:nvPr/>
      </p:nvGrpSpPr>
      <p:grpSpPr>
        <a:xfrm>
          <a:off x="0" y="0"/>
          <a:ext cx="0" cy="0"/>
          <a:chOff x="0" y="0"/>
          <a:chExt cx="0" cy="0"/>
        </a:xfrm>
      </p:grpSpPr>
      <p:sp>
        <p:nvSpPr>
          <p:cNvPr id="1211" name="Google Shape;1211;g79377e7392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2" name="Google Shape;1212;g79377e7392_0_1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6"/>
        <p:cNvGrpSpPr/>
        <p:nvPr/>
      </p:nvGrpSpPr>
      <p:grpSpPr>
        <a:xfrm>
          <a:off x="0" y="0"/>
          <a:ext cx="0" cy="0"/>
          <a:chOff x="0" y="0"/>
          <a:chExt cx="0" cy="0"/>
        </a:xfrm>
      </p:grpSpPr>
      <p:sp>
        <p:nvSpPr>
          <p:cNvPr id="1217" name="Google Shape;1217;g79377e7392_0_1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18" name="Google Shape;1218;g79377e7392_0_1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2"/>
        <p:cNvGrpSpPr/>
        <p:nvPr/>
      </p:nvGrpSpPr>
      <p:grpSpPr>
        <a:xfrm>
          <a:off x="0" y="0"/>
          <a:ext cx="0" cy="0"/>
          <a:chOff x="0" y="0"/>
          <a:chExt cx="0" cy="0"/>
        </a:xfrm>
      </p:grpSpPr>
      <p:sp>
        <p:nvSpPr>
          <p:cNvPr id="1223" name="Google Shape;1223;g79377e7392_0_1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24" name="Google Shape;1224;g79377e7392_0_1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8"/>
        <p:cNvGrpSpPr/>
        <p:nvPr/>
      </p:nvGrpSpPr>
      <p:grpSpPr>
        <a:xfrm>
          <a:off x="0" y="0"/>
          <a:ext cx="0" cy="0"/>
          <a:chOff x="0" y="0"/>
          <a:chExt cx="0" cy="0"/>
        </a:xfrm>
      </p:grpSpPr>
      <p:sp>
        <p:nvSpPr>
          <p:cNvPr id="1229" name="Google Shape;1229;g1aed4c94aaf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0" name="Google Shape;1230;g1aed4c94aaf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3"/>
        <p:cNvGrpSpPr/>
        <p:nvPr/>
      </p:nvGrpSpPr>
      <p:grpSpPr>
        <a:xfrm>
          <a:off x="0" y="0"/>
          <a:ext cx="0" cy="0"/>
          <a:chOff x="0" y="0"/>
          <a:chExt cx="0" cy="0"/>
        </a:xfrm>
      </p:grpSpPr>
      <p:sp>
        <p:nvSpPr>
          <p:cNvPr id="1244" name="Google Shape;1244;g1aed4c94aaf_0_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5" name="Google Shape;1245;g1aed4c94aaf_0_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0"/>
        <p:cNvGrpSpPr/>
        <p:nvPr/>
      </p:nvGrpSpPr>
      <p:grpSpPr>
        <a:xfrm>
          <a:off x="0" y="0"/>
          <a:ext cx="0" cy="0"/>
          <a:chOff x="0" y="0"/>
          <a:chExt cx="0" cy="0"/>
        </a:xfrm>
      </p:grpSpPr>
      <p:sp>
        <p:nvSpPr>
          <p:cNvPr id="1251" name="Google Shape;1251;g1b265a0c02b_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2" name="Google Shape;1252;g1b265a0c02b_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6"/>
        <p:cNvGrpSpPr/>
        <p:nvPr/>
      </p:nvGrpSpPr>
      <p:grpSpPr>
        <a:xfrm>
          <a:off x="0" y="0"/>
          <a:ext cx="0" cy="0"/>
          <a:chOff x="0" y="0"/>
          <a:chExt cx="0" cy="0"/>
        </a:xfrm>
      </p:grpSpPr>
      <p:sp>
        <p:nvSpPr>
          <p:cNvPr id="1257" name="Google Shape;1257;g1b265a0c02b_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8" name="Google Shape;1258;g1b265a0c02b_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4"/>
        <p:cNvGrpSpPr/>
        <p:nvPr/>
      </p:nvGrpSpPr>
      <p:grpSpPr>
        <a:xfrm>
          <a:off x="0" y="0"/>
          <a:ext cx="0" cy="0"/>
          <a:chOff x="0" y="0"/>
          <a:chExt cx="0" cy="0"/>
        </a:xfrm>
      </p:grpSpPr>
      <p:sp>
        <p:nvSpPr>
          <p:cNvPr id="1265" name="Google Shape;1265;g1b265a0c02b_0_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6" name="Google Shape;1266;g1b265a0c02b_0_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3"/>
        <p:cNvGrpSpPr/>
        <p:nvPr/>
      </p:nvGrpSpPr>
      <p:grpSpPr>
        <a:xfrm>
          <a:off x="0" y="0"/>
          <a:ext cx="0" cy="0"/>
          <a:chOff x="0" y="0"/>
          <a:chExt cx="0" cy="0"/>
        </a:xfrm>
      </p:grpSpPr>
      <p:sp>
        <p:nvSpPr>
          <p:cNvPr id="1274" name="Google Shape;1274;g1b265a0c02b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5" name="Google Shape;1275;g1b265a0c02b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9"/>
        <p:cNvGrpSpPr/>
        <p:nvPr/>
      </p:nvGrpSpPr>
      <p:grpSpPr>
        <a:xfrm>
          <a:off x="0" y="0"/>
          <a:ext cx="0" cy="0"/>
          <a:chOff x="0" y="0"/>
          <a:chExt cx="0" cy="0"/>
        </a:xfrm>
      </p:grpSpPr>
      <p:sp>
        <p:nvSpPr>
          <p:cNvPr id="1280" name="Google Shape;1280;g1b265a0c02b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1" name="Google Shape;1281;g1b265a0c02b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5"/>
        <p:cNvGrpSpPr/>
        <p:nvPr/>
      </p:nvGrpSpPr>
      <p:grpSpPr>
        <a:xfrm>
          <a:off x="0" y="0"/>
          <a:ext cx="0" cy="0"/>
          <a:chOff x="0" y="0"/>
          <a:chExt cx="0" cy="0"/>
        </a:xfrm>
      </p:grpSpPr>
      <p:sp>
        <p:nvSpPr>
          <p:cNvPr id="1286" name="Google Shape;1286;g1b265a0c02b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7" name="Google Shape;1287;g1b265a0c02b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1"/>
        <p:cNvGrpSpPr/>
        <p:nvPr/>
      </p:nvGrpSpPr>
      <p:grpSpPr>
        <a:xfrm>
          <a:off x="0" y="0"/>
          <a:ext cx="0" cy="0"/>
          <a:chOff x="0" y="0"/>
          <a:chExt cx="0" cy="0"/>
        </a:xfrm>
      </p:grpSpPr>
      <p:sp>
        <p:nvSpPr>
          <p:cNvPr id="1292" name="Google Shape;1292;g1b265a0c02b_0_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93" name="Google Shape;1293;g1b265a0c02b_0_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8"/>
        <p:cNvGrpSpPr/>
        <p:nvPr/>
      </p:nvGrpSpPr>
      <p:grpSpPr>
        <a:xfrm>
          <a:off x="0" y="0"/>
          <a:ext cx="0" cy="0"/>
          <a:chOff x="0" y="0"/>
          <a:chExt cx="0" cy="0"/>
        </a:xfrm>
      </p:grpSpPr>
      <p:sp>
        <p:nvSpPr>
          <p:cNvPr id="1299" name="Google Shape;1299;g1b265a0c02b_0_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0" name="Google Shape;1300;g1b265a0c02b_0_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4"/>
        <p:cNvGrpSpPr/>
        <p:nvPr/>
      </p:nvGrpSpPr>
      <p:grpSpPr>
        <a:xfrm>
          <a:off x="0" y="0"/>
          <a:ext cx="0" cy="0"/>
          <a:chOff x="0" y="0"/>
          <a:chExt cx="0" cy="0"/>
        </a:xfrm>
      </p:grpSpPr>
      <p:sp>
        <p:nvSpPr>
          <p:cNvPr id="1305" name="Google Shape;1305;g1b265a0c02b_0_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6" name="Google Shape;1306;g1b265a0c02b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1"/>
        <p:cNvGrpSpPr/>
        <p:nvPr/>
      </p:nvGrpSpPr>
      <p:grpSpPr>
        <a:xfrm>
          <a:off x="0" y="0"/>
          <a:ext cx="0" cy="0"/>
          <a:chOff x="0" y="0"/>
          <a:chExt cx="0" cy="0"/>
        </a:xfrm>
      </p:grpSpPr>
      <p:sp>
        <p:nvSpPr>
          <p:cNvPr id="1312" name="Google Shape;1312;g1b265a0c02b_0_6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3" name="Google Shape;1313;g1b265a0c02b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8"/>
        <p:cNvGrpSpPr/>
        <p:nvPr/>
      </p:nvGrpSpPr>
      <p:grpSpPr>
        <a:xfrm>
          <a:off x="0" y="0"/>
          <a:ext cx="0" cy="0"/>
          <a:chOff x="0" y="0"/>
          <a:chExt cx="0" cy="0"/>
        </a:xfrm>
      </p:grpSpPr>
      <p:sp>
        <p:nvSpPr>
          <p:cNvPr id="1319" name="Google Shape;1319;g1b265a0c02b_0_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0" name="Google Shape;1320;g1b265a0c02b_0_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26"/>
        <p:cNvGrpSpPr/>
        <p:nvPr/>
      </p:nvGrpSpPr>
      <p:grpSpPr>
        <a:xfrm>
          <a:off x="0" y="0"/>
          <a:ext cx="0" cy="0"/>
          <a:chOff x="0" y="0"/>
          <a:chExt cx="0" cy="0"/>
        </a:xfrm>
      </p:grpSpPr>
      <p:sp>
        <p:nvSpPr>
          <p:cNvPr id="1327" name="Google Shape;1327;g1b265a0c02b_0_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8" name="Google Shape;1328;g1b265a0c02b_0_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3"/>
        <p:cNvGrpSpPr/>
        <p:nvPr/>
      </p:nvGrpSpPr>
      <p:grpSpPr>
        <a:xfrm>
          <a:off x="0" y="0"/>
          <a:ext cx="0" cy="0"/>
          <a:chOff x="0" y="0"/>
          <a:chExt cx="0" cy="0"/>
        </a:xfrm>
      </p:grpSpPr>
      <p:sp>
        <p:nvSpPr>
          <p:cNvPr id="1334" name="Google Shape;1334;g1b265a0c02b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5" name="Google Shape;1335;g1b265a0c02b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0"/>
        <p:cNvGrpSpPr/>
        <p:nvPr/>
      </p:nvGrpSpPr>
      <p:grpSpPr>
        <a:xfrm>
          <a:off x="0" y="0"/>
          <a:ext cx="0" cy="0"/>
          <a:chOff x="0" y="0"/>
          <a:chExt cx="0" cy="0"/>
        </a:xfrm>
      </p:grpSpPr>
      <p:sp>
        <p:nvSpPr>
          <p:cNvPr id="1341" name="Google Shape;1341;g1b265a0c02b_0_10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42" name="Google Shape;1342;g1b265a0c02b_0_10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9"/>
        <p:cNvGrpSpPr/>
        <p:nvPr/>
      </p:nvGrpSpPr>
      <p:grpSpPr>
        <a:xfrm>
          <a:off x="0" y="0"/>
          <a:ext cx="0" cy="0"/>
          <a:chOff x="0" y="0"/>
          <a:chExt cx="0" cy="0"/>
        </a:xfrm>
      </p:grpSpPr>
      <p:sp>
        <p:nvSpPr>
          <p:cNvPr id="1350" name="Google Shape;1350;g1b265a0c02b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1" name="Google Shape;1351;g1b265a0c02b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5"/>
        <p:cNvGrpSpPr/>
        <p:nvPr/>
      </p:nvGrpSpPr>
      <p:grpSpPr>
        <a:xfrm>
          <a:off x="0" y="0"/>
          <a:ext cx="0" cy="0"/>
          <a:chOff x="0" y="0"/>
          <a:chExt cx="0" cy="0"/>
        </a:xfrm>
      </p:grpSpPr>
      <p:sp>
        <p:nvSpPr>
          <p:cNvPr id="1356" name="Google Shape;1356;g1b265a0c02b_0_1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57" name="Google Shape;1357;g1b265a0c02b_0_1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1"/>
        <p:cNvGrpSpPr/>
        <p:nvPr/>
      </p:nvGrpSpPr>
      <p:grpSpPr>
        <a:xfrm>
          <a:off x="0" y="0"/>
          <a:ext cx="0" cy="0"/>
          <a:chOff x="0" y="0"/>
          <a:chExt cx="0" cy="0"/>
        </a:xfrm>
      </p:grpSpPr>
      <p:sp>
        <p:nvSpPr>
          <p:cNvPr id="1362" name="Google Shape;1362;g1b265a0c02b_0_1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3" name="Google Shape;1363;g1b265a0c02b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7"/>
        <p:cNvGrpSpPr/>
        <p:nvPr/>
      </p:nvGrpSpPr>
      <p:grpSpPr>
        <a:xfrm>
          <a:off x="0" y="0"/>
          <a:ext cx="0" cy="0"/>
          <a:chOff x="0" y="0"/>
          <a:chExt cx="0" cy="0"/>
        </a:xfrm>
      </p:grpSpPr>
      <p:sp>
        <p:nvSpPr>
          <p:cNvPr id="1368" name="Google Shape;1368;g1b265a0c02b_0_1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9" name="Google Shape;1369;g1b265a0c02b_0_1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3"/>
        <p:cNvGrpSpPr/>
        <p:nvPr/>
      </p:nvGrpSpPr>
      <p:grpSpPr>
        <a:xfrm>
          <a:off x="0" y="0"/>
          <a:ext cx="0" cy="0"/>
          <a:chOff x="0" y="0"/>
          <a:chExt cx="0" cy="0"/>
        </a:xfrm>
      </p:grpSpPr>
      <p:sp>
        <p:nvSpPr>
          <p:cNvPr id="1374" name="Google Shape;1374;g1b265a0c02b_0_1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5" name="Google Shape;1375;g1b265a0c02b_0_1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9"/>
        <p:cNvGrpSpPr/>
        <p:nvPr/>
      </p:nvGrpSpPr>
      <p:grpSpPr>
        <a:xfrm>
          <a:off x="0" y="0"/>
          <a:ext cx="0" cy="0"/>
          <a:chOff x="0" y="0"/>
          <a:chExt cx="0" cy="0"/>
        </a:xfrm>
      </p:grpSpPr>
      <p:sp>
        <p:nvSpPr>
          <p:cNvPr id="1380" name="Google Shape;1380;g1b265a0c02b_0_2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1" name="Google Shape;1381;g1b265a0c02b_0_2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2ECE85-5B6E-92B7-74C2-F85CE7744D01}"/>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endParaRPr lang="en-IN"/>
          </a:p>
        </p:txBody>
      </p:sp>
      <p:sp>
        <p:nvSpPr>
          <p:cNvPr id="3" name="Subtitle 2">
            <a:extLst>
              <a:ext uri="{FF2B5EF4-FFF2-40B4-BE49-F238E27FC236}">
                <a16:creationId xmlns:a16="http://schemas.microsoft.com/office/drawing/2014/main" id="{6C5FC63B-BADE-2985-12F5-0A5690795816}"/>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B4D8F27-6424-F919-5C28-0C946ACA5878}"/>
              </a:ext>
            </a:extLst>
          </p:cNvPr>
          <p:cNvSpPr>
            <a:spLocks noGrp="1"/>
          </p:cNvSpPr>
          <p:nvPr>
            <p:ph type="dt" sz="half" idx="10"/>
          </p:nvPr>
        </p:nvSpPr>
        <p:spPr/>
        <p:txBody>
          <a:bodyPr/>
          <a:lstStyle/>
          <a:p>
            <a:fld id="{4BDF68E2-58F2-4D09-BE8B-E3BD06533059}" type="datetimeFigureOut">
              <a:rPr lang="en-US" smtClean="0"/>
              <a:t>7/4/2025</a:t>
            </a:fld>
            <a:endParaRPr lang="en-US" dirty="0"/>
          </a:p>
        </p:txBody>
      </p:sp>
      <p:sp>
        <p:nvSpPr>
          <p:cNvPr id="5" name="Footer Placeholder 4">
            <a:extLst>
              <a:ext uri="{FF2B5EF4-FFF2-40B4-BE49-F238E27FC236}">
                <a16:creationId xmlns:a16="http://schemas.microsoft.com/office/drawing/2014/main" id="{2BE3AC1F-C242-F8D2-8FE6-CEB488BCC49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5FD987D-3C63-3A5C-9887-211E08530C4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de-CH" smtClean="0"/>
              <a:t>‹#›</a:t>
            </a:fld>
            <a:endParaRPr lang="de-CH"/>
          </a:p>
        </p:txBody>
      </p:sp>
    </p:spTree>
    <p:extLst>
      <p:ext uri="{BB962C8B-B14F-4D97-AF65-F5344CB8AC3E}">
        <p14:creationId xmlns:p14="http://schemas.microsoft.com/office/powerpoint/2010/main" val="342641085"/>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515744-CF78-F9ED-1E76-D5EAE7BC225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2C29EC2-0CE7-30BD-A563-976E4B1E723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895BAF-206B-FCF9-D0FD-70B3550FF56B}"/>
              </a:ext>
            </a:extLst>
          </p:cNvPr>
          <p:cNvSpPr>
            <a:spLocks noGrp="1"/>
          </p:cNvSpPr>
          <p:nvPr>
            <p:ph type="dt" sz="half" idx="10"/>
          </p:nvPr>
        </p:nvSpPr>
        <p:spPr/>
        <p:txBody>
          <a:bodyPr/>
          <a:lstStyle/>
          <a:p>
            <a:fld id="{528FC5F6-F338-4AE4-BB23-26385BCFC423}" type="datetimeFigureOut">
              <a:rPr lang="en-US" smtClean="0"/>
              <a:t>7/4/2025</a:t>
            </a:fld>
            <a:endParaRPr lang="en-US" dirty="0"/>
          </a:p>
        </p:txBody>
      </p:sp>
      <p:sp>
        <p:nvSpPr>
          <p:cNvPr id="5" name="Footer Placeholder 4">
            <a:extLst>
              <a:ext uri="{FF2B5EF4-FFF2-40B4-BE49-F238E27FC236}">
                <a16:creationId xmlns:a16="http://schemas.microsoft.com/office/drawing/2014/main" id="{21E1FEE5-C758-090F-F8AE-5D33E4BAA4C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45007FB-EDA1-80B2-2E65-D6D83D27B2F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de-CH" smtClean="0"/>
              <a:t>‹#›</a:t>
            </a:fld>
            <a:endParaRPr lang="de-CH"/>
          </a:p>
        </p:txBody>
      </p:sp>
    </p:spTree>
    <p:extLst>
      <p:ext uri="{BB962C8B-B14F-4D97-AF65-F5344CB8AC3E}">
        <p14:creationId xmlns:p14="http://schemas.microsoft.com/office/powerpoint/2010/main" val="3675364691"/>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8330C8-6115-2656-F6E4-1E3D7300F7A0}"/>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6A3195E-5863-08F6-E7F6-0F287B13DE01}"/>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CF49DC-9671-4903-229C-20855D5EB106}"/>
              </a:ext>
            </a:extLst>
          </p:cNvPr>
          <p:cNvSpPr>
            <a:spLocks noGrp="1"/>
          </p:cNvSpPr>
          <p:nvPr>
            <p:ph type="dt" sz="half" idx="10"/>
          </p:nvPr>
        </p:nvSpPr>
        <p:spPr/>
        <p:txBody>
          <a:bodyPr/>
          <a:lstStyle/>
          <a:p>
            <a:fld id="{20EBB0C4-6273-4C6E-B9BD-2EDC30F1CD52}" type="datetimeFigureOut">
              <a:rPr lang="en-US" smtClean="0"/>
              <a:t>7/4/2025</a:t>
            </a:fld>
            <a:endParaRPr lang="en-US" dirty="0"/>
          </a:p>
        </p:txBody>
      </p:sp>
      <p:sp>
        <p:nvSpPr>
          <p:cNvPr id="5" name="Footer Placeholder 4">
            <a:extLst>
              <a:ext uri="{FF2B5EF4-FFF2-40B4-BE49-F238E27FC236}">
                <a16:creationId xmlns:a16="http://schemas.microsoft.com/office/drawing/2014/main" id="{98A467DB-0EC3-3DD0-407A-F35C674E4F3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9EFAD8A-9726-BF85-5F11-95C751D964D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de-CH" smtClean="0"/>
              <a:t>‹#›</a:t>
            </a:fld>
            <a:endParaRPr lang="de-CH"/>
          </a:p>
        </p:txBody>
      </p:sp>
    </p:spTree>
    <p:extLst>
      <p:ext uri="{BB962C8B-B14F-4D97-AF65-F5344CB8AC3E}">
        <p14:creationId xmlns:p14="http://schemas.microsoft.com/office/powerpoint/2010/main" val="679332217"/>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30BC15-2311-A5ED-86D1-85168BE9A92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E9E68EF-F98F-BEAB-C6D5-03B0970A6FC3}"/>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632C19F-0166-4BC3-122F-B51094B8B0B9}"/>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A32C710-2CF7-9B21-143A-1AD3BB341160}"/>
              </a:ext>
            </a:extLst>
          </p:cNvPr>
          <p:cNvSpPr>
            <a:spLocks noGrp="1"/>
          </p:cNvSpPr>
          <p:nvPr>
            <p:ph type="dt" sz="half" idx="10"/>
          </p:nvPr>
        </p:nvSpPr>
        <p:spPr/>
        <p:txBody>
          <a:bodyPr/>
          <a:lstStyle/>
          <a:p>
            <a:fld id="{19AB4D41-86C1-4908-B66A-0B50CEB3BF29}" type="datetimeFigureOut">
              <a:rPr lang="en-US" smtClean="0"/>
              <a:t>7/4/2025</a:t>
            </a:fld>
            <a:endParaRPr lang="en-US" dirty="0"/>
          </a:p>
        </p:txBody>
      </p:sp>
      <p:sp>
        <p:nvSpPr>
          <p:cNvPr id="6" name="Footer Placeholder 5">
            <a:extLst>
              <a:ext uri="{FF2B5EF4-FFF2-40B4-BE49-F238E27FC236}">
                <a16:creationId xmlns:a16="http://schemas.microsoft.com/office/drawing/2014/main" id="{E272732F-072B-203E-4C3A-E47E67E0C66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482743B-50CD-0AD1-CAAE-C6B02BBA953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de-CH" smtClean="0"/>
              <a:t>‹#›</a:t>
            </a:fld>
            <a:endParaRPr lang="de-CH"/>
          </a:p>
        </p:txBody>
      </p:sp>
    </p:spTree>
    <p:extLst>
      <p:ext uri="{BB962C8B-B14F-4D97-AF65-F5344CB8AC3E}">
        <p14:creationId xmlns:p14="http://schemas.microsoft.com/office/powerpoint/2010/main" val="8795305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8B3260-2AEF-D972-BAF3-3D1BCDC6F4C0}"/>
              </a:ext>
            </a:extLst>
          </p:cNvPr>
          <p:cNvSpPr>
            <a:spLocks noGrp="1"/>
          </p:cNvSpPr>
          <p:nvPr>
            <p:ph type="title"/>
          </p:nvPr>
        </p:nvSpPr>
        <p:spPr>
          <a:xfrm>
            <a:off x="629841" y="273844"/>
            <a:ext cx="7886700" cy="994172"/>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91240E-C146-3CDB-3141-83C889AED370}"/>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16D07DEE-594C-3028-7DDA-875E6B312719}"/>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F6A904B-3E8A-F52D-8BF0-328C96949745}"/>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FD16B8E2-C52C-5CA2-ED27-CD10B9012C7E}"/>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D1D150B-D04D-13E4-FFE5-8D36EE6F7FF4}"/>
              </a:ext>
            </a:extLst>
          </p:cNvPr>
          <p:cNvSpPr>
            <a:spLocks noGrp="1"/>
          </p:cNvSpPr>
          <p:nvPr>
            <p:ph type="dt" sz="half" idx="10"/>
          </p:nvPr>
        </p:nvSpPr>
        <p:spPr/>
        <p:txBody>
          <a:bodyPr/>
          <a:lstStyle/>
          <a:p>
            <a:fld id="{E6426E2C-56C1-4E0D-A793-0088A7FDD37E}" type="datetimeFigureOut">
              <a:rPr lang="en-US" smtClean="0"/>
              <a:t>7/4/2025</a:t>
            </a:fld>
            <a:endParaRPr lang="en-US" dirty="0"/>
          </a:p>
        </p:txBody>
      </p:sp>
      <p:sp>
        <p:nvSpPr>
          <p:cNvPr id="8" name="Footer Placeholder 7">
            <a:extLst>
              <a:ext uri="{FF2B5EF4-FFF2-40B4-BE49-F238E27FC236}">
                <a16:creationId xmlns:a16="http://schemas.microsoft.com/office/drawing/2014/main" id="{205B6172-DD7F-EE82-DA1D-A48EF615E00C}"/>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8E1D99B7-88CB-B4BD-136E-FDCDB1E3E18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de-CH" smtClean="0"/>
              <a:t>‹#›</a:t>
            </a:fld>
            <a:endParaRPr lang="de-CH"/>
          </a:p>
        </p:txBody>
      </p:sp>
    </p:spTree>
    <p:extLst>
      <p:ext uri="{BB962C8B-B14F-4D97-AF65-F5344CB8AC3E}">
        <p14:creationId xmlns:p14="http://schemas.microsoft.com/office/powerpoint/2010/main" val="835746035"/>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A2922-9842-389F-262F-C58CE2D0613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DBD5DE8-3523-607A-A211-6935F033F025}"/>
              </a:ext>
            </a:extLst>
          </p:cNvPr>
          <p:cNvSpPr>
            <a:spLocks noGrp="1"/>
          </p:cNvSpPr>
          <p:nvPr>
            <p:ph type="dt" sz="half" idx="10"/>
          </p:nvPr>
        </p:nvSpPr>
        <p:spPr/>
        <p:txBody>
          <a:bodyPr/>
          <a:lstStyle/>
          <a:p>
            <a:fld id="{C8C39B41-D8B5-4052-B551-9B5525EAA8B6}" type="datetimeFigureOut">
              <a:rPr lang="en-US" smtClean="0"/>
              <a:t>7/4/2025</a:t>
            </a:fld>
            <a:endParaRPr lang="en-US" dirty="0"/>
          </a:p>
        </p:txBody>
      </p:sp>
      <p:sp>
        <p:nvSpPr>
          <p:cNvPr id="4" name="Footer Placeholder 3">
            <a:extLst>
              <a:ext uri="{FF2B5EF4-FFF2-40B4-BE49-F238E27FC236}">
                <a16:creationId xmlns:a16="http://schemas.microsoft.com/office/drawing/2014/main" id="{0AD859E1-E8E0-7480-821E-543CEB8DEBA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4C20D97E-E23A-52C9-9633-0B0D3D3D2C8D}"/>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de-CH" smtClean="0"/>
              <a:t>‹#›</a:t>
            </a:fld>
            <a:endParaRPr lang="de-CH"/>
          </a:p>
        </p:txBody>
      </p:sp>
    </p:spTree>
    <p:extLst>
      <p:ext uri="{BB962C8B-B14F-4D97-AF65-F5344CB8AC3E}">
        <p14:creationId xmlns:p14="http://schemas.microsoft.com/office/powerpoint/2010/main" val="287706165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AB13CD-4D10-580E-B51C-305EA2BA9C48}"/>
              </a:ext>
            </a:extLst>
          </p:cNvPr>
          <p:cNvSpPr>
            <a:spLocks noGrp="1"/>
          </p:cNvSpPr>
          <p:nvPr>
            <p:ph type="dt" sz="half" idx="10"/>
          </p:nvPr>
        </p:nvSpPr>
        <p:spPr/>
        <p:txBody>
          <a:bodyPr/>
          <a:lstStyle/>
          <a:p>
            <a:fld id="{4D94136C-8742-45B2-AF27-D93DF72833A9}" type="datetimeFigureOut">
              <a:rPr lang="en-US" smtClean="0"/>
              <a:t>7/4/2025</a:t>
            </a:fld>
            <a:endParaRPr lang="en-US" dirty="0"/>
          </a:p>
        </p:txBody>
      </p:sp>
      <p:sp>
        <p:nvSpPr>
          <p:cNvPr id="3" name="Footer Placeholder 2">
            <a:extLst>
              <a:ext uri="{FF2B5EF4-FFF2-40B4-BE49-F238E27FC236}">
                <a16:creationId xmlns:a16="http://schemas.microsoft.com/office/drawing/2014/main" id="{FCDE2F20-069B-C8DF-DE10-1DD47CAE543B}"/>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54386CDF-A461-1D58-EC16-A5BC0493B21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de-CH" smtClean="0"/>
              <a:t>‹#›</a:t>
            </a:fld>
            <a:endParaRPr lang="de-CH"/>
          </a:p>
        </p:txBody>
      </p:sp>
    </p:spTree>
    <p:extLst>
      <p:ext uri="{BB962C8B-B14F-4D97-AF65-F5344CB8AC3E}">
        <p14:creationId xmlns:p14="http://schemas.microsoft.com/office/powerpoint/2010/main" val="21800454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78308A-438F-8247-DE61-BBF6BB2C8CA8}"/>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0E12CE2-B933-CD5D-2CEE-7E719057B9F7}"/>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9B3EA9D-5ECD-40C5-AE51-D4991D6672EA}"/>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A487F652-1071-1625-1579-32AEE3740592}"/>
              </a:ext>
            </a:extLst>
          </p:cNvPr>
          <p:cNvSpPr>
            <a:spLocks noGrp="1"/>
          </p:cNvSpPr>
          <p:nvPr>
            <p:ph type="dt" sz="half" idx="10"/>
          </p:nvPr>
        </p:nvSpPr>
        <p:spPr/>
        <p:txBody>
          <a:bodyPr/>
          <a:lstStyle/>
          <a:p>
            <a:fld id="{32ABBEA6-7C60-4B02-AE87-00D78D8422AF}" type="datetimeFigureOut">
              <a:rPr lang="en-US" smtClean="0"/>
              <a:t>7/4/2025</a:t>
            </a:fld>
            <a:endParaRPr lang="en-US" dirty="0"/>
          </a:p>
        </p:txBody>
      </p:sp>
      <p:sp>
        <p:nvSpPr>
          <p:cNvPr id="6" name="Footer Placeholder 5">
            <a:extLst>
              <a:ext uri="{FF2B5EF4-FFF2-40B4-BE49-F238E27FC236}">
                <a16:creationId xmlns:a16="http://schemas.microsoft.com/office/drawing/2014/main" id="{FED22B03-DBD4-2451-02B5-238B92704D6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D9950F47-2145-7EA3-397E-68FC5DFEC08B}"/>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de-CH" smtClean="0"/>
              <a:t>‹#›</a:t>
            </a:fld>
            <a:endParaRPr lang="de-CH"/>
          </a:p>
        </p:txBody>
      </p:sp>
    </p:spTree>
    <p:extLst>
      <p:ext uri="{BB962C8B-B14F-4D97-AF65-F5344CB8AC3E}">
        <p14:creationId xmlns:p14="http://schemas.microsoft.com/office/powerpoint/2010/main" val="2261799081"/>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DF7EA-3A3F-EBFC-223C-B13EFDC9435F}"/>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C3CB3C4-472D-19E4-DD84-9DBBC4EBFAF3}"/>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IN"/>
          </a:p>
        </p:txBody>
      </p:sp>
      <p:sp>
        <p:nvSpPr>
          <p:cNvPr id="4" name="Text Placeholder 3">
            <a:extLst>
              <a:ext uri="{FF2B5EF4-FFF2-40B4-BE49-F238E27FC236}">
                <a16:creationId xmlns:a16="http://schemas.microsoft.com/office/drawing/2014/main" id="{966C991B-E3B2-8914-B805-F7BC5A5A9AB8}"/>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32EB794B-C609-A1BC-1255-87460EED49F5}"/>
              </a:ext>
            </a:extLst>
          </p:cNvPr>
          <p:cNvSpPr>
            <a:spLocks noGrp="1"/>
          </p:cNvSpPr>
          <p:nvPr>
            <p:ph type="dt" sz="half" idx="10"/>
          </p:nvPr>
        </p:nvSpPr>
        <p:spPr/>
        <p:txBody>
          <a:bodyPr/>
          <a:lstStyle/>
          <a:p>
            <a:fld id="{C9CAD897-D46E-4AD2-BD9B-49DD3E640873}" type="datetimeFigureOut">
              <a:rPr lang="en-US" smtClean="0"/>
              <a:t>7/4/2025</a:t>
            </a:fld>
            <a:endParaRPr lang="en-US" dirty="0"/>
          </a:p>
        </p:txBody>
      </p:sp>
      <p:sp>
        <p:nvSpPr>
          <p:cNvPr id="6" name="Footer Placeholder 5">
            <a:extLst>
              <a:ext uri="{FF2B5EF4-FFF2-40B4-BE49-F238E27FC236}">
                <a16:creationId xmlns:a16="http://schemas.microsoft.com/office/drawing/2014/main" id="{4A5C525B-C11C-EE49-EFD2-A85AC0D87E77}"/>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0895ADF7-6B9D-664B-5587-8E5ADF3904F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de-CH" smtClean="0"/>
              <a:t>‹#›</a:t>
            </a:fld>
            <a:endParaRPr lang="de-CH"/>
          </a:p>
        </p:txBody>
      </p:sp>
    </p:spTree>
    <p:extLst>
      <p:ext uri="{BB962C8B-B14F-4D97-AF65-F5344CB8AC3E}">
        <p14:creationId xmlns:p14="http://schemas.microsoft.com/office/powerpoint/2010/main" val="100623321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FDDAC-47FB-37C5-78AE-07BD17F56B5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7B50F01-9F2E-14B8-0D7B-64B72C6E5F7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31B6B8-38D7-E973-AF43-369F9598D687}"/>
              </a:ext>
            </a:extLst>
          </p:cNvPr>
          <p:cNvSpPr>
            <a:spLocks noGrp="1"/>
          </p:cNvSpPr>
          <p:nvPr>
            <p:ph type="dt" sz="half" idx="10"/>
          </p:nvPr>
        </p:nvSpPr>
        <p:spPr/>
        <p:txBody>
          <a:bodyPr/>
          <a:lstStyle/>
          <a:p>
            <a:fld id="{2E2D6473-DF6D-4702-B328-E0DD40540A4E}" type="datetimeFigureOut">
              <a:rPr lang="en-US" smtClean="0"/>
              <a:t>7/4/2025</a:t>
            </a:fld>
            <a:endParaRPr lang="en-US" dirty="0"/>
          </a:p>
        </p:txBody>
      </p:sp>
      <p:sp>
        <p:nvSpPr>
          <p:cNvPr id="5" name="Footer Placeholder 4">
            <a:extLst>
              <a:ext uri="{FF2B5EF4-FFF2-40B4-BE49-F238E27FC236}">
                <a16:creationId xmlns:a16="http://schemas.microsoft.com/office/drawing/2014/main" id="{E073299D-BABA-9499-0ECB-6AB9E472905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3569E6D-1580-CA74-D011-FD7B95B2DE5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de-CH" smtClean="0"/>
              <a:t>‹#›</a:t>
            </a:fld>
            <a:endParaRPr lang="de-CH"/>
          </a:p>
        </p:txBody>
      </p:sp>
    </p:spTree>
    <p:extLst>
      <p:ext uri="{BB962C8B-B14F-4D97-AF65-F5344CB8AC3E}">
        <p14:creationId xmlns:p14="http://schemas.microsoft.com/office/powerpoint/2010/main" val="291410835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1516C63-775C-F28E-C4DA-1CE10D3D4E39}"/>
              </a:ext>
            </a:extLst>
          </p:cNvPr>
          <p:cNvSpPr>
            <a:spLocks noGrp="1"/>
          </p:cNvSpPr>
          <p:nvPr>
            <p:ph type="title" orient="vert"/>
          </p:nvPr>
        </p:nvSpPr>
        <p:spPr>
          <a:xfrm>
            <a:off x="6543675" y="273844"/>
            <a:ext cx="1971675" cy="4358879"/>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F09C306-824F-4369-2663-393354DD2CFE}"/>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A5218DE-7A32-D6E4-74E2-D14172A68F03}"/>
              </a:ext>
            </a:extLst>
          </p:cNvPr>
          <p:cNvSpPr>
            <a:spLocks noGrp="1"/>
          </p:cNvSpPr>
          <p:nvPr>
            <p:ph type="dt" sz="half" idx="10"/>
          </p:nvPr>
        </p:nvSpPr>
        <p:spPr/>
        <p:txBody>
          <a:bodyPr/>
          <a:lstStyle/>
          <a:p>
            <a:fld id="{E26F7E3A-B166-407D-9866-32884E7D5B37}" type="datetimeFigureOut">
              <a:rPr lang="en-US" smtClean="0"/>
              <a:t>7/4/2025</a:t>
            </a:fld>
            <a:endParaRPr lang="en-US" dirty="0"/>
          </a:p>
        </p:txBody>
      </p:sp>
      <p:sp>
        <p:nvSpPr>
          <p:cNvPr id="5" name="Footer Placeholder 4">
            <a:extLst>
              <a:ext uri="{FF2B5EF4-FFF2-40B4-BE49-F238E27FC236}">
                <a16:creationId xmlns:a16="http://schemas.microsoft.com/office/drawing/2014/main" id="{8234FCBA-C887-AD38-7854-0DBF2FE814D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83B1675-088A-CB5C-2F32-1B30E58AF88F}"/>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de-CH" smtClean="0"/>
              <a:t>‹#›</a:t>
            </a:fld>
            <a:endParaRPr lang="de-CH"/>
          </a:p>
        </p:txBody>
      </p:sp>
    </p:spTree>
    <p:extLst>
      <p:ext uri="{BB962C8B-B14F-4D97-AF65-F5344CB8AC3E}">
        <p14:creationId xmlns:p14="http://schemas.microsoft.com/office/powerpoint/2010/main" val="255238389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21"/>
        <p:cNvGrpSpPr/>
        <p:nvPr/>
      </p:nvGrpSpPr>
      <p:grpSpPr>
        <a:xfrm>
          <a:off x="0" y="0"/>
          <a:ext cx="0" cy="0"/>
          <a:chOff x="0" y="0"/>
          <a:chExt cx="0" cy="0"/>
        </a:xfrm>
      </p:grpSpPr>
      <p:sp>
        <p:nvSpPr>
          <p:cNvPr id="23" name="Google Shape;23;p4"/>
          <p:cNvSpPr txBox="1">
            <a:spLocks noGrp="1"/>
          </p:cNvSpPr>
          <p:nvPr>
            <p:ph type="title"/>
          </p:nvPr>
        </p:nvSpPr>
        <p:spPr>
          <a:xfrm>
            <a:off x="311700" y="315925"/>
            <a:ext cx="8520600" cy="831300"/>
          </a:xfrm>
          <a:prstGeom prst="rect">
            <a:avLst/>
          </a:prstGeom>
        </p:spPr>
        <p:txBody>
          <a:bodyPr spcFirstLastPara="1" wrap="square" lIns="91425" tIns="91425" rIns="91425" bIns="91425" anchor="b" anchorCtr="0">
            <a:noAutofit/>
          </a:bodyPr>
          <a:lstStyle>
            <a:lvl1pPr lvl="0">
              <a:spcBef>
                <a:spcPts val="0"/>
              </a:spcBef>
              <a:spcAft>
                <a:spcPts val="0"/>
              </a:spcAft>
              <a:buSzPts val="4200"/>
              <a:buNone/>
              <a:defRPr/>
            </a:lvl1pPr>
            <a:lvl2pPr lvl="1">
              <a:spcBef>
                <a:spcPts val="0"/>
              </a:spcBef>
              <a:spcAft>
                <a:spcPts val="0"/>
              </a:spcAft>
              <a:buSzPts val="4200"/>
              <a:buNone/>
              <a:defRPr/>
            </a:lvl2pPr>
            <a:lvl3pPr lvl="2">
              <a:spcBef>
                <a:spcPts val="0"/>
              </a:spcBef>
              <a:spcAft>
                <a:spcPts val="0"/>
              </a:spcAft>
              <a:buSzPts val="4200"/>
              <a:buNone/>
              <a:defRPr/>
            </a:lvl3pPr>
            <a:lvl4pPr lvl="3">
              <a:spcBef>
                <a:spcPts val="0"/>
              </a:spcBef>
              <a:spcAft>
                <a:spcPts val="0"/>
              </a:spcAft>
              <a:buSzPts val="4200"/>
              <a:buNone/>
              <a:defRPr/>
            </a:lvl4pPr>
            <a:lvl5pPr lvl="4">
              <a:spcBef>
                <a:spcPts val="0"/>
              </a:spcBef>
              <a:spcAft>
                <a:spcPts val="0"/>
              </a:spcAft>
              <a:buSzPts val="4200"/>
              <a:buNone/>
              <a:defRPr/>
            </a:lvl5pPr>
            <a:lvl6pPr lvl="5">
              <a:spcBef>
                <a:spcPts val="0"/>
              </a:spcBef>
              <a:spcAft>
                <a:spcPts val="0"/>
              </a:spcAft>
              <a:buSzPts val="4200"/>
              <a:buNone/>
              <a:defRPr/>
            </a:lvl6pPr>
            <a:lvl7pPr lvl="6">
              <a:spcBef>
                <a:spcPts val="0"/>
              </a:spcBef>
              <a:spcAft>
                <a:spcPts val="0"/>
              </a:spcAft>
              <a:buSzPts val="4200"/>
              <a:buNone/>
              <a:defRPr/>
            </a:lvl7pPr>
            <a:lvl8pPr lvl="7">
              <a:spcBef>
                <a:spcPts val="0"/>
              </a:spcBef>
              <a:spcAft>
                <a:spcPts val="0"/>
              </a:spcAft>
              <a:buSzPts val="4200"/>
              <a:buNone/>
              <a:defRPr/>
            </a:lvl8pPr>
            <a:lvl9pPr lvl="8">
              <a:spcBef>
                <a:spcPts val="0"/>
              </a:spcBef>
              <a:spcAft>
                <a:spcPts val="0"/>
              </a:spcAft>
              <a:buSzPts val="4200"/>
              <a:buNone/>
              <a:defRPr/>
            </a:lvl9pPr>
          </a:lstStyle>
          <a:p>
            <a:endParaRPr/>
          </a:p>
        </p:txBody>
      </p:sp>
      <p:sp>
        <p:nvSpPr>
          <p:cNvPr id="24" name="Google Shape;24;p4"/>
          <p:cNvSpPr txBox="1">
            <a:spLocks noGrp="1"/>
          </p:cNvSpPr>
          <p:nvPr>
            <p:ph type="body" idx="1"/>
          </p:nvPr>
        </p:nvSpPr>
        <p:spPr>
          <a:xfrm>
            <a:off x="311700" y="1225225"/>
            <a:ext cx="8520600" cy="33540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5" name="Google Shape;25;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de-CH"/>
              <a:t>‹#›</a:t>
            </a:fld>
            <a:endParaRPr/>
          </a:p>
        </p:txBody>
      </p:sp>
    </p:spTree>
    <p:extLst>
      <p:ext uri="{BB962C8B-B14F-4D97-AF65-F5344CB8AC3E}">
        <p14:creationId xmlns:p14="http://schemas.microsoft.com/office/powerpoint/2010/main" val="27430786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F8D601-B3FA-9485-C3D6-1A0B4577C11A}"/>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E37D57E-3E42-C622-5FDF-C7FF1809B827}"/>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B39F4A-43E8-6368-B840-BEA7231AA9F3}"/>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98624D31-43A5-475A-80CF-332C9F6DCF35}" type="datetimeFigureOut">
              <a:rPr lang="en-US" smtClean="0"/>
              <a:t>7/4/2025</a:t>
            </a:fld>
            <a:endParaRPr lang="en-US" dirty="0"/>
          </a:p>
        </p:txBody>
      </p:sp>
      <p:sp>
        <p:nvSpPr>
          <p:cNvPr id="5" name="Footer Placeholder 4">
            <a:extLst>
              <a:ext uri="{FF2B5EF4-FFF2-40B4-BE49-F238E27FC236}">
                <a16:creationId xmlns:a16="http://schemas.microsoft.com/office/drawing/2014/main" id="{64E4300E-DDF6-2D29-CA00-18261AF54AB3}"/>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a:extLst>
              <a:ext uri="{FF2B5EF4-FFF2-40B4-BE49-F238E27FC236}">
                <a16:creationId xmlns:a16="http://schemas.microsoft.com/office/drawing/2014/main" id="{055CE23F-BD87-6588-30EE-00B173E7B3E6}"/>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pPr marL="0" lvl="0" indent="0" algn="r" rtl="0">
              <a:spcBef>
                <a:spcPts val="0"/>
              </a:spcBef>
              <a:spcAft>
                <a:spcPts val="0"/>
              </a:spcAft>
              <a:buNone/>
            </a:pPr>
            <a:fld id="{00000000-1234-1234-1234-123412341234}" type="slidenum">
              <a:rPr lang="de-CH" smtClean="0"/>
              <a:t>‹#›</a:t>
            </a:fld>
            <a:endParaRPr lang="de-CH"/>
          </a:p>
        </p:txBody>
      </p:sp>
    </p:spTree>
    <p:extLst>
      <p:ext uri="{BB962C8B-B14F-4D97-AF65-F5344CB8AC3E}">
        <p14:creationId xmlns:p14="http://schemas.microsoft.com/office/powerpoint/2010/main" val="2589454294"/>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hyperlink" Target="https://www.anaconda.com/download" TargetMode="External"/><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hyperlink" Target="https://www.anaconda.com/distribution/"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1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1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1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2.xml"/></Relationships>
</file>

<file path=ppt/slides/_rels/slide81.xml.rels><?xml version="1.0" encoding="UTF-8" standalone="yes"?>
<Relationships xmlns="http://schemas.openxmlformats.org/package/2006/relationships"><Relationship Id="rId3" Type="http://schemas.openxmlformats.org/officeDocument/2006/relationships/hyperlink" Target="https://pandas.pydata.org/pandas-docs/stable/user_guide/timeseries.html#timeseries-offset-aliases" TargetMode="External"/><Relationship Id="rId2" Type="http://schemas.openxmlformats.org/officeDocument/2006/relationships/notesSlide" Target="../notesSlides/notesSlide81.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2.xml"/></Relationships>
</file>

<file path=ppt/slides/_rels/slide84.xml.rels><?xml version="1.0" encoding="UTF-8" standalone="yes"?>
<Relationships xmlns="http://schemas.openxmlformats.org/package/2006/relationships"><Relationship Id="rId3" Type="http://schemas.openxmlformats.org/officeDocument/2006/relationships/hyperlink" Target="https://en.wikipedia.org/wiki/Function_(mathematics)" TargetMode="External"/><Relationship Id="rId2" Type="http://schemas.openxmlformats.org/officeDocument/2006/relationships/notesSlide" Target="../notesSlides/notesSlide84.xml"/><Relationship Id="rId1" Type="http://schemas.openxmlformats.org/officeDocument/2006/relationships/slideLayout" Target="../slideLayouts/slideLayout1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2.xml"/></Relationships>
</file>

<file path=ppt/slides/_rels/slide9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0.xml"/><Relationship Id="rId1" Type="http://schemas.openxmlformats.org/officeDocument/2006/relationships/slideLayout" Target="../slideLayouts/slideLayout1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2.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2.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2.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2.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2.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2.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2.xml"/></Relationships>
</file>

<file path=ppt/slides/_rels/slide10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7.xml"/><Relationship Id="rId1" Type="http://schemas.openxmlformats.org/officeDocument/2006/relationships/slideLayout" Target="../slideLayouts/slideLayout12.xml"/></Relationships>
</file>

<file path=ppt/slides/_rels/slide10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8.xml"/><Relationship Id="rId1" Type="http://schemas.openxmlformats.org/officeDocument/2006/relationships/slideLayout" Target="../slideLayouts/slideLayout1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2.xml"/></Relationships>
</file>

<file path=ppt/slides/_rels/slide1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0.xml"/><Relationship Id="rId1" Type="http://schemas.openxmlformats.org/officeDocument/2006/relationships/slideLayout" Target="../slideLayouts/slideLayout1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2.xml"/></Relationships>
</file>

<file path=ppt/slides/_rels/slide1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3.xml"/><Relationship Id="rId1" Type="http://schemas.openxmlformats.org/officeDocument/2006/relationships/slideLayout" Target="../slideLayouts/slideLayout1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2.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2.xml"/></Relationships>
</file>

<file path=ppt/slides/_rels/slide1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6.xml"/><Relationship Id="rId1" Type="http://schemas.openxmlformats.org/officeDocument/2006/relationships/slideLayout" Target="../slideLayouts/slideLayout12.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2.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2.xml"/></Relationships>
</file>

<file path=ppt/slides/_rels/slide1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20.xml"/><Relationship Id="rId1" Type="http://schemas.openxmlformats.org/officeDocument/2006/relationships/slideLayout" Target="../slideLayouts/slideLayout12.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2.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2.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2.xml"/></Relationships>
</file>

<file path=ppt/slides/_rels/slide1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4.xml"/><Relationship Id="rId1" Type="http://schemas.openxmlformats.org/officeDocument/2006/relationships/slideLayout" Target="../slideLayouts/slideLayout12.xml"/></Relationships>
</file>

<file path=ppt/slides/_rels/slide1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5.xml"/><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6.xml"/><Relationship Id="rId1" Type="http://schemas.openxmlformats.org/officeDocument/2006/relationships/slideLayout" Target="../slideLayouts/slideLayout12.xml"/></Relationships>
</file>

<file path=ppt/slides/_rels/slide1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27.xml"/><Relationship Id="rId1" Type="http://schemas.openxmlformats.org/officeDocument/2006/relationships/slideLayout" Target="../slideLayouts/slideLayout12.xml"/></Relationships>
</file>

<file path=ppt/slides/_rels/slide12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28.xml"/><Relationship Id="rId1" Type="http://schemas.openxmlformats.org/officeDocument/2006/relationships/slideLayout" Target="../slideLayouts/slideLayout12.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1.xml"/><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2.xml"/><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2.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2.xml"/></Relationships>
</file>

<file path=ppt/slides/_rels/slide136.xml.rels><?xml version="1.0" encoding="UTF-8" standalone="yes"?>
<Relationships xmlns="http://schemas.openxmlformats.org/package/2006/relationships"><Relationship Id="rId3" Type="http://schemas.openxmlformats.org/officeDocument/2006/relationships/hyperlink" Target="https://www.abs.gov.au/websitedbs/a3121120.nsf/home/statistical+language+-+statistical+language+glossary#Variable" TargetMode="External"/><Relationship Id="rId2" Type="http://schemas.openxmlformats.org/officeDocument/2006/relationships/notesSlide" Target="../notesSlides/notesSlide136.xml"/><Relationship Id="rId1" Type="http://schemas.openxmlformats.org/officeDocument/2006/relationships/slideLayout" Target="../slideLayouts/slideLayout12.xml"/></Relationships>
</file>

<file path=ppt/slides/_rels/slide137.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137.xml"/><Relationship Id="rId1" Type="http://schemas.openxmlformats.org/officeDocument/2006/relationships/slideLayout" Target="../slideLayouts/slideLayout1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2.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2.xml"/></Relationships>
</file>

<file path=ppt/slides/_rels/slide140.xml.rels><?xml version="1.0" encoding="UTF-8" standalone="yes"?>
<Relationships xmlns="http://schemas.openxmlformats.org/package/2006/relationships"><Relationship Id="rId3" Type="http://schemas.openxmlformats.org/officeDocument/2006/relationships/image" Target="../media/image22.gif"/><Relationship Id="rId2" Type="http://schemas.openxmlformats.org/officeDocument/2006/relationships/notesSlide" Target="../notesSlides/notesSlide140.xml"/><Relationship Id="rId1" Type="http://schemas.openxmlformats.org/officeDocument/2006/relationships/slideLayout" Target="../slideLayouts/slideLayout12.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2.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2.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44.xml"/><Relationship Id="rId1" Type="http://schemas.openxmlformats.org/officeDocument/2006/relationships/slideLayout" Target="../slideLayouts/slideLayout12.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45.xml"/><Relationship Id="rId1" Type="http://schemas.openxmlformats.org/officeDocument/2006/relationships/slideLayout" Target="../slideLayouts/slideLayout12.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46.xml"/><Relationship Id="rId1" Type="http://schemas.openxmlformats.org/officeDocument/2006/relationships/slideLayout" Target="../slideLayouts/slideLayout12.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47.xml"/><Relationship Id="rId1" Type="http://schemas.openxmlformats.org/officeDocument/2006/relationships/slideLayout" Target="../slideLayouts/slideLayout12.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48.xml"/><Relationship Id="rId1" Type="http://schemas.openxmlformats.org/officeDocument/2006/relationships/slideLayout" Target="../slideLayouts/slideLayout12.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49.xml"/><Relationship Id="rId1" Type="http://schemas.openxmlformats.org/officeDocument/2006/relationships/slideLayout" Target="../slideLayouts/slideLayout12.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50.xml"/><Relationship Id="rId1" Type="http://schemas.openxmlformats.org/officeDocument/2006/relationships/slideLayout" Target="../slideLayouts/slideLayout12.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51.xml"/><Relationship Id="rId1" Type="http://schemas.openxmlformats.org/officeDocument/2006/relationships/slideLayout" Target="../slideLayouts/slideLayout12.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52.xml"/><Relationship Id="rId1" Type="http://schemas.openxmlformats.org/officeDocument/2006/relationships/slideLayout" Target="../slideLayouts/slideLayout12.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53.xml"/><Relationship Id="rId1" Type="http://schemas.openxmlformats.org/officeDocument/2006/relationships/slideLayout" Target="../slideLayouts/slideLayout12.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54.xml"/><Relationship Id="rId1" Type="http://schemas.openxmlformats.org/officeDocument/2006/relationships/slideLayout" Target="../slideLayouts/slideLayout12.xml"/></Relationships>
</file>

<file path=ppt/slides/_rels/slide155.xml.rels><?xml version="1.0" encoding="UTF-8" standalone="yes"?>
<Relationships xmlns="http://schemas.openxmlformats.org/package/2006/relationships"><Relationship Id="rId3" Type="http://schemas.openxmlformats.org/officeDocument/2006/relationships/hyperlink" Target="https://www.abs.gov.au/websitedbs/a3121120.nsf/home/statistical+language+-+statistical+language+glossary#Variable" TargetMode="External"/><Relationship Id="rId2" Type="http://schemas.openxmlformats.org/officeDocument/2006/relationships/notesSlide" Target="../notesSlides/notesSlide155.xml"/><Relationship Id="rId1" Type="http://schemas.openxmlformats.org/officeDocument/2006/relationships/slideLayout" Target="../slideLayouts/slideLayout12.xml"/><Relationship Id="rId4" Type="http://schemas.openxmlformats.org/officeDocument/2006/relationships/hyperlink" Target="https://www.abs.gov.au/websitedbs/a3121120.nsf/home/statistical+language+-+statistical+language+glossary#Data%20item" TargetMode="Externa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56.xml"/><Relationship Id="rId1" Type="http://schemas.openxmlformats.org/officeDocument/2006/relationships/slideLayout" Target="../slideLayouts/slideLayout12.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57.xml"/><Relationship Id="rId1" Type="http://schemas.openxmlformats.org/officeDocument/2006/relationships/slideLayout" Target="../slideLayouts/slideLayout12.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58.xml"/><Relationship Id="rId1" Type="http://schemas.openxmlformats.org/officeDocument/2006/relationships/slideLayout" Target="../slideLayouts/slideLayout12.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59.xml"/><Relationship Id="rId1" Type="http://schemas.openxmlformats.org/officeDocument/2006/relationships/slideLayout" Target="../slideLayouts/slideLayout12.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60.xml"/><Relationship Id="rId1" Type="http://schemas.openxmlformats.org/officeDocument/2006/relationships/slideLayout" Target="../slideLayouts/slideLayout12.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61.xml"/><Relationship Id="rId1" Type="http://schemas.openxmlformats.org/officeDocument/2006/relationships/slideLayout" Target="../slideLayouts/slideLayout12.xml"/></Relationships>
</file>

<file path=ppt/slides/_rels/slide162.xml.rels><?xml version="1.0" encoding="UTF-8" standalone="yes"?>
<Relationships xmlns="http://schemas.openxmlformats.org/package/2006/relationships"><Relationship Id="rId2" Type="http://schemas.openxmlformats.org/officeDocument/2006/relationships/notesSlide" Target="../notesSlides/notesSlide162.xml"/><Relationship Id="rId1" Type="http://schemas.openxmlformats.org/officeDocument/2006/relationships/slideLayout" Target="../slideLayouts/slideLayout12.xml"/></Relationships>
</file>

<file path=ppt/slides/_rels/slide163.xml.rels><?xml version="1.0" encoding="UTF-8" standalone="yes"?>
<Relationships xmlns="http://schemas.openxmlformats.org/package/2006/relationships"><Relationship Id="rId2" Type="http://schemas.openxmlformats.org/officeDocument/2006/relationships/notesSlide" Target="../notesSlides/notesSlide163.xml"/><Relationship Id="rId1" Type="http://schemas.openxmlformats.org/officeDocument/2006/relationships/slideLayout" Target="../slideLayouts/slideLayout12.xml"/></Relationships>
</file>

<file path=ppt/slides/_rels/slide16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64.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165.xml.rels><?xml version="1.0" encoding="UTF-8" standalone="yes"?>
<Relationships xmlns="http://schemas.openxmlformats.org/package/2006/relationships"><Relationship Id="rId2" Type="http://schemas.openxmlformats.org/officeDocument/2006/relationships/notesSlide" Target="../notesSlides/notesSlide165.xml"/><Relationship Id="rId1" Type="http://schemas.openxmlformats.org/officeDocument/2006/relationships/slideLayout" Target="../slideLayouts/slideLayout12.xml"/></Relationships>
</file>

<file path=ppt/slides/_rels/slide166.xml.rels><?xml version="1.0" encoding="UTF-8" standalone="yes"?>
<Relationships xmlns="http://schemas.openxmlformats.org/package/2006/relationships"><Relationship Id="rId2" Type="http://schemas.openxmlformats.org/officeDocument/2006/relationships/notesSlide" Target="../notesSlides/notesSlide166.xml"/><Relationship Id="rId1" Type="http://schemas.openxmlformats.org/officeDocument/2006/relationships/slideLayout" Target="../slideLayouts/slideLayout12.xml"/></Relationships>
</file>

<file path=ppt/slides/_rels/slide167.xml.rels><?xml version="1.0" encoding="UTF-8" standalone="yes"?>
<Relationships xmlns="http://schemas.openxmlformats.org/package/2006/relationships"><Relationship Id="rId2" Type="http://schemas.openxmlformats.org/officeDocument/2006/relationships/notesSlide" Target="../notesSlides/notesSlide167.xml"/><Relationship Id="rId1" Type="http://schemas.openxmlformats.org/officeDocument/2006/relationships/slideLayout" Target="../slideLayouts/slideLayout12.xml"/></Relationships>
</file>

<file path=ppt/slides/_rels/slide16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68.xml"/><Relationship Id="rId1" Type="http://schemas.openxmlformats.org/officeDocument/2006/relationships/slideLayout" Target="../slideLayouts/slideLayout12.xml"/></Relationships>
</file>

<file path=ppt/slides/_rels/slide169.xml.rels><?xml version="1.0" encoding="UTF-8" standalone="yes"?>
<Relationships xmlns="http://schemas.openxmlformats.org/package/2006/relationships"><Relationship Id="rId2" Type="http://schemas.openxmlformats.org/officeDocument/2006/relationships/notesSlide" Target="../notesSlides/notesSlide169.xml"/><Relationship Id="rId1" Type="http://schemas.openxmlformats.org/officeDocument/2006/relationships/slideLayout" Target="../slideLayouts/slideLayout12.xml"/></Relationships>
</file>

<file path=ppt/slides/_rels/slide170.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170.xml"/><Relationship Id="rId1" Type="http://schemas.openxmlformats.org/officeDocument/2006/relationships/slideLayout" Target="../slideLayouts/slideLayout12.xml"/></Relationships>
</file>

<file path=ppt/slides/_rels/slide171.xml.rels><?xml version="1.0" encoding="UTF-8" standalone="yes"?>
<Relationships xmlns="http://schemas.openxmlformats.org/package/2006/relationships"><Relationship Id="rId2" Type="http://schemas.openxmlformats.org/officeDocument/2006/relationships/notesSlide" Target="../notesSlides/notesSlide171.xml"/><Relationship Id="rId1" Type="http://schemas.openxmlformats.org/officeDocument/2006/relationships/slideLayout" Target="../slideLayouts/slideLayout12.xml"/></Relationships>
</file>

<file path=ppt/slides/_rels/slide172.xml.rels><?xml version="1.0" encoding="UTF-8" standalone="yes"?>
<Relationships xmlns="http://schemas.openxmlformats.org/package/2006/relationships"><Relationship Id="rId2" Type="http://schemas.openxmlformats.org/officeDocument/2006/relationships/notesSlide" Target="../notesSlides/notesSlide172.xml"/><Relationship Id="rId1" Type="http://schemas.openxmlformats.org/officeDocument/2006/relationships/slideLayout" Target="../slideLayouts/slideLayout12.xml"/></Relationships>
</file>

<file path=ppt/slides/_rels/slide173.xml.rels><?xml version="1.0" encoding="UTF-8" standalone="yes"?>
<Relationships xmlns="http://schemas.openxmlformats.org/package/2006/relationships"><Relationship Id="rId2" Type="http://schemas.openxmlformats.org/officeDocument/2006/relationships/notesSlide" Target="../notesSlides/notesSlide173.xml"/><Relationship Id="rId1" Type="http://schemas.openxmlformats.org/officeDocument/2006/relationships/slideLayout" Target="../slideLayouts/slideLayout12.xml"/></Relationships>
</file>

<file path=ppt/slides/_rels/slide174.xml.rels><?xml version="1.0" encoding="UTF-8" standalone="yes"?>
<Relationships xmlns="http://schemas.openxmlformats.org/package/2006/relationships"><Relationship Id="rId2" Type="http://schemas.openxmlformats.org/officeDocument/2006/relationships/notesSlide" Target="../notesSlides/notesSlide174.xml"/><Relationship Id="rId1" Type="http://schemas.openxmlformats.org/officeDocument/2006/relationships/slideLayout" Target="../slideLayouts/slideLayout12.xml"/></Relationships>
</file>

<file path=ppt/slides/_rels/slide175.xml.rels><?xml version="1.0" encoding="UTF-8" standalone="yes"?>
<Relationships xmlns="http://schemas.openxmlformats.org/package/2006/relationships"><Relationship Id="rId2" Type="http://schemas.openxmlformats.org/officeDocument/2006/relationships/notesSlide" Target="../notesSlides/notesSlide175.xml"/><Relationship Id="rId1" Type="http://schemas.openxmlformats.org/officeDocument/2006/relationships/slideLayout" Target="../slideLayouts/slideLayout12.xml"/></Relationships>
</file>

<file path=ppt/slides/_rels/slide176.xml.rels><?xml version="1.0" encoding="UTF-8" standalone="yes"?>
<Relationships xmlns="http://schemas.openxmlformats.org/package/2006/relationships"><Relationship Id="rId2" Type="http://schemas.openxmlformats.org/officeDocument/2006/relationships/notesSlide" Target="../notesSlides/notesSlide176.xml"/><Relationship Id="rId1" Type="http://schemas.openxmlformats.org/officeDocument/2006/relationships/slideLayout" Target="../slideLayouts/slideLayout12.xml"/></Relationships>
</file>

<file path=ppt/slides/_rels/slide177.xml.rels><?xml version="1.0" encoding="UTF-8" standalone="yes"?>
<Relationships xmlns="http://schemas.openxmlformats.org/package/2006/relationships"><Relationship Id="rId2" Type="http://schemas.openxmlformats.org/officeDocument/2006/relationships/notesSlide" Target="../notesSlides/notesSlide177.xml"/><Relationship Id="rId1" Type="http://schemas.openxmlformats.org/officeDocument/2006/relationships/slideLayout" Target="../slideLayouts/slideLayout12.xml"/></Relationships>
</file>

<file path=ppt/slides/_rels/slide17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78.xml"/><Relationship Id="rId1" Type="http://schemas.openxmlformats.org/officeDocument/2006/relationships/slideLayout" Target="../slideLayouts/slideLayout12.xml"/></Relationships>
</file>

<file path=ppt/slides/_rels/slide179.xml.rels><?xml version="1.0" encoding="UTF-8" standalone="yes"?>
<Relationships xmlns="http://schemas.openxmlformats.org/package/2006/relationships"><Relationship Id="rId2" Type="http://schemas.openxmlformats.org/officeDocument/2006/relationships/notesSlide" Target="../notesSlides/notesSlide179.xml"/><Relationship Id="rId1" Type="http://schemas.openxmlformats.org/officeDocument/2006/relationships/slideLayout" Target="../slideLayouts/slideLayout12.xml"/></Relationships>
</file>

<file path=ppt/slides/_rels/slide180.xml.rels><?xml version="1.0" encoding="UTF-8" standalone="yes"?>
<Relationships xmlns="http://schemas.openxmlformats.org/package/2006/relationships"><Relationship Id="rId2" Type="http://schemas.openxmlformats.org/officeDocument/2006/relationships/notesSlide" Target="../notesSlides/notesSlide180.xml"/><Relationship Id="rId1" Type="http://schemas.openxmlformats.org/officeDocument/2006/relationships/slideLayout" Target="../slideLayouts/slideLayout12.xml"/></Relationships>
</file>

<file path=ppt/slides/_rels/slide181.xml.rels><?xml version="1.0" encoding="UTF-8" standalone="yes"?>
<Relationships xmlns="http://schemas.openxmlformats.org/package/2006/relationships"><Relationship Id="rId2" Type="http://schemas.openxmlformats.org/officeDocument/2006/relationships/notesSlide" Target="../notesSlides/notesSlide181.xml"/><Relationship Id="rId1" Type="http://schemas.openxmlformats.org/officeDocument/2006/relationships/slideLayout" Target="../slideLayouts/slideLayout12.xml"/></Relationships>
</file>

<file path=ppt/slides/_rels/slide18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82.xml"/><Relationship Id="rId1" Type="http://schemas.openxmlformats.org/officeDocument/2006/relationships/slideLayout" Target="../slideLayouts/slideLayout12.xml"/></Relationships>
</file>

<file path=ppt/slides/_rels/slide183.xml.rels><?xml version="1.0" encoding="UTF-8" standalone="yes"?>
<Relationships xmlns="http://schemas.openxmlformats.org/package/2006/relationships"><Relationship Id="rId2" Type="http://schemas.openxmlformats.org/officeDocument/2006/relationships/notesSlide" Target="../notesSlides/notesSlide183.xml"/><Relationship Id="rId1" Type="http://schemas.openxmlformats.org/officeDocument/2006/relationships/slideLayout" Target="../slideLayouts/slideLayout12.xml"/></Relationships>
</file>

<file path=ppt/slides/_rels/slide18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84.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185.xml.rels><?xml version="1.0" encoding="UTF-8" standalone="yes"?>
<Relationships xmlns="http://schemas.openxmlformats.org/package/2006/relationships"><Relationship Id="rId2" Type="http://schemas.openxmlformats.org/officeDocument/2006/relationships/notesSlide" Target="../notesSlides/notesSlide185.xml"/><Relationship Id="rId1" Type="http://schemas.openxmlformats.org/officeDocument/2006/relationships/slideLayout" Target="../slideLayouts/slideLayout12.xml"/></Relationships>
</file>

<file path=ppt/slides/_rels/slide186.xml.rels><?xml version="1.0" encoding="UTF-8" standalone="yes"?>
<Relationships xmlns="http://schemas.openxmlformats.org/package/2006/relationships"><Relationship Id="rId2" Type="http://schemas.openxmlformats.org/officeDocument/2006/relationships/notesSlide" Target="../notesSlides/notesSlide186.xml"/><Relationship Id="rId1" Type="http://schemas.openxmlformats.org/officeDocument/2006/relationships/slideLayout" Target="../slideLayouts/slideLayout12.xml"/></Relationships>
</file>

<file path=ppt/slides/_rels/slide187.xml.rels><?xml version="1.0" encoding="UTF-8" standalone="yes"?>
<Relationships xmlns="http://schemas.openxmlformats.org/package/2006/relationships"><Relationship Id="rId2" Type="http://schemas.openxmlformats.org/officeDocument/2006/relationships/notesSlide" Target="../notesSlides/notesSlide187.xml"/><Relationship Id="rId1" Type="http://schemas.openxmlformats.org/officeDocument/2006/relationships/slideLayout" Target="../slideLayouts/slideLayout12.xml"/></Relationships>
</file>

<file path=ppt/slides/_rels/slide188.xml.rels><?xml version="1.0" encoding="UTF-8" standalone="yes"?>
<Relationships xmlns="http://schemas.openxmlformats.org/package/2006/relationships"><Relationship Id="rId2" Type="http://schemas.openxmlformats.org/officeDocument/2006/relationships/notesSlide" Target="../notesSlides/notesSlide188.xml"/><Relationship Id="rId1" Type="http://schemas.openxmlformats.org/officeDocument/2006/relationships/slideLayout" Target="../slideLayouts/slideLayout12.xml"/></Relationships>
</file>

<file path=ppt/slides/_rels/slide189.xml.rels><?xml version="1.0" encoding="UTF-8" standalone="yes"?>
<Relationships xmlns="http://schemas.openxmlformats.org/package/2006/relationships"><Relationship Id="rId2" Type="http://schemas.openxmlformats.org/officeDocument/2006/relationships/notesSlide" Target="../notesSlides/notesSlide189.xml"/><Relationship Id="rId1" Type="http://schemas.openxmlformats.org/officeDocument/2006/relationships/slideLayout" Target="../slideLayouts/slideLayout12.xml"/></Relationships>
</file>

<file path=ppt/slides/_rels/slide19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90.xml"/><Relationship Id="rId1" Type="http://schemas.openxmlformats.org/officeDocument/2006/relationships/slideLayout" Target="../slideLayouts/slideLayout12.xml"/></Relationships>
</file>

<file path=ppt/slides/_rels/slide19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91.xml"/><Relationship Id="rId1" Type="http://schemas.openxmlformats.org/officeDocument/2006/relationships/slideLayout" Target="../slideLayouts/slideLayout12.xml"/></Relationships>
</file>

<file path=ppt/slides/_rels/slide192.xml.rels><?xml version="1.0" encoding="UTF-8" standalone="yes"?>
<Relationships xmlns="http://schemas.openxmlformats.org/package/2006/relationships"><Relationship Id="rId2" Type="http://schemas.openxmlformats.org/officeDocument/2006/relationships/notesSlide" Target="../notesSlides/notesSlide192.xml"/><Relationship Id="rId1" Type="http://schemas.openxmlformats.org/officeDocument/2006/relationships/slideLayout" Target="../slideLayouts/slideLayout12.xml"/></Relationships>
</file>

<file path=ppt/slides/_rels/slide19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93.xml"/><Relationship Id="rId1" Type="http://schemas.openxmlformats.org/officeDocument/2006/relationships/slideLayout" Target="../slideLayouts/slideLayout12.xml"/><Relationship Id="rId4" Type="http://schemas.openxmlformats.org/officeDocument/2006/relationships/image" Target="../media/image34.png"/></Relationships>
</file>

<file path=ppt/slides/_rels/slide194.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94.xml"/><Relationship Id="rId1" Type="http://schemas.openxmlformats.org/officeDocument/2006/relationships/slideLayout" Target="../slideLayouts/slideLayout12.xml"/><Relationship Id="rId5" Type="http://schemas.openxmlformats.org/officeDocument/2006/relationships/image" Target="../media/image37.png"/><Relationship Id="rId4" Type="http://schemas.openxmlformats.org/officeDocument/2006/relationships/image" Target="../media/image36.png"/></Relationships>
</file>

<file path=ppt/slides/_rels/slide195.xml.rels><?xml version="1.0" encoding="UTF-8" standalone="yes"?>
<Relationships xmlns="http://schemas.openxmlformats.org/package/2006/relationships"><Relationship Id="rId2" Type="http://schemas.openxmlformats.org/officeDocument/2006/relationships/notesSlide" Target="../notesSlides/notesSlide195.xml"/><Relationship Id="rId1" Type="http://schemas.openxmlformats.org/officeDocument/2006/relationships/slideLayout" Target="../slideLayouts/slideLayout12.xml"/></Relationships>
</file>

<file path=ppt/slides/_rels/slide196.xml.rels><?xml version="1.0" encoding="UTF-8" standalone="yes"?>
<Relationships xmlns="http://schemas.openxmlformats.org/package/2006/relationships"><Relationship Id="rId2" Type="http://schemas.openxmlformats.org/officeDocument/2006/relationships/notesSlide" Target="../notesSlides/notesSlide196.xml"/><Relationship Id="rId1" Type="http://schemas.openxmlformats.org/officeDocument/2006/relationships/slideLayout" Target="../slideLayouts/slideLayout12.xml"/></Relationships>
</file>

<file path=ppt/slides/_rels/slide197.xml.rels><?xml version="1.0" encoding="UTF-8" standalone="yes"?>
<Relationships xmlns="http://schemas.openxmlformats.org/package/2006/relationships"><Relationship Id="rId2" Type="http://schemas.openxmlformats.org/officeDocument/2006/relationships/notesSlide" Target="../notesSlides/notesSlide197.xml"/><Relationship Id="rId1" Type="http://schemas.openxmlformats.org/officeDocument/2006/relationships/slideLayout" Target="../slideLayouts/slideLayout12.xml"/></Relationships>
</file>

<file path=ppt/slides/_rels/slide198.xml.rels><?xml version="1.0" encoding="UTF-8" standalone="yes"?>
<Relationships xmlns="http://schemas.openxmlformats.org/package/2006/relationships"><Relationship Id="rId2" Type="http://schemas.openxmlformats.org/officeDocument/2006/relationships/notesSlide" Target="../notesSlides/notesSlide198.xml"/><Relationship Id="rId1" Type="http://schemas.openxmlformats.org/officeDocument/2006/relationships/slideLayout" Target="../slideLayouts/slideLayout12.xml"/></Relationships>
</file>

<file path=ppt/slides/_rels/slide199.xml.rels><?xml version="1.0" encoding="UTF-8" standalone="yes"?>
<Relationships xmlns="http://schemas.openxmlformats.org/package/2006/relationships"><Relationship Id="rId2" Type="http://schemas.openxmlformats.org/officeDocument/2006/relationships/notesSlide" Target="../notesSlides/notesSlide199.xml"/><Relationship Id="rId1" Type="http://schemas.openxmlformats.org/officeDocument/2006/relationships/slideLayout" Target="../slideLayouts/slideLayout12.xml"/></Relationships>
</file>

<file path=ppt/slides/_rels/slide200.xml.rels><?xml version="1.0" encoding="UTF-8" standalone="yes"?>
<Relationships xmlns="http://schemas.openxmlformats.org/package/2006/relationships"><Relationship Id="rId2" Type="http://schemas.openxmlformats.org/officeDocument/2006/relationships/notesSlide" Target="../notesSlides/notesSlide200.xml"/><Relationship Id="rId1" Type="http://schemas.openxmlformats.org/officeDocument/2006/relationships/slideLayout" Target="../slideLayouts/slideLayout12.xml"/></Relationships>
</file>

<file path=ppt/slides/_rels/slide20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01.xml"/><Relationship Id="rId1" Type="http://schemas.openxmlformats.org/officeDocument/2006/relationships/slideLayout" Target="../slideLayouts/slideLayout12.xml"/></Relationships>
</file>

<file path=ppt/slides/_rels/slide202.xml.rels><?xml version="1.0" encoding="UTF-8" standalone="yes"?>
<Relationships xmlns="http://schemas.openxmlformats.org/package/2006/relationships"><Relationship Id="rId2" Type="http://schemas.openxmlformats.org/officeDocument/2006/relationships/notesSlide" Target="../notesSlides/notesSlide202.xml"/><Relationship Id="rId1" Type="http://schemas.openxmlformats.org/officeDocument/2006/relationships/slideLayout" Target="../slideLayouts/slideLayout12.xml"/></Relationships>
</file>

<file path=ppt/slides/_rels/slide20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3.xml"/><Relationship Id="rId1" Type="http://schemas.openxmlformats.org/officeDocument/2006/relationships/slideLayout" Target="../slideLayouts/slideLayout12.xml"/></Relationships>
</file>

<file path=ppt/slides/_rels/slide204.xml.rels><?xml version="1.0" encoding="UTF-8" standalone="yes"?>
<Relationships xmlns="http://schemas.openxmlformats.org/package/2006/relationships"><Relationship Id="rId2" Type="http://schemas.openxmlformats.org/officeDocument/2006/relationships/notesSlide" Target="../notesSlides/notesSlide204.xml"/><Relationship Id="rId1" Type="http://schemas.openxmlformats.org/officeDocument/2006/relationships/slideLayout" Target="../slideLayouts/slideLayout12.xml"/></Relationships>
</file>

<file path=ppt/slides/_rels/slide20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05.xml"/><Relationship Id="rId1" Type="http://schemas.openxmlformats.org/officeDocument/2006/relationships/slideLayout" Target="../slideLayouts/slideLayout12.xml"/><Relationship Id="rId5" Type="http://schemas.openxmlformats.org/officeDocument/2006/relationships/image" Target="../media/image42.png"/><Relationship Id="rId4" Type="http://schemas.openxmlformats.org/officeDocument/2006/relationships/image" Target="../media/image41.png"/></Relationships>
</file>

<file path=ppt/slides/_rels/slide206.xml.rels><?xml version="1.0" encoding="UTF-8" standalone="yes"?>
<Relationships xmlns="http://schemas.openxmlformats.org/package/2006/relationships"><Relationship Id="rId2" Type="http://schemas.openxmlformats.org/officeDocument/2006/relationships/notesSlide" Target="../notesSlides/notesSlide206.xml"/><Relationship Id="rId1" Type="http://schemas.openxmlformats.org/officeDocument/2006/relationships/slideLayout" Target="../slideLayouts/slideLayout12.xml"/></Relationships>
</file>

<file path=ppt/slides/_rels/slide207.xml.rels><?xml version="1.0" encoding="UTF-8" standalone="yes"?>
<Relationships xmlns="http://schemas.openxmlformats.org/package/2006/relationships"><Relationship Id="rId2" Type="http://schemas.openxmlformats.org/officeDocument/2006/relationships/notesSlide" Target="../notesSlides/notesSlide207.xml"/><Relationship Id="rId1" Type="http://schemas.openxmlformats.org/officeDocument/2006/relationships/slideLayout" Target="../slideLayouts/slideLayout12.xml"/></Relationships>
</file>

<file path=ppt/slides/_rels/slide208.xml.rels><?xml version="1.0" encoding="UTF-8" standalone="yes"?>
<Relationships xmlns="http://schemas.openxmlformats.org/package/2006/relationships"><Relationship Id="rId2" Type="http://schemas.openxmlformats.org/officeDocument/2006/relationships/notesSlide" Target="../notesSlides/notesSlide208.xml"/><Relationship Id="rId1" Type="http://schemas.openxmlformats.org/officeDocument/2006/relationships/slideLayout" Target="../slideLayouts/slideLayout12.xml"/></Relationships>
</file>

<file path=ppt/slides/_rels/slide209.xml.rels><?xml version="1.0" encoding="UTF-8" standalone="yes"?>
<Relationships xmlns="http://schemas.openxmlformats.org/package/2006/relationships"><Relationship Id="rId2" Type="http://schemas.openxmlformats.org/officeDocument/2006/relationships/notesSlide" Target="../notesSlides/notesSlide209.xml"/><Relationship Id="rId1" Type="http://schemas.openxmlformats.org/officeDocument/2006/relationships/slideLayout" Target="../slideLayouts/slideLayout12.xml"/></Relationships>
</file>

<file path=ppt/slides/_rels/slide210.xml.rels><?xml version="1.0" encoding="UTF-8" standalone="yes"?>
<Relationships xmlns="http://schemas.openxmlformats.org/package/2006/relationships"><Relationship Id="rId2" Type="http://schemas.openxmlformats.org/officeDocument/2006/relationships/notesSlide" Target="../notesSlides/notesSlide210.xml"/><Relationship Id="rId1" Type="http://schemas.openxmlformats.org/officeDocument/2006/relationships/slideLayout" Target="../slideLayouts/slideLayout12.xml"/></Relationships>
</file>

<file path=ppt/slides/_rels/slide211.xml.rels><?xml version="1.0" encoding="UTF-8" standalone="yes"?>
<Relationships xmlns="http://schemas.openxmlformats.org/package/2006/relationships"><Relationship Id="rId2" Type="http://schemas.openxmlformats.org/officeDocument/2006/relationships/notesSlide" Target="../notesSlides/notesSlide211.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3"/>
          <p:cNvSpPr txBox="1">
            <a:spLocks noGrp="1"/>
          </p:cNvSpPr>
          <p:nvPr>
            <p:ph type="ctrTitle"/>
          </p:nvPr>
        </p:nvSpPr>
        <p:spPr>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de-CH"/>
              <a:t>DATA SCIENCE</a:t>
            </a:r>
            <a:endParaRPr dirty="0"/>
          </a:p>
        </p:txBody>
      </p:sp>
      <p:sp>
        <p:nvSpPr>
          <p:cNvPr id="64" name="Google Shape;64;p13"/>
          <p:cNvSpPr txBox="1">
            <a:spLocks noGrp="1"/>
          </p:cNvSpPr>
          <p:nvPr>
            <p:ph type="subTitle" idx="1"/>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WHAT IS DATA??</a:t>
            </a:r>
            <a:endParaRPr/>
          </a:p>
        </p:txBody>
      </p:sp>
      <p:sp>
        <p:nvSpPr>
          <p:cNvPr id="70" name="Google Shape;70;p14"/>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t>Data is just a collection of facts..</a:t>
            </a:r>
            <a:endParaRPr/>
          </a:p>
          <a:p>
            <a:pPr marL="0" lvl="0" indent="0" algn="l" rtl="0">
              <a:spcBef>
                <a:spcPts val="1600"/>
              </a:spcBef>
              <a:spcAft>
                <a:spcPts val="1600"/>
              </a:spcAft>
              <a:buNone/>
            </a:pPr>
            <a:r>
              <a:rPr lang="de-CH"/>
              <a:t>Eg:  100, ’ADWAITH’ ,   (a+b)^2=a^2+2ab+b^2</a:t>
            </a:r>
            <a:endParaRPr/>
          </a:p>
        </p:txBody>
      </p:sp>
      <p:pic>
        <p:nvPicPr>
          <p:cNvPr id="71" name="Google Shape;71;p14"/>
          <p:cNvPicPr preferRelativeResize="0"/>
          <p:nvPr/>
        </p:nvPicPr>
        <p:blipFill>
          <a:blip r:embed="rId3">
            <a:alphaModFix/>
          </a:blip>
          <a:stretch>
            <a:fillRect/>
          </a:stretch>
        </p:blipFill>
        <p:spPr>
          <a:xfrm>
            <a:off x="2299625" y="2121400"/>
            <a:ext cx="4467975" cy="26073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5"/>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DATA BEFORE SOME YEARS AGO..</a:t>
            </a:r>
            <a:endParaRPr/>
          </a:p>
        </p:txBody>
      </p:sp>
      <p:sp>
        <p:nvSpPr>
          <p:cNvPr id="77" name="Google Shape;77;p15"/>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Consider data ,some 10 or 15 years before ,It was all about structured data and its size was in kb’s and mb’s</a:t>
            </a:r>
            <a:endParaRPr/>
          </a:p>
          <a:p>
            <a:pPr marL="457200" lvl="0" indent="-342900" algn="l" rtl="0">
              <a:spcBef>
                <a:spcPts val="0"/>
              </a:spcBef>
              <a:spcAft>
                <a:spcPts val="0"/>
              </a:spcAft>
              <a:buSzPts val="1800"/>
              <a:buChar char="●"/>
            </a:pPr>
            <a:r>
              <a:rPr lang="de-CH"/>
              <a:t>And Storing and processing this data was very easy by using traditional systems.</a:t>
            </a:r>
            <a:endParaRPr/>
          </a:p>
        </p:txBody>
      </p:sp>
      <p:pic>
        <p:nvPicPr>
          <p:cNvPr id="78" name="Google Shape;78;p15"/>
          <p:cNvPicPr preferRelativeResize="0"/>
          <p:nvPr/>
        </p:nvPicPr>
        <p:blipFill>
          <a:blip r:embed="rId3">
            <a:alphaModFix/>
          </a:blip>
          <a:stretch>
            <a:fillRect/>
          </a:stretch>
        </p:blipFill>
        <p:spPr>
          <a:xfrm>
            <a:off x="857475" y="2632275"/>
            <a:ext cx="6343650" cy="24003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2"/>
        <p:cNvGrpSpPr/>
        <p:nvPr/>
      </p:nvGrpSpPr>
      <p:grpSpPr>
        <a:xfrm>
          <a:off x="0" y="0"/>
          <a:ext cx="0" cy="0"/>
          <a:chOff x="0" y="0"/>
          <a:chExt cx="0" cy="0"/>
        </a:xfrm>
      </p:grpSpPr>
      <p:sp>
        <p:nvSpPr>
          <p:cNvPr id="83" name="Google Shape;83;p16"/>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DATA NOW..</a:t>
            </a:r>
            <a:endParaRPr/>
          </a:p>
        </p:txBody>
      </p:sp>
      <p:sp>
        <p:nvSpPr>
          <p:cNvPr id="84" name="Google Shape;84;p16"/>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In this Decade data is not that much simple</a:t>
            </a:r>
            <a:endParaRPr/>
          </a:p>
          <a:p>
            <a:pPr marL="457200" lvl="0" indent="-342900" algn="l" rtl="0">
              <a:spcBef>
                <a:spcPts val="0"/>
              </a:spcBef>
              <a:spcAft>
                <a:spcPts val="0"/>
              </a:spcAft>
              <a:buSzPts val="1800"/>
              <a:buChar char="●"/>
            </a:pPr>
            <a:r>
              <a:rPr lang="de-CH"/>
              <a:t>Its size its complexity everything matters</a:t>
            </a:r>
            <a:endParaRPr/>
          </a:p>
          <a:p>
            <a:pPr marL="457200" lvl="0" indent="-342900" algn="l" rtl="0">
              <a:spcBef>
                <a:spcPts val="0"/>
              </a:spcBef>
              <a:spcAft>
                <a:spcPts val="0"/>
              </a:spcAft>
              <a:buSzPts val="1800"/>
              <a:buChar char="●"/>
            </a:pPr>
            <a:r>
              <a:rPr lang="de-CH"/>
              <a:t>Now data comes in pb’s and eb’s</a:t>
            </a:r>
            <a:endParaRPr/>
          </a:p>
          <a:p>
            <a:pPr marL="457200" lvl="0" indent="-342900" algn="l" rtl="0">
              <a:spcBef>
                <a:spcPts val="0"/>
              </a:spcBef>
              <a:spcAft>
                <a:spcPts val="0"/>
              </a:spcAft>
              <a:buSzPts val="1800"/>
              <a:buChar char="●"/>
            </a:pPr>
            <a:r>
              <a:rPr lang="de-CH"/>
              <a:t>And its type is not structured thats called unstructured data</a:t>
            </a:r>
            <a:endParaRPr/>
          </a:p>
          <a:p>
            <a:pPr marL="457200" lvl="0" indent="-342900" algn="l" rtl="0">
              <a:spcBef>
                <a:spcPts val="0"/>
              </a:spcBef>
              <a:spcAft>
                <a:spcPts val="0"/>
              </a:spcAft>
              <a:buSzPts val="1800"/>
              <a:buChar char="●"/>
            </a:pPr>
            <a:r>
              <a:rPr lang="de-CH"/>
              <a:t>So Data processing is not so simple by our traditional processing system..</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DATA.. DATA.. DATA...</a:t>
            </a:r>
            <a:endParaRPr/>
          </a:p>
        </p:txBody>
      </p:sp>
      <p:sp>
        <p:nvSpPr>
          <p:cNvPr id="90" name="Google Shape;90;p17"/>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t>DATA IS NOW EVERYWHERE..</a:t>
            </a:r>
            <a:endParaRPr/>
          </a:p>
          <a:p>
            <a:pPr marL="457200" lvl="0" indent="-342900" algn="l" rtl="0">
              <a:spcBef>
                <a:spcPts val="1600"/>
              </a:spcBef>
              <a:spcAft>
                <a:spcPts val="0"/>
              </a:spcAft>
              <a:buSzPts val="1800"/>
              <a:buChar char="●"/>
            </a:pPr>
            <a:r>
              <a:rPr lang="de-CH"/>
              <a:t>SOCIAL MEDIA APPLICATIONS</a:t>
            </a:r>
            <a:endParaRPr/>
          </a:p>
          <a:p>
            <a:pPr marL="457200" lvl="0" indent="-342900" algn="l" rtl="0">
              <a:spcBef>
                <a:spcPts val="0"/>
              </a:spcBef>
              <a:spcAft>
                <a:spcPts val="0"/>
              </a:spcAft>
              <a:buSzPts val="1800"/>
              <a:buChar char="●"/>
            </a:pPr>
            <a:r>
              <a:rPr lang="de-CH"/>
              <a:t>GOVERNMENT</a:t>
            </a:r>
            <a:endParaRPr/>
          </a:p>
          <a:p>
            <a:pPr marL="457200" lvl="0" indent="-342900" algn="l" rtl="0">
              <a:spcBef>
                <a:spcPts val="0"/>
              </a:spcBef>
              <a:spcAft>
                <a:spcPts val="0"/>
              </a:spcAft>
              <a:buSzPts val="1800"/>
              <a:buChar char="●"/>
            </a:pPr>
            <a:r>
              <a:rPr lang="de-CH"/>
              <a:t>SMART CAR AND OTHER SMART DEVICES</a:t>
            </a:r>
            <a:endParaRPr/>
          </a:p>
          <a:p>
            <a:pPr marL="457200" lvl="0" indent="-342900" algn="l" rtl="0">
              <a:spcBef>
                <a:spcPts val="0"/>
              </a:spcBef>
              <a:spcAft>
                <a:spcPts val="0"/>
              </a:spcAft>
              <a:buSzPts val="1800"/>
              <a:buChar char="●"/>
            </a:pPr>
            <a:r>
              <a:rPr lang="de-CH"/>
              <a:t>IOT DEVICES</a:t>
            </a:r>
            <a:endParaRPr/>
          </a:p>
          <a:p>
            <a:pPr marL="457200" lvl="0" indent="-342900" algn="l" rtl="0">
              <a:spcBef>
                <a:spcPts val="0"/>
              </a:spcBef>
              <a:spcAft>
                <a:spcPts val="0"/>
              </a:spcAft>
              <a:buSzPts val="1800"/>
              <a:buChar char="●"/>
            </a:pPr>
            <a:r>
              <a:rPr lang="de-CH"/>
              <a:t>HOSPITAL AND HEALTH CARE..</a:t>
            </a:r>
            <a:endParaRPr/>
          </a:p>
          <a:p>
            <a:pPr marL="457200" lvl="0" indent="-342900" algn="l" rtl="0">
              <a:spcBef>
                <a:spcPts val="0"/>
              </a:spcBef>
              <a:spcAft>
                <a:spcPts val="0"/>
              </a:spcAft>
              <a:buSzPts val="1800"/>
              <a:buChar char="●"/>
            </a:pPr>
            <a:r>
              <a:rPr lang="de-CH"/>
              <a:t>FINANCE SECTORS</a:t>
            </a:r>
            <a:endParaRPr/>
          </a:p>
          <a:p>
            <a:pPr marL="457200" lvl="0" indent="-342900" algn="l" rtl="0">
              <a:spcBef>
                <a:spcPts val="0"/>
              </a:spcBef>
              <a:spcAft>
                <a:spcPts val="0"/>
              </a:spcAft>
              <a:buSzPts val="1800"/>
              <a:buChar char="●"/>
            </a:pPr>
            <a:r>
              <a:rPr lang="de-CH"/>
              <a:t>MANUFACTURING SECTORS</a:t>
            </a:r>
            <a:endParaRPr/>
          </a:p>
          <a:p>
            <a:pPr marL="457200" lvl="0" indent="-342900" algn="l" rtl="0">
              <a:spcBef>
                <a:spcPts val="0"/>
              </a:spcBef>
              <a:spcAft>
                <a:spcPts val="0"/>
              </a:spcAft>
              <a:buSzPts val="1800"/>
              <a:buChar char="●"/>
            </a:pPr>
            <a:r>
              <a:rPr lang="de-CH"/>
              <a:t>….</a:t>
            </a:r>
            <a:endParaRPr/>
          </a:p>
          <a:p>
            <a:pPr marL="0" lvl="0" indent="0" algn="l" rtl="0">
              <a:spcBef>
                <a:spcPts val="1600"/>
              </a:spcBef>
              <a:spcAft>
                <a:spcPts val="1600"/>
              </a:spcAft>
              <a:buNone/>
            </a:pP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4"/>
        <p:cNvGrpSpPr/>
        <p:nvPr/>
      </p:nvGrpSpPr>
      <p:grpSpPr>
        <a:xfrm>
          <a:off x="0" y="0"/>
          <a:ext cx="0" cy="0"/>
          <a:chOff x="0" y="0"/>
          <a:chExt cx="0" cy="0"/>
        </a:xfrm>
      </p:grpSpPr>
      <p:sp>
        <p:nvSpPr>
          <p:cNvPr id="95" name="Google Shape;95;p18"/>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NEED OF DATA SCIENCE??</a:t>
            </a:r>
            <a:endParaRPr/>
          </a:p>
        </p:txBody>
      </p:sp>
      <p:sp>
        <p:nvSpPr>
          <p:cNvPr id="96" name="Google Shape;96;p18"/>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We are getting huge amount of data from everywhere</a:t>
            </a:r>
            <a:endParaRPr/>
          </a:p>
          <a:p>
            <a:pPr marL="457200" lvl="0" indent="-342900" algn="l" rtl="0">
              <a:spcBef>
                <a:spcPts val="0"/>
              </a:spcBef>
              <a:spcAft>
                <a:spcPts val="0"/>
              </a:spcAft>
              <a:buSzPts val="1800"/>
              <a:buChar char="●"/>
            </a:pPr>
            <a:r>
              <a:rPr lang="de-CH"/>
              <a:t>What to do with this data??</a:t>
            </a:r>
            <a:endParaRPr/>
          </a:p>
          <a:p>
            <a:pPr marL="457200" lvl="0" indent="-342900" algn="l" rtl="0">
              <a:spcBef>
                <a:spcPts val="0"/>
              </a:spcBef>
              <a:spcAft>
                <a:spcPts val="0"/>
              </a:spcAft>
              <a:buSzPts val="1800"/>
              <a:buChar char="●"/>
            </a:pPr>
            <a:r>
              <a:rPr lang="de-CH"/>
              <a:t>Before that what is data science??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19"/>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WHAT IS DATA SCIENCE??</a:t>
            </a:r>
            <a:endParaRPr/>
          </a:p>
        </p:txBody>
      </p:sp>
      <p:sp>
        <p:nvSpPr>
          <p:cNvPr id="102" name="Google Shape;102;p19"/>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Its an act of Apply some science (or skills ) on Data to make data talk to us.</a:t>
            </a:r>
            <a:endParaRPr/>
          </a:p>
        </p:txBody>
      </p:sp>
      <p:pic>
        <p:nvPicPr>
          <p:cNvPr id="103" name="Google Shape;103;p19"/>
          <p:cNvPicPr preferRelativeResize="0"/>
          <p:nvPr/>
        </p:nvPicPr>
        <p:blipFill>
          <a:blip r:embed="rId3">
            <a:alphaModFix/>
          </a:blip>
          <a:stretch>
            <a:fillRect/>
          </a:stretch>
        </p:blipFill>
        <p:spPr>
          <a:xfrm>
            <a:off x="565050" y="2199475"/>
            <a:ext cx="7271500" cy="2561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20"/>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What are those skills??</a:t>
            </a:r>
            <a:endParaRPr/>
          </a:p>
        </p:txBody>
      </p:sp>
      <p:sp>
        <p:nvSpPr>
          <p:cNvPr id="109" name="Google Shape;109;p20"/>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10" name="Google Shape;110;p20"/>
          <p:cNvPicPr preferRelativeResize="0"/>
          <p:nvPr/>
        </p:nvPicPr>
        <p:blipFill>
          <a:blip r:embed="rId3">
            <a:alphaModFix/>
          </a:blip>
          <a:stretch>
            <a:fillRect/>
          </a:stretch>
        </p:blipFill>
        <p:spPr>
          <a:xfrm>
            <a:off x="311700" y="1210825"/>
            <a:ext cx="8371975" cy="27218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4"/>
        <p:cNvGrpSpPr/>
        <p:nvPr/>
      </p:nvGrpSpPr>
      <p:grpSpPr>
        <a:xfrm>
          <a:off x="0" y="0"/>
          <a:ext cx="0" cy="0"/>
          <a:chOff x="0" y="0"/>
          <a:chExt cx="0" cy="0"/>
        </a:xfrm>
      </p:grpSpPr>
      <p:sp>
        <p:nvSpPr>
          <p:cNvPr id="115" name="Google Shape;115;p21"/>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 So ...Where  Data Science ... ??</a:t>
            </a:r>
            <a:endParaRPr/>
          </a:p>
        </p:txBody>
      </p:sp>
      <p:sp>
        <p:nvSpPr>
          <p:cNvPr id="116" name="Google Shape;116;p21"/>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t>Consider An Example..</a:t>
            </a:r>
            <a:endParaRPr/>
          </a:p>
          <a:p>
            <a:pPr marL="457200" lvl="0" indent="-342900" algn="l" rtl="0">
              <a:spcBef>
                <a:spcPts val="1600"/>
              </a:spcBef>
              <a:spcAft>
                <a:spcPts val="0"/>
              </a:spcAft>
              <a:buSzPts val="1800"/>
              <a:buChar char="●"/>
            </a:pPr>
            <a:r>
              <a:rPr lang="de-CH"/>
              <a:t>John is MD of a Holiday hotel.. And he is not getting customers even he is losing customers</a:t>
            </a:r>
            <a:endParaRPr/>
          </a:p>
          <a:p>
            <a:pPr marL="457200" lvl="0" indent="-342900" algn="l" rtl="0">
              <a:spcBef>
                <a:spcPts val="0"/>
              </a:spcBef>
              <a:spcAft>
                <a:spcPts val="0"/>
              </a:spcAft>
              <a:buSzPts val="1800"/>
              <a:buChar char="●"/>
            </a:pPr>
            <a:r>
              <a:rPr lang="de-CH"/>
              <a:t>Then he contact his friend Thejas, a Data Scientist</a:t>
            </a:r>
            <a:endParaRPr/>
          </a:p>
          <a:p>
            <a:pPr marL="457200" lvl="0" indent="-342900" algn="l" rtl="0">
              <a:spcBef>
                <a:spcPts val="0"/>
              </a:spcBef>
              <a:spcAft>
                <a:spcPts val="0"/>
              </a:spcAft>
              <a:buSzPts val="1800"/>
              <a:buChar char="●"/>
            </a:pPr>
            <a:r>
              <a:rPr lang="de-CH"/>
              <a:t>He first collects data ,mine the data </a:t>
            </a:r>
            <a:endParaRPr/>
          </a:p>
          <a:p>
            <a:pPr marL="457200" lvl="0" indent="-342900" algn="l" rtl="0">
              <a:spcBef>
                <a:spcPts val="0"/>
              </a:spcBef>
              <a:spcAft>
                <a:spcPts val="0"/>
              </a:spcAft>
              <a:buSzPts val="1800"/>
              <a:buChar char="●"/>
            </a:pPr>
            <a:r>
              <a:rPr lang="de-CH"/>
              <a:t>Creates some algorithms to analyse the data</a:t>
            </a:r>
            <a:endParaRPr/>
          </a:p>
          <a:p>
            <a:pPr marL="457200" lvl="0" indent="-342900" algn="l" rtl="0">
              <a:spcBef>
                <a:spcPts val="0"/>
              </a:spcBef>
              <a:spcAft>
                <a:spcPts val="0"/>
              </a:spcAft>
              <a:buSzPts val="1800"/>
              <a:buChar char="●"/>
            </a:pPr>
            <a:r>
              <a:rPr lang="de-CH"/>
              <a:t>He reached some  reasons and solutions  from that</a:t>
            </a:r>
            <a:endParaRPr/>
          </a:p>
          <a:p>
            <a:pPr marL="457200" lvl="0" indent="-342900" algn="l" rtl="0">
              <a:spcBef>
                <a:spcPts val="0"/>
              </a:spcBef>
              <a:spcAft>
                <a:spcPts val="0"/>
              </a:spcAft>
              <a:buSzPts val="1800"/>
              <a:buChar char="●"/>
            </a:pPr>
            <a:r>
              <a:rPr lang="de-CH"/>
              <a:t>He visualizes that and shown to John</a:t>
            </a:r>
            <a:endParaRPr/>
          </a:p>
          <a:p>
            <a:pPr marL="457200" lvl="0" indent="-342900" algn="l" rtl="0">
              <a:spcBef>
                <a:spcPts val="0"/>
              </a:spcBef>
              <a:spcAft>
                <a:spcPts val="0"/>
              </a:spcAft>
              <a:buSzPts val="1800"/>
              <a:buChar char="●"/>
            </a:pPr>
            <a:r>
              <a:rPr lang="de-CH"/>
              <a:t>John does the remedies and he got his customers back</a:t>
            </a:r>
            <a:endParaRPr/>
          </a:p>
          <a:p>
            <a:pPr marL="457200" lvl="0" indent="0" algn="l" rtl="0">
              <a:spcBef>
                <a:spcPts val="1600"/>
              </a:spcBef>
              <a:spcAft>
                <a:spcPts val="0"/>
              </a:spcAft>
              <a:buNone/>
            </a:pPr>
            <a:endParaRPr/>
          </a:p>
          <a:p>
            <a:pPr marL="0" lvl="0" indent="0" algn="l" rtl="0">
              <a:spcBef>
                <a:spcPts val="1600"/>
              </a:spcBef>
              <a:spcAft>
                <a:spcPts val="1600"/>
              </a:spcAft>
              <a:buNone/>
            </a:pP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p22"/>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Life Cycle Of Data Science..</a:t>
            </a:r>
            <a:endParaRPr/>
          </a:p>
        </p:txBody>
      </p:sp>
      <p:sp>
        <p:nvSpPr>
          <p:cNvPr id="122" name="Google Shape;122;p22"/>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23" name="Google Shape;123;p22"/>
          <p:cNvPicPr preferRelativeResize="0"/>
          <p:nvPr/>
        </p:nvPicPr>
        <p:blipFill>
          <a:blip r:embed="rId3">
            <a:alphaModFix/>
          </a:blip>
          <a:stretch>
            <a:fillRect/>
          </a:stretch>
        </p:blipFill>
        <p:spPr>
          <a:xfrm>
            <a:off x="311700" y="1276000"/>
            <a:ext cx="8371975" cy="33540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27"/>
        <p:cNvGrpSpPr/>
        <p:nvPr/>
      </p:nvGrpSpPr>
      <p:grpSpPr>
        <a:xfrm>
          <a:off x="0" y="0"/>
          <a:ext cx="0" cy="0"/>
          <a:chOff x="0" y="0"/>
          <a:chExt cx="0" cy="0"/>
        </a:xfrm>
      </p:grpSpPr>
      <p:sp>
        <p:nvSpPr>
          <p:cNvPr id="128" name="Google Shape;128;p23"/>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DATA ACQUISITION..</a:t>
            </a:r>
            <a:endParaRPr/>
          </a:p>
        </p:txBody>
      </p:sp>
      <p:sp>
        <p:nvSpPr>
          <p:cNvPr id="129" name="Google Shape;129;p23"/>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As you know data comes from multiple sources ..with multiple formats </a:t>
            </a:r>
            <a:endParaRPr/>
          </a:p>
          <a:p>
            <a:pPr marL="457200" lvl="0" indent="-342900" algn="l" rtl="0">
              <a:spcBef>
                <a:spcPts val="0"/>
              </a:spcBef>
              <a:spcAft>
                <a:spcPts val="0"/>
              </a:spcAft>
              <a:buSzPts val="1800"/>
              <a:buChar char="●"/>
            </a:pPr>
            <a:r>
              <a:rPr lang="de-CH"/>
              <a:t>We integrate all this data and store in one place that is called Data warehouse </a:t>
            </a:r>
            <a:endParaRPr/>
          </a:p>
          <a:p>
            <a:pPr marL="457200" lvl="0" indent="-342900" algn="l" rtl="0">
              <a:spcBef>
                <a:spcPts val="0"/>
              </a:spcBef>
              <a:spcAft>
                <a:spcPts val="0"/>
              </a:spcAft>
              <a:buSzPts val="1800"/>
              <a:buChar char="●"/>
            </a:pPr>
            <a:r>
              <a:rPr lang="de-CH"/>
              <a:t>And from this integrated data we will select particular section to start Data Science That is called TARGET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24"/>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Data Pre Processing.. </a:t>
            </a:r>
            <a:endParaRPr/>
          </a:p>
        </p:txBody>
      </p:sp>
      <p:sp>
        <p:nvSpPr>
          <p:cNvPr id="135" name="Google Shape;135;p24"/>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The Target Data cannot be used for data science</a:t>
            </a:r>
            <a:endParaRPr/>
          </a:p>
          <a:p>
            <a:pPr marL="457200" lvl="0" indent="-342900" algn="l" rtl="0">
              <a:spcBef>
                <a:spcPts val="0"/>
              </a:spcBef>
              <a:spcAft>
                <a:spcPts val="0"/>
              </a:spcAft>
              <a:buSzPts val="1800"/>
              <a:buChar char="❖"/>
            </a:pPr>
            <a:r>
              <a:rPr lang="de-CH"/>
              <a:t>It's time to apply data pre processing..</a:t>
            </a:r>
            <a:endParaRPr/>
          </a:p>
          <a:p>
            <a:pPr marL="457200" lvl="0" indent="-342900" algn="l" rtl="0">
              <a:spcBef>
                <a:spcPts val="0"/>
              </a:spcBef>
              <a:spcAft>
                <a:spcPts val="0"/>
              </a:spcAft>
              <a:buSzPts val="1800"/>
              <a:buChar char="❖"/>
            </a:pPr>
            <a:r>
              <a:rPr lang="de-CH"/>
              <a:t>The row data will be transformed to different forms by using techniques like </a:t>
            </a:r>
            <a:endParaRPr/>
          </a:p>
          <a:p>
            <a:pPr marL="914400" lvl="1" indent="-317500" algn="l" rtl="0">
              <a:spcBef>
                <a:spcPts val="0"/>
              </a:spcBef>
              <a:spcAft>
                <a:spcPts val="0"/>
              </a:spcAft>
              <a:buSzPts val="1400"/>
              <a:buChar char="➢"/>
            </a:pPr>
            <a:r>
              <a:rPr lang="de-CH"/>
              <a:t>          NORMALIZATION</a:t>
            </a:r>
            <a:endParaRPr/>
          </a:p>
          <a:p>
            <a:pPr marL="914400" lvl="1" indent="-317500" algn="l" rtl="0">
              <a:spcBef>
                <a:spcPts val="0"/>
              </a:spcBef>
              <a:spcAft>
                <a:spcPts val="0"/>
              </a:spcAft>
              <a:buSzPts val="1400"/>
              <a:buChar char="➢"/>
            </a:pPr>
            <a:r>
              <a:rPr lang="de-CH"/>
              <a:t>          SUMMARIZATION</a:t>
            </a:r>
            <a:endParaRPr/>
          </a:p>
          <a:p>
            <a:pPr marL="914400" lvl="1" indent="-317500" algn="l" rtl="0">
              <a:spcBef>
                <a:spcPts val="0"/>
              </a:spcBef>
              <a:spcAft>
                <a:spcPts val="0"/>
              </a:spcAft>
              <a:buSzPts val="1400"/>
              <a:buChar char="➢"/>
            </a:pPr>
            <a:r>
              <a:rPr lang="de-CH"/>
              <a:t>          AGGREGATION</a:t>
            </a:r>
            <a:endParaRPr/>
          </a:p>
          <a:p>
            <a:pPr marL="914400" lvl="1" indent="-317500" algn="l" rtl="0">
              <a:spcBef>
                <a:spcPts val="0"/>
              </a:spcBef>
              <a:spcAft>
                <a:spcPts val="0"/>
              </a:spcAft>
              <a:buSzPts val="1400"/>
              <a:buChar char="➢"/>
            </a:pPr>
            <a:r>
              <a:rPr lang="de-CH"/>
              <a:t>          TRANSFORMATION</a:t>
            </a:r>
            <a:endParaRPr/>
          </a:p>
          <a:p>
            <a:pPr marL="457200" lvl="0" indent="0" algn="l" rtl="0">
              <a:spcBef>
                <a:spcPts val="1600"/>
              </a:spcBef>
              <a:spcAft>
                <a:spcPts val="0"/>
              </a:spcAft>
              <a:buNone/>
            </a:pPr>
            <a:endParaRPr/>
          </a:p>
          <a:p>
            <a:pPr marL="0" lvl="0" indent="0" algn="l" rtl="0">
              <a:spcBef>
                <a:spcPts val="1600"/>
              </a:spcBef>
              <a:spcAft>
                <a:spcPts val="160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25"/>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DATA MODELLING..</a:t>
            </a:r>
            <a:endParaRPr/>
          </a:p>
        </p:txBody>
      </p:sp>
      <p:sp>
        <p:nvSpPr>
          <p:cNvPr id="141" name="Google Shape;141;p25"/>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Then we will apply some scientific algorithms to create the data models or find the interesting insights in the data</a:t>
            </a:r>
            <a:endParaRPr/>
          </a:p>
          <a:p>
            <a:pPr marL="457200" lvl="0" indent="-342900" algn="l" rtl="0">
              <a:spcBef>
                <a:spcPts val="0"/>
              </a:spcBef>
              <a:spcAft>
                <a:spcPts val="0"/>
              </a:spcAft>
              <a:buSzPts val="1800"/>
              <a:buChar char="❖"/>
            </a:pPr>
            <a:r>
              <a:rPr lang="de-CH"/>
              <a:t>The algorithms are like</a:t>
            </a:r>
            <a:endParaRPr/>
          </a:p>
          <a:p>
            <a:pPr marL="914400" lvl="1" indent="-317500" algn="l" rtl="0">
              <a:spcBef>
                <a:spcPts val="0"/>
              </a:spcBef>
              <a:spcAft>
                <a:spcPts val="0"/>
              </a:spcAft>
              <a:buSzPts val="1400"/>
              <a:buChar char="➢"/>
            </a:pPr>
            <a:r>
              <a:rPr lang="de-CH"/>
              <a:t>LINEAR REGRESSION</a:t>
            </a:r>
            <a:endParaRPr/>
          </a:p>
          <a:p>
            <a:pPr marL="914400" lvl="1" indent="-317500" algn="l" rtl="0">
              <a:spcBef>
                <a:spcPts val="0"/>
              </a:spcBef>
              <a:spcAft>
                <a:spcPts val="0"/>
              </a:spcAft>
              <a:buSzPts val="1400"/>
              <a:buChar char="➢"/>
            </a:pPr>
            <a:r>
              <a:rPr lang="de-CH"/>
              <a:t>K-MEANS</a:t>
            </a:r>
            <a:endParaRPr/>
          </a:p>
          <a:p>
            <a:pPr marL="914400" lvl="1" indent="-317500" algn="l" rtl="0">
              <a:spcBef>
                <a:spcPts val="0"/>
              </a:spcBef>
              <a:spcAft>
                <a:spcPts val="0"/>
              </a:spcAft>
              <a:buSzPts val="1400"/>
              <a:buChar char="➢"/>
            </a:pPr>
            <a:r>
              <a:rPr lang="de-CH"/>
              <a:t>RANDOM FOREST</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6"/>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Data Validation..</a:t>
            </a:r>
            <a:endParaRPr/>
          </a:p>
        </p:txBody>
      </p:sp>
      <p:sp>
        <p:nvSpPr>
          <p:cNvPr id="147" name="Google Shape;147;p26"/>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In this step we are checking the created model or pattern is correct or not</a:t>
            </a:r>
            <a:endParaRPr/>
          </a:p>
          <a:p>
            <a:pPr marL="457200" lvl="0" indent="-342900" algn="l" rtl="0">
              <a:spcBef>
                <a:spcPts val="0"/>
              </a:spcBef>
              <a:spcAft>
                <a:spcPts val="0"/>
              </a:spcAft>
              <a:buSzPts val="1800"/>
              <a:buChar char="●"/>
            </a:pPr>
            <a:r>
              <a:rPr lang="de-CH"/>
              <a:t>For checking these things different validation techniques are available</a:t>
            </a:r>
            <a:endParaRPr/>
          </a:p>
          <a:p>
            <a:pPr marL="457200" lvl="0" indent="-342900" algn="l" rtl="0">
              <a:spcBef>
                <a:spcPts val="0"/>
              </a:spcBef>
              <a:spcAft>
                <a:spcPts val="0"/>
              </a:spcAft>
              <a:buSzPts val="1800"/>
              <a:buChar char="●"/>
            </a:pPr>
            <a:r>
              <a:rPr lang="de-CH"/>
              <a:t>By checking these patterns if its not validated the pattern or model will be discarded</a:t>
            </a:r>
            <a:endParaRPr/>
          </a:p>
          <a:p>
            <a:pPr marL="457200" lvl="0" indent="0" algn="l" rtl="0">
              <a:spcBef>
                <a:spcPts val="1600"/>
              </a:spcBef>
              <a:spcAft>
                <a:spcPts val="1600"/>
              </a:spcAft>
              <a:buNone/>
            </a:pP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7"/>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Knowledge Representation </a:t>
            </a:r>
            <a:endParaRPr/>
          </a:p>
        </p:txBody>
      </p:sp>
      <p:sp>
        <p:nvSpPr>
          <p:cNvPr id="153" name="Google Shape;153;p27"/>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If the data Model is validated then it's time to represent the knowledge by using graphs or diagrams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8"/>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Application of Data Science..</a:t>
            </a:r>
            <a:endParaRPr/>
          </a:p>
        </p:txBody>
      </p:sp>
      <p:sp>
        <p:nvSpPr>
          <p:cNvPr id="159" name="Google Shape;159;p28"/>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de-CH"/>
              <a:t>CHAT BOTS</a:t>
            </a:r>
            <a:br>
              <a:rPr lang="de-CH"/>
            </a:br>
            <a:r>
              <a:rPr lang="de-CH"/>
              <a:t>siri,cortana</a:t>
            </a:r>
            <a:endParaRPr/>
          </a:p>
          <a:p>
            <a:pPr marL="457200" lvl="0" indent="-342900" algn="l" rtl="0">
              <a:spcBef>
                <a:spcPts val="0"/>
              </a:spcBef>
              <a:spcAft>
                <a:spcPts val="0"/>
              </a:spcAft>
              <a:buSzPts val="1800"/>
              <a:buAutoNum type="arabicPeriod"/>
            </a:pPr>
            <a:r>
              <a:rPr lang="de-CH"/>
              <a:t>SELF DRIVING CARS</a:t>
            </a:r>
            <a:endParaRPr/>
          </a:p>
          <a:p>
            <a:pPr marL="457200" lvl="0" indent="-342900" algn="l" rtl="0">
              <a:spcBef>
                <a:spcPts val="0"/>
              </a:spcBef>
              <a:spcAft>
                <a:spcPts val="0"/>
              </a:spcAft>
              <a:buSzPts val="1800"/>
              <a:buAutoNum type="arabicPeriod"/>
            </a:pPr>
            <a:r>
              <a:rPr lang="de-CH"/>
              <a:t>SENTIMENT ANALYSIS </a:t>
            </a:r>
            <a:br>
              <a:rPr lang="de-CH"/>
            </a:br>
            <a:r>
              <a:rPr lang="de-CH"/>
              <a:t>Pre Election result predicting</a:t>
            </a:r>
            <a:endParaRPr/>
          </a:p>
          <a:p>
            <a:pPr marL="457200" lvl="0" indent="-342900" algn="l" rtl="0">
              <a:spcBef>
                <a:spcPts val="0"/>
              </a:spcBef>
              <a:spcAft>
                <a:spcPts val="0"/>
              </a:spcAft>
              <a:buSzPts val="1800"/>
              <a:buAutoNum type="arabicPeriod"/>
            </a:pPr>
            <a:r>
              <a:rPr lang="de-CH"/>
              <a:t>FACE DETECTION</a:t>
            </a:r>
            <a:br>
              <a:rPr lang="de-CH"/>
            </a:br>
            <a:r>
              <a:rPr lang="de-CH"/>
              <a:t>Image tagging in facebook</a:t>
            </a:r>
            <a:endParaRPr/>
          </a:p>
          <a:p>
            <a:pPr marL="0" lvl="0" indent="0" algn="l" rtl="0">
              <a:spcBef>
                <a:spcPts val="1600"/>
              </a:spcBef>
              <a:spcAft>
                <a:spcPts val="1600"/>
              </a:spcAft>
              <a:buNone/>
            </a:pPr>
            <a:r>
              <a:rPr lang="de-CH"/>
              <a:t>5...</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9"/>
          <p:cNvSpPr txBox="1">
            <a:spLocks noGrp="1"/>
          </p:cNvSpPr>
          <p:nvPr>
            <p:ph type="ctr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   NUMPY...</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30"/>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Installation..</a:t>
            </a:r>
            <a:endParaRPr/>
          </a:p>
        </p:txBody>
      </p:sp>
      <p:sp>
        <p:nvSpPr>
          <p:cNvPr id="170" name="Google Shape;170;p30"/>
          <p:cNvSpPr txBox="1">
            <a:spLocks noGrp="1"/>
          </p:cNvSpPr>
          <p:nvPr>
            <p:ph type="body" idx="1"/>
          </p:nvPr>
        </p:nvSpPr>
        <p:spPr>
          <a:xfrm>
            <a:off x="311700" y="1225225"/>
            <a:ext cx="8520600" cy="37065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a:t>We are using jupyter notebook to code numpy</a:t>
            </a:r>
            <a:endParaRPr b="1"/>
          </a:p>
          <a:p>
            <a:pPr marL="0" lvl="0" indent="0" algn="l" rtl="0">
              <a:spcBef>
                <a:spcPts val="1600"/>
              </a:spcBef>
              <a:spcAft>
                <a:spcPts val="0"/>
              </a:spcAft>
              <a:buNone/>
            </a:pPr>
            <a:r>
              <a:rPr lang="de-CH" b="1"/>
              <a:t>Installing Jupyter Notebook</a:t>
            </a:r>
            <a:endParaRPr b="1"/>
          </a:p>
          <a:p>
            <a:pPr marL="457200" lvl="0" indent="-342900" algn="l" rtl="0">
              <a:spcBef>
                <a:spcPts val="1600"/>
              </a:spcBef>
              <a:spcAft>
                <a:spcPts val="0"/>
              </a:spcAft>
              <a:buSzPts val="1800"/>
              <a:buAutoNum type="arabicPeriod"/>
            </a:pPr>
            <a:r>
              <a:rPr lang="de-CH" b="1"/>
              <a:t>Installing using PIP</a:t>
            </a:r>
            <a:br>
              <a:rPr lang="de-CH" b="1"/>
            </a:br>
            <a:r>
              <a:rPr lang="de-CH" b="1"/>
              <a:t>pip3 install jupyter</a:t>
            </a:r>
            <a:br>
              <a:rPr lang="de-CH" b="1"/>
            </a:br>
            <a:r>
              <a:rPr lang="de-CH" b="1"/>
              <a:t>pip3 install numpy</a:t>
            </a:r>
            <a:endParaRPr b="1"/>
          </a:p>
          <a:p>
            <a:pPr marL="457200" lvl="0" indent="-342900" algn="l" rtl="0">
              <a:lnSpc>
                <a:spcPct val="100000"/>
              </a:lnSpc>
              <a:spcBef>
                <a:spcPts val="0"/>
              </a:spcBef>
              <a:spcAft>
                <a:spcPts val="0"/>
              </a:spcAft>
              <a:buSzPts val="1800"/>
              <a:buAutoNum type="arabicPeriod"/>
            </a:pPr>
            <a:r>
              <a:rPr lang="de-CH" b="1"/>
              <a:t>Installing through anaconda</a:t>
            </a:r>
            <a:endParaRPr b="1"/>
          </a:p>
          <a:p>
            <a:pPr marL="457200" lvl="0" indent="0" algn="l" rtl="0">
              <a:lnSpc>
                <a:spcPct val="100000"/>
              </a:lnSpc>
              <a:spcBef>
                <a:spcPts val="1600"/>
              </a:spcBef>
              <a:spcAft>
                <a:spcPts val="0"/>
              </a:spcAft>
              <a:buNone/>
            </a:pPr>
            <a:r>
              <a:rPr lang="de-CH" sz="1200">
                <a:solidFill>
                  <a:srgbClr val="222222"/>
                </a:solidFill>
                <a:highlight>
                  <a:srgbClr val="FFFFFF"/>
                </a:highlight>
                <a:latin typeface="Arial"/>
                <a:ea typeface="Arial"/>
                <a:cs typeface="Arial"/>
                <a:sym typeface="Arial"/>
              </a:rPr>
              <a:t>For new users, we </a:t>
            </a:r>
            <a:r>
              <a:rPr lang="de-CH" sz="1200" b="1">
                <a:solidFill>
                  <a:srgbClr val="222222"/>
                </a:solidFill>
                <a:highlight>
                  <a:srgbClr val="FFFFFF"/>
                </a:highlight>
                <a:latin typeface="Arial"/>
                <a:ea typeface="Arial"/>
                <a:cs typeface="Arial"/>
                <a:sym typeface="Arial"/>
              </a:rPr>
              <a:t>highly recommend</a:t>
            </a:r>
            <a:r>
              <a:rPr lang="de-CH" sz="1200">
                <a:solidFill>
                  <a:srgbClr val="222222"/>
                </a:solidFill>
                <a:highlight>
                  <a:srgbClr val="FFFFFF"/>
                </a:highlight>
                <a:latin typeface="Arial"/>
                <a:ea typeface="Arial"/>
                <a:cs typeface="Arial"/>
                <a:sym typeface="Arial"/>
              </a:rPr>
              <a:t> </a:t>
            </a:r>
            <a:r>
              <a:rPr lang="de-CH" sz="1200">
                <a:solidFill>
                  <a:srgbClr val="434343"/>
                </a:solidFill>
                <a:highlight>
                  <a:srgbClr val="FFFFFF"/>
                </a:highlight>
                <a:uFill>
                  <a:noFill/>
                </a:uFill>
                <a:latin typeface="Arial"/>
                <a:ea typeface="Arial"/>
                <a:cs typeface="Arial"/>
                <a:sym typeface="Arial"/>
                <a:hlinkClick r:id="rId3">
                  <a:extLst>
                    <a:ext uri="{A12FA001-AC4F-418D-AE19-62706E023703}">
                      <ahyp:hlinkClr xmlns:ahyp="http://schemas.microsoft.com/office/drawing/2018/hyperlinkcolor" val="tx"/>
                    </a:ext>
                  </a:extLst>
                </a:hlinkClick>
              </a:rPr>
              <a:t>installing Anaconda</a:t>
            </a:r>
            <a:r>
              <a:rPr lang="de-CH" sz="1200">
                <a:solidFill>
                  <a:srgbClr val="222222"/>
                </a:solidFill>
                <a:highlight>
                  <a:srgbClr val="FFFFFF"/>
                </a:highlight>
                <a:latin typeface="Arial"/>
                <a:ea typeface="Arial"/>
                <a:cs typeface="Arial"/>
                <a:sym typeface="Arial"/>
              </a:rPr>
              <a:t>. Anaconda conveniently installs Python, the Jupyter Notebook, and other commonly used packages for scientific computing and data science.</a:t>
            </a:r>
            <a:endParaRPr sz="1200">
              <a:solidFill>
                <a:srgbClr val="222222"/>
              </a:solidFill>
              <a:highlight>
                <a:srgbClr val="FFFFFF"/>
              </a:highlight>
              <a:latin typeface="Arial"/>
              <a:ea typeface="Arial"/>
              <a:cs typeface="Arial"/>
              <a:sym typeface="Arial"/>
            </a:endParaRPr>
          </a:p>
          <a:p>
            <a:pPr marL="457200" lvl="0" indent="0" algn="l" rtl="0">
              <a:lnSpc>
                <a:spcPct val="100000"/>
              </a:lnSpc>
              <a:spcBef>
                <a:spcPts val="1600"/>
              </a:spcBef>
              <a:spcAft>
                <a:spcPts val="0"/>
              </a:spcAft>
              <a:buNone/>
            </a:pPr>
            <a:r>
              <a:rPr lang="de-CH" sz="1200">
                <a:solidFill>
                  <a:srgbClr val="222222"/>
                </a:solidFill>
                <a:highlight>
                  <a:srgbClr val="FFFFFF"/>
                </a:highlight>
                <a:latin typeface="Arial"/>
                <a:ea typeface="Arial"/>
                <a:cs typeface="Arial"/>
                <a:sym typeface="Arial"/>
              </a:rPr>
              <a:t>Download Anaconda </a:t>
            </a:r>
            <a:r>
              <a:rPr lang="de-CH" sz="1100" u="sng">
                <a:solidFill>
                  <a:schemeClr val="hlink"/>
                </a:solidFill>
                <a:latin typeface="Arial"/>
                <a:ea typeface="Arial"/>
                <a:cs typeface="Arial"/>
                <a:sym typeface="Arial"/>
                <a:hlinkClick r:id="rId4"/>
              </a:rPr>
              <a:t>https://www.anaconda.com/distribution/</a:t>
            </a:r>
            <a:endParaRPr sz="1200">
              <a:solidFill>
                <a:srgbClr val="222222"/>
              </a:solidFill>
              <a:highlight>
                <a:srgbClr val="FFFFFF"/>
              </a:highlight>
              <a:latin typeface="Arial"/>
              <a:ea typeface="Arial"/>
              <a:cs typeface="Arial"/>
              <a:sym typeface="Arial"/>
            </a:endParaRPr>
          </a:p>
          <a:p>
            <a:pPr marL="0" lvl="0" indent="0" algn="l" rtl="0">
              <a:lnSpc>
                <a:spcPct val="100000"/>
              </a:lnSpc>
              <a:spcBef>
                <a:spcPts val="1600"/>
              </a:spcBef>
              <a:spcAft>
                <a:spcPts val="1600"/>
              </a:spcAft>
              <a:buNone/>
            </a:pPr>
            <a:r>
              <a:rPr lang="de-CH" sz="1200" b="1">
                <a:solidFill>
                  <a:srgbClr val="222222"/>
                </a:solidFill>
                <a:highlight>
                  <a:srgbClr val="FFFFFF"/>
                </a:highlight>
                <a:latin typeface="Arial"/>
                <a:ea typeface="Arial"/>
                <a:cs typeface="Arial"/>
                <a:sym typeface="Arial"/>
              </a:rPr>
              <a:t>To Open:  jupyter notebook</a:t>
            </a:r>
            <a:endParaRPr sz="1200" b="1">
              <a:solidFill>
                <a:srgbClr val="222222"/>
              </a:solidFill>
              <a:highlight>
                <a:srgbClr val="FFFFFF"/>
              </a:highlight>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31"/>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What is Numpy..?</a:t>
            </a:r>
            <a:endParaRPr/>
          </a:p>
        </p:txBody>
      </p:sp>
      <p:sp>
        <p:nvSpPr>
          <p:cNvPr id="176" name="Google Shape;176;p31"/>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Numpy(Numerical Python) is a linear algebra library of python..</a:t>
            </a:r>
            <a:endParaRPr/>
          </a:p>
          <a:p>
            <a:pPr marL="457200" lvl="0" indent="-342900" algn="l" rtl="0">
              <a:spcBef>
                <a:spcPts val="0"/>
              </a:spcBef>
              <a:spcAft>
                <a:spcPts val="0"/>
              </a:spcAft>
              <a:buSzPts val="1800"/>
              <a:buChar char="●"/>
            </a:pPr>
            <a:r>
              <a:rPr lang="de-CH"/>
              <a:t>Used to  perform mathematical and logical operations on arrays</a:t>
            </a:r>
            <a:endParaRPr/>
          </a:p>
          <a:p>
            <a:pPr marL="457200" lvl="0" indent="-342900" algn="l" rtl="0">
              <a:spcBef>
                <a:spcPts val="0"/>
              </a:spcBef>
              <a:spcAft>
                <a:spcPts val="0"/>
              </a:spcAft>
              <a:buSzPts val="1800"/>
              <a:buChar char="●"/>
            </a:pPr>
            <a:r>
              <a:rPr lang="de-CH"/>
              <a:t>It provides methods to perform operations on multidimensional arrays and matrices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2"/>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Numpy Array..</a:t>
            </a:r>
            <a:endParaRPr/>
          </a:p>
        </p:txBody>
      </p:sp>
      <p:sp>
        <p:nvSpPr>
          <p:cNvPr id="182" name="Google Shape;182;p32"/>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Numpy arrays are basically  python list with some additional feature.</a:t>
            </a:r>
            <a:endParaRPr/>
          </a:p>
          <a:p>
            <a:pPr marL="457200" lvl="0" indent="-342900" algn="l" rtl="0">
              <a:spcBef>
                <a:spcPts val="0"/>
              </a:spcBef>
              <a:spcAft>
                <a:spcPts val="0"/>
              </a:spcAft>
              <a:buSzPts val="1800"/>
              <a:buChar char="●"/>
            </a:pPr>
            <a:r>
              <a:rPr lang="de-CH"/>
              <a:t>Numpy arrays support 1D,2D,3D …..nD arrays</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33"/>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How to create Numpy array</a:t>
            </a:r>
            <a:endParaRPr/>
          </a:p>
        </p:txBody>
      </p:sp>
      <p:sp>
        <p:nvSpPr>
          <p:cNvPr id="188" name="Google Shape;188;p33"/>
          <p:cNvSpPr txBox="1">
            <a:spLocks noGrp="1"/>
          </p:cNvSpPr>
          <p:nvPr>
            <p:ph type="body" idx="1"/>
          </p:nvPr>
        </p:nvSpPr>
        <p:spPr>
          <a:xfrm>
            <a:off x="311700" y="1043700"/>
            <a:ext cx="8520600" cy="43518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IMPORT NUMPY MODULE</a:t>
            </a:r>
            <a:br>
              <a:rPr lang="de-CH"/>
            </a:br>
            <a:r>
              <a:rPr lang="de-CH">
                <a:solidFill>
                  <a:srgbClr val="0000FF"/>
                </a:solidFill>
                <a:latin typeface="Spectral"/>
                <a:ea typeface="Spectral"/>
                <a:cs typeface="Spectral"/>
                <a:sym typeface="Spectral"/>
              </a:rPr>
              <a:t>import numpy as np</a:t>
            </a:r>
            <a:endParaRPr>
              <a:solidFill>
                <a:srgbClr val="0000FF"/>
              </a:solidFill>
              <a:latin typeface="Spectral"/>
              <a:ea typeface="Spectral"/>
              <a:cs typeface="Spectral"/>
              <a:sym typeface="Spectral"/>
            </a:endParaRPr>
          </a:p>
          <a:p>
            <a:pPr marL="457200" lvl="0" indent="-342900" algn="l" rtl="0">
              <a:spcBef>
                <a:spcPts val="0"/>
              </a:spcBef>
              <a:spcAft>
                <a:spcPts val="0"/>
              </a:spcAft>
              <a:buSzPts val="1800"/>
              <a:buChar char="●"/>
            </a:pPr>
            <a:r>
              <a:rPr lang="de-CH"/>
              <a:t>CREATE NUMPY  1D ARRAY</a:t>
            </a:r>
            <a:br>
              <a:rPr lang="de-CH"/>
            </a:br>
            <a:r>
              <a:rPr lang="de-CH">
                <a:solidFill>
                  <a:srgbClr val="0000FF"/>
                </a:solidFill>
                <a:latin typeface="Spectral"/>
                <a:ea typeface="Spectral"/>
                <a:cs typeface="Spectral"/>
                <a:sym typeface="Spectral"/>
              </a:rPr>
              <a:t>a=np.array([2,5,6,4])   </a:t>
            </a:r>
            <a:r>
              <a:rPr lang="de-CH">
                <a:solidFill>
                  <a:srgbClr val="434343"/>
                </a:solidFill>
                <a:latin typeface="Spectral"/>
                <a:ea typeface="Spectral"/>
                <a:cs typeface="Spectral"/>
                <a:sym typeface="Spectral"/>
              </a:rPr>
              <a:t>#python list</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b=np.array((1,2,34))    </a:t>
            </a:r>
            <a:r>
              <a:rPr lang="de-CH">
                <a:solidFill>
                  <a:srgbClr val="434343"/>
                </a:solidFill>
                <a:latin typeface="Spectral"/>
                <a:ea typeface="Spectral"/>
                <a:cs typeface="Spectral"/>
                <a:sym typeface="Spectral"/>
              </a:rPr>
              <a:t>#python tuple </a:t>
            </a:r>
            <a:br>
              <a:rPr lang="de-CH">
                <a:solidFill>
                  <a:srgbClr val="434343"/>
                </a:solidFill>
                <a:latin typeface="Spectral"/>
                <a:ea typeface="Spectral"/>
                <a:cs typeface="Spectral"/>
                <a:sym typeface="Spectral"/>
              </a:rPr>
            </a:br>
            <a:r>
              <a:rPr lang="de-CH">
                <a:solidFill>
                  <a:srgbClr val="0000FF"/>
                </a:solidFill>
                <a:latin typeface="Spectral"/>
                <a:ea typeface="Spectral"/>
                <a:cs typeface="Spectral"/>
                <a:sym typeface="Spectral"/>
              </a:rPr>
              <a:t>print(a)</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print(b)</a:t>
            </a:r>
            <a:endParaRPr>
              <a:solidFill>
                <a:srgbClr val="0000FF"/>
              </a:solidFill>
              <a:latin typeface="Spectral"/>
              <a:ea typeface="Spectral"/>
              <a:cs typeface="Spectral"/>
              <a:sym typeface="Spectral"/>
            </a:endParaRPr>
          </a:p>
          <a:p>
            <a:pPr marL="457200" lvl="0" indent="-342900" algn="l" rtl="0">
              <a:lnSpc>
                <a:spcPct val="50000"/>
              </a:lnSpc>
              <a:spcBef>
                <a:spcPts val="0"/>
              </a:spcBef>
              <a:spcAft>
                <a:spcPts val="0"/>
              </a:spcAft>
              <a:buClr>
                <a:srgbClr val="434343"/>
              </a:buClr>
              <a:buSzPts val="1800"/>
              <a:buFont typeface="Spectral"/>
              <a:buChar char="●"/>
            </a:pPr>
            <a:r>
              <a:rPr lang="de-CH">
                <a:solidFill>
                  <a:srgbClr val="434343"/>
                </a:solidFill>
                <a:latin typeface="Spectral"/>
                <a:ea typeface="Spectral"/>
                <a:cs typeface="Spectral"/>
                <a:sym typeface="Spectral"/>
              </a:rPr>
              <a:t>Numpy array is 0 index based</a:t>
            </a:r>
            <a:endParaRPr>
              <a:solidFill>
                <a:srgbClr val="434343"/>
              </a:solidFill>
              <a:latin typeface="Spectral"/>
              <a:ea typeface="Spectral"/>
              <a:cs typeface="Spectral"/>
              <a:sym typeface="Spectral"/>
            </a:endParaRPr>
          </a:p>
          <a:p>
            <a:pPr marL="457200" lvl="0" indent="0" algn="l" rtl="0">
              <a:lnSpc>
                <a:spcPct val="50000"/>
              </a:lnSpc>
              <a:spcBef>
                <a:spcPts val="1600"/>
              </a:spcBef>
              <a:spcAft>
                <a:spcPts val="0"/>
              </a:spcAft>
              <a:buNone/>
            </a:pPr>
            <a:r>
              <a:rPr lang="de-CH">
                <a:solidFill>
                  <a:srgbClr val="0000FF"/>
                </a:solidFill>
                <a:latin typeface="Spectral"/>
                <a:ea typeface="Spectral"/>
                <a:cs typeface="Spectral"/>
                <a:sym typeface="Spectral"/>
              </a:rPr>
              <a:t>print(a[0])</a:t>
            </a:r>
            <a:endParaRPr>
              <a:solidFill>
                <a:srgbClr val="0000FF"/>
              </a:solidFill>
              <a:latin typeface="Spectral"/>
              <a:ea typeface="Spectral"/>
              <a:cs typeface="Spectral"/>
              <a:sym typeface="Spectral"/>
            </a:endParaRPr>
          </a:p>
          <a:p>
            <a:pPr marL="457200" lvl="0" indent="0" algn="l" rtl="0">
              <a:lnSpc>
                <a:spcPct val="50000"/>
              </a:lnSpc>
              <a:spcBef>
                <a:spcPts val="1600"/>
              </a:spcBef>
              <a:spcAft>
                <a:spcPts val="0"/>
              </a:spcAft>
              <a:buNone/>
            </a:pPr>
            <a:r>
              <a:rPr lang="de-CH">
                <a:solidFill>
                  <a:srgbClr val="0000FF"/>
                </a:solidFill>
                <a:latin typeface="Spectral"/>
                <a:ea typeface="Spectral"/>
                <a:cs typeface="Spectral"/>
                <a:sym typeface="Spectral"/>
              </a:rPr>
              <a:t>print(a[0:])</a:t>
            </a:r>
            <a:endParaRPr>
              <a:solidFill>
                <a:srgbClr val="0000FF"/>
              </a:solidFill>
              <a:latin typeface="Spectral"/>
              <a:ea typeface="Spectral"/>
              <a:cs typeface="Spectral"/>
              <a:sym typeface="Spectral"/>
            </a:endParaRPr>
          </a:p>
          <a:p>
            <a:pPr marL="457200" lvl="0" indent="0" algn="l" rtl="0">
              <a:lnSpc>
                <a:spcPct val="50000"/>
              </a:lnSpc>
              <a:spcBef>
                <a:spcPts val="1600"/>
              </a:spcBef>
              <a:spcAft>
                <a:spcPts val="0"/>
              </a:spcAft>
              <a:buNone/>
            </a:pPr>
            <a:r>
              <a:rPr lang="de-CH">
                <a:solidFill>
                  <a:srgbClr val="0000FF"/>
                </a:solidFill>
                <a:latin typeface="Spectral"/>
                <a:ea typeface="Spectral"/>
                <a:cs typeface="Spectral"/>
                <a:sym typeface="Spectral"/>
              </a:rPr>
              <a:t>print(a[:2])</a:t>
            </a:r>
            <a:endParaRPr>
              <a:solidFill>
                <a:srgbClr val="0000FF"/>
              </a:solidFill>
              <a:latin typeface="Spectral"/>
              <a:ea typeface="Spectral"/>
              <a:cs typeface="Spectral"/>
              <a:sym typeface="Spectral"/>
            </a:endParaRPr>
          </a:p>
          <a:p>
            <a:pPr marL="457200" lvl="0" indent="0" algn="l" rtl="0">
              <a:lnSpc>
                <a:spcPct val="50000"/>
              </a:lnSpc>
              <a:spcBef>
                <a:spcPts val="1600"/>
              </a:spcBef>
              <a:spcAft>
                <a:spcPts val="0"/>
              </a:spcAft>
              <a:buNone/>
            </a:pPr>
            <a:r>
              <a:rPr lang="de-CH">
                <a:solidFill>
                  <a:srgbClr val="0000FF"/>
                </a:solidFill>
                <a:latin typeface="Spectral"/>
                <a:ea typeface="Spectral"/>
                <a:cs typeface="Spectral"/>
                <a:sym typeface="Spectral"/>
              </a:rPr>
              <a:t>print(a[1:3])</a:t>
            </a:r>
            <a:endParaRPr>
              <a:solidFill>
                <a:srgbClr val="0000FF"/>
              </a:solidFill>
              <a:latin typeface="Spectral"/>
              <a:ea typeface="Spectral"/>
              <a:cs typeface="Spectral"/>
              <a:sym typeface="Spectral"/>
            </a:endParaRPr>
          </a:p>
          <a:p>
            <a:pPr marL="457200" lvl="0" indent="0" algn="l" rtl="0">
              <a:spcBef>
                <a:spcPts val="1600"/>
              </a:spcBef>
              <a:spcAft>
                <a:spcPts val="1600"/>
              </a:spcAft>
              <a:buNone/>
            </a:pPr>
            <a:endParaRPr>
              <a:solidFill>
                <a:srgbClr val="0000FF"/>
              </a:solidFill>
              <a:latin typeface="Spectral"/>
              <a:ea typeface="Spectral"/>
              <a:cs typeface="Spectral"/>
              <a:sym typeface="Spectr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34"/>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2D array..</a:t>
            </a:r>
            <a:endParaRPr/>
          </a:p>
        </p:txBody>
      </p:sp>
      <p:sp>
        <p:nvSpPr>
          <p:cNvPr id="194" name="Google Shape;194;p34"/>
          <p:cNvSpPr txBox="1">
            <a:spLocks noGrp="1"/>
          </p:cNvSpPr>
          <p:nvPr>
            <p:ph type="body" idx="1"/>
          </p:nvPr>
        </p:nvSpPr>
        <p:spPr>
          <a:xfrm>
            <a:off x="311700" y="1039650"/>
            <a:ext cx="8520600" cy="3539700"/>
          </a:xfrm>
          <a:prstGeom prst="rect">
            <a:avLst/>
          </a:prstGeom>
        </p:spPr>
        <p:txBody>
          <a:bodyPr spcFirstLastPara="1" wrap="square" lIns="91425" tIns="91425" rIns="91425" bIns="91425" anchor="t" anchorCtr="0">
            <a:noAutofit/>
          </a:bodyPr>
          <a:lstStyle/>
          <a:p>
            <a:pPr marL="0" lvl="0" indent="0" algn="l" rtl="0">
              <a:lnSpc>
                <a:spcPct val="50000"/>
              </a:lnSpc>
              <a:spcBef>
                <a:spcPts val="0"/>
              </a:spcBef>
              <a:spcAft>
                <a:spcPts val="0"/>
              </a:spcAft>
              <a:buNone/>
            </a:pPr>
            <a:r>
              <a:rPr lang="de-CH">
                <a:solidFill>
                  <a:srgbClr val="0000FF"/>
                </a:solidFill>
                <a:latin typeface="Spectral"/>
                <a:ea typeface="Spectral"/>
                <a:cs typeface="Spectral"/>
                <a:sym typeface="Spectral"/>
              </a:rPr>
              <a:t>b=np.array([[1,2,3,4],[5,6,3,6]])</a:t>
            </a:r>
            <a:endParaRPr>
              <a:solidFill>
                <a:srgbClr val="0000FF"/>
              </a:solidFill>
              <a:latin typeface="Spectral"/>
              <a:ea typeface="Spectral"/>
              <a:cs typeface="Spectral"/>
              <a:sym typeface="Spectral"/>
            </a:endParaRPr>
          </a:p>
          <a:p>
            <a:pPr marL="0" lvl="0" indent="0" algn="l" rtl="0">
              <a:lnSpc>
                <a:spcPct val="50000"/>
              </a:lnSpc>
              <a:spcBef>
                <a:spcPts val="1600"/>
              </a:spcBef>
              <a:spcAft>
                <a:spcPts val="0"/>
              </a:spcAft>
              <a:buNone/>
            </a:pPr>
            <a:r>
              <a:rPr lang="de-CH">
                <a:solidFill>
                  <a:srgbClr val="0000FF"/>
                </a:solidFill>
                <a:latin typeface="Spectral"/>
                <a:ea typeface="Spectral"/>
                <a:cs typeface="Spectral"/>
                <a:sym typeface="Spectral"/>
              </a:rPr>
              <a:t>print(b)</a:t>
            </a:r>
            <a:endParaRPr>
              <a:solidFill>
                <a:srgbClr val="0000FF"/>
              </a:solidFill>
              <a:latin typeface="Spectral"/>
              <a:ea typeface="Spectral"/>
              <a:cs typeface="Spectral"/>
              <a:sym typeface="Spectral"/>
            </a:endParaRPr>
          </a:p>
          <a:p>
            <a:pPr marL="0" lvl="0" indent="0" algn="l" rtl="0">
              <a:lnSpc>
                <a:spcPct val="50000"/>
              </a:lnSpc>
              <a:spcBef>
                <a:spcPts val="1600"/>
              </a:spcBef>
              <a:spcAft>
                <a:spcPts val="0"/>
              </a:spcAft>
              <a:buClr>
                <a:schemeClr val="dk1"/>
              </a:buClr>
              <a:buSzPts val="1100"/>
              <a:buFont typeface="Arial"/>
              <a:buNone/>
            </a:pPr>
            <a:r>
              <a:rPr lang="de-CH">
                <a:solidFill>
                  <a:srgbClr val="0000FF"/>
                </a:solidFill>
                <a:latin typeface="Spectral"/>
                <a:ea typeface="Spectral"/>
                <a:cs typeface="Spectral"/>
                <a:sym typeface="Spectral"/>
              </a:rPr>
              <a:t>print(b[0])</a:t>
            </a:r>
            <a:endParaRPr>
              <a:solidFill>
                <a:srgbClr val="0000FF"/>
              </a:solidFill>
              <a:latin typeface="Spectral"/>
              <a:ea typeface="Spectral"/>
              <a:cs typeface="Spectral"/>
              <a:sym typeface="Spectral"/>
            </a:endParaRPr>
          </a:p>
          <a:p>
            <a:pPr marL="0" lvl="0" indent="0" algn="l" rtl="0">
              <a:lnSpc>
                <a:spcPct val="50000"/>
              </a:lnSpc>
              <a:spcBef>
                <a:spcPts val="1600"/>
              </a:spcBef>
              <a:spcAft>
                <a:spcPts val="0"/>
              </a:spcAft>
              <a:buClr>
                <a:schemeClr val="dk1"/>
              </a:buClr>
              <a:buSzPts val="1100"/>
              <a:buFont typeface="Arial"/>
              <a:buNone/>
            </a:pPr>
            <a:r>
              <a:rPr lang="de-CH">
                <a:solidFill>
                  <a:srgbClr val="0000FF"/>
                </a:solidFill>
                <a:latin typeface="Spectral"/>
                <a:ea typeface="Spectral"/>
                <a:cs typeface="Spectral"/>
                <a:sym typeface="Spectral"/>
              </a:rPr>
              <a:t>print(b[0:])</a:t>
            </a:r>
            <a:endParaRPr>
              <a:solidFill>
                <a:srgbClr val="0000FF"/>
              </a:solidFill>
              <a:latin typeface="Spectral"/>
              <a:ea typeface="Spectral"/>
              <a:cs typeface="Spectral"/>
              <a:sym typeface="Spectral"/>
            </a:endParaRPr>
          </a:p>
          <a:p>
            <a:pPr marL="0" lvl="0" indent="0" algn="l" rtl="0">
              <a:lnSpc>
                <a:spcPct val="50000"/>
              </a:lnSpc>
              <a:spcBef>
                <a:spcPts val="1600"/>
              </a:spcBef>
              <a:spcAft>
                <a:spcPts val="0"/>
              </a:spcAft>
              <a:buNone/>
            </a:pPr>
            <a:r>
              <a:rPr lang="de-CH">
                <a:solidFill>
                  <a:srgbClr val="0000FF"/>
                </a:solidFill>
                <a:latin typeface="Spectral"/>
                <a:ea typeface="Spectral"/>
                <a:cs typeface="Spectral"/>
                <a:sym typeface="Spectral"/>
              </a:rPr>
              <a:t>print(b[0:2])</a:t>
            </a:r>
            <a:endParaRPr>
              <a:solidFill>
                <a:srgbClr val="0000FF"/>
              </a:solidFill>
              <a:latin typeface="Spectral"/>
              <a:ea typeface="Spectral"/>
              <a:cs typeface="Spectral"/>
              <a:sym typeface="Spectral"/>
            </a:endParaRPr>
          </a:p>
          <a:p>
            <a:pPr marL="0" lvl="0" indent="0" algn="l" rtl="0">
              <a:lnSpc>
                <a:spcPct val="50000"/>
              </a:lnSpc>
              <a:spcBef>
                <a:spcPts val="1600"/>
              </a:spcBef>
              <a:spcAft>
                <a:spcPts val="0"/>
              </a:spcAft>
              <a:buNone/>
            </a:pPr>
            <a:endParaRPr>
              <a:solidFill>
                <a:srgbClr val="0000FF"/>
              </a:solidFill>
              <a:latin typeface="Spectral"/>
              <a:ea typeface="Spectral"/>
              <a:cs typeface="Spectral"/>
              <a:sym typeface="Spectral"/>
            </a:endParaRPr>
          </a:p>
          <a:p>
            <a:pPr marL="0" lvl="0" indent="0" algn="l" rtl="0">
              <a:lnSpc>
                <a:spcPct val="50000"/>
              </a:lnSpc>
              <a:spcBef>
                <a:spcPts val="1600"/>
              </a:spcBef>
              <a:spcAft>
                <a:spcPts val="0"/>
              </a:spcAft>
              <a:buNone/>
            </a:pPr>
            <a:r>
              <a:rPr lang="de-CH">
                <a:solidFill>
                  <a:srgbClr val="0000FF"/>
                </a:solidFill>
                <a:latin typeface="Spectral"/>
                <a:ea typeface="Spectral"/>
                <a:cs typeface="Spectral"/>
                <a:sym typeface="Spectral"/>
              </a:rPr>
              <a:t>print(b[0:2][0])</a:t>
            </a:r>
            <a:endParaRPr u="sng">
              <a:solidFill>
                <a:srgbClr val="0000FF"/>
              </a:solidFill>
              <a:latin typeface="Spectral"/>
              <a:ea typeface="Spectral"/>
              <a:cs typeface="Spectral"/>
              <a:sym typeface="Spectral"/>
            </a:endParaRPr>
          </a:p>
          <a:p>
            <a:pPr marL="0" lvl="0" indent="0" algn="l" rtl="0">
              <a:lnSpc>
                <a:spcPct val="50000"/>
              </a:lnSpc>
              <a:spcBef>
                <a:spcPts val="1600"/>
              </a:spcBef>
              <a:spcAft>
                <a:spcPts val="0"/>
              </a:spcAft>
              <a:buNone/>
            </a:pPr>
            <a:r>
              <a:rPr lang="de-CH" sz="1400" i="1">
                <a:solidFill>
                  <a:srgbClr val="434343"/>
                </a:solidFill>
                <a:latin typeface="Spectral"/>
                <a:ea typeface="Spectral"/>
                <a:cs typeface="Spectral"/>
                <a:sym typeface="Spectral"/>
              </a:rPr>
              <a:t>output</a:t>
            </a:r>
            <a:r>
              <a:rPr lang="de-CH">
                <a:solidFill>
                  <a:srgbClr val="434343"/>
                </a:solidFill>
                <a:latin typeface="Spectral"/>
                <a:ea typeface="Spectral"/>
                <a:cs typeface="Spectral"/>
                <a:sym typeface="Spectral"/>
              </a:rPr>
              <a:t>:</a:t>
            </a:r>
            <a:r>
              <a:rPr lang="de-CH" sz="1050">
                <a:solidFill>
                  <a:srgbClr val="434343"/>
                </a:solidFill>
                <a:highlight>
                  <a:srgbClr val="FFFFFF"/>
                </a:highlight>
                <a:latin typeface="Arial"/>
                <a:ea typeface="Arial"/>
                <a:cs typeface="Arial"/>
                <a:sym typeface="Arial"/>
              </a:rPr>
              <a:t>[1 2 3 4]</a:t>
            </a:r>
            <a:endParaRPr sz="1050">
              <a:solidFill>
                <a:srgbClr val="434343"/>
              </a:solidFill>
              <a:highlight>
                <a:srgbClr val="FFFFFF"/>
              </a:highlight>
              <a:latin typeface="Arial"/>
              <a:ea typeface="Arial"/>
              <a:cs typeface="Arial"/>
              <a:sym typeface="Arial"/>
            </a:endParaRPr>
          </a:p>
          <a:p>
            <a:pPr marL="0" lvl="0" indent="0" algn="l" rtl="0">
              <a:lnSpc>
                <a:spcPct val="50000"/>
              </a:lnSpc>
              <a:spcBef>
                <a:spcPts val="1600"/>
              </a:spcBef>
              <a:spcAft>
                <a:spcPts val="0"/>
              </a:spcAft>
              <a:buNone/>
            </a:pPr>
            <a:r>
              <a:rPr lang="de-CH">
                <a:solidFill>
                  <a:srgbClr val="0000FF"/>
                </a:solidFill>
                <a:highlight>
                  <a:srgbClr val="FFFFFF"/>
                </a:highlight>
                <a:latin typeface="Spectral"/>
                <a:ea typeface="Spectral"/>
                <a:cs typeface="Spectral"/>
                <a:sym typeface="Spectral"/>
              </a:rPr>
              <a:t>print(b[1][1])</a:t>
            </a:r>
            <a:endParaRPr>
              <a:solidFill>
                <a:srgbClr val="0000FF"/>
              </a:solidFill>
              <a:highlight>
                <a:srgbClr val="FFFFFF"/>
              </a:highlight>
              <a:latin typeface="Spectral"/>
              <a:ea typeface="Spectral"/>
              <a:cs typeface="Spectral"/>
              <a:sym typeface="Spectral"/>
            </a:endParaRPr>
          </a:p>
          <a:p>
            <a:pPr marL="0" lvl="0" indent="0" algn="l" rtl="0">
              <a:lnSpc>
                <a:spcPct val="50000"/>
              </a:lnSpc>
              <a:spcBef>
                <a:spcPts val="1600"/>
              </a:spcBef>
              <a:spcAft>
                <a:spcPts val="0"/>
              </a:spcAft>
              <a:buNone/>
            </a:pPr>
            <a:r>
              <a:rPr lang="de-CH" sz="1400" i="1">
                <a:solidFill>
                  <a:srgbClr val="434343"/>
                </a:solidFill>
                <a:latin typeface="Spectral"/>
                <a:ea typeface="Spectral"/>
                <a:cs typeface="Spectral"/>
                <a:sym typeface="Spectral"/>
              </a:rPr>
              <a:t>output</a:t>
            </a:r>
            <a:r>
              <a:rPr lang="de-CH">
                <a:solidFill>
                  <a:srgbClr val="434343"/>
                </a:solidFill>
                <a:latin typeface="Spectral"/>
                <a:ea typeface="Spectral"/>
                <a:cs typeface="Spectral"/>
                <a:sym typeface="Spectral"/>
              </a:rPr>
              <a:t>:</a:t>
            </a:r>
            <a:r>
              <a:rPr lang="de-CH" sz="1050">
                <a:solidFill>
                  <a:srgbClr val="434343"/>
                </a:solidFill>
                <a:highlight>
                  <a:srgbClr val="FFFFFF"/>
                </a:highlight>
                <a:latin typeface="Arial"/>
                <a:ea typeface="Arial"/>
                <a:cs typeface="Arial"/>
                <a:sym typeface="Arial"/>
              </a:rPr>
              <a:t>6</a:t>
            </a:r>
            <a:endParaRPr>
              <a:solidFill>
                <a:srgbClr val="0000FF"/>
              </a:solidFill>
              <a:highlight>
                <a:srgbClr val="FFFFFF"/>
              </a:highlight>
              <a:latin typeface="Spectral"/>
              <a:ea typeface="Spectral"/>
              <a:cs typeface="Spectral"/>
              <a:sym typeface="Spectral"/>
            </a:endParaRPr>
          </a:p>
          <a:p>
            <a:pPr marL="0" lvl="0" indent="0" algn="l" rtl="0">
              <a:lnSpc>
                <a:spcPct val="50000"/>
              </a:lnSpc>
              <a:spcBef>
                <a:spcPts val="1600"/>
              </a:spcBef>
              <a:spcAft>
                <a:spcPts val="0"/>
              </a:spcAft>
              <a:buNone/>
            </a:pPr>
            <a:endParaRPr>
              <a:solidFill>
                <a:srgbClr val="0000FF"/>
              </a:solidFill>
              <a:highlight>
                <a:srgbClr val="FFFFFF"/>
              </a:highlight>
              <a:latin typeface="Spectral"/>
              <a:ea typeface="Spectral"/>
              <a:cs typeface="Spectral"/>
              <a:sym typeface="Spectral"/>
            </a:endParaRPr>
          </a:p>
          <a:p>
            <a:pPr marL="0" lvl="0" indent="0" algn="l" rtl="0">
              <a:lnSpc>
                <a:spcPct val="50000"/>
              </a:lnSpc>
              <a:spcBef>
                <a:spcPts val="1600"/>
              </a:spcBef>
              <a:spcAft>
                <a:spcPts val="0"/>
              </a:spcAft>
              <a:buClr>
                <a:schemeClr val="dk1"/>
              </a:buClr>
              <a:buSzPts val="1100"/>
              <a:buFont typeface="Arial"/>
              <a:buNone/>
            </a:pPr>
            <a:endParaRPr>
              <a:solidFill>
                <a:srgbClr val="0000FF"/>
              </a:solidFill>
              <a:latin typeface="Spectral"/>
              <a:ea typeface="Spectral"/>
              <a:cs typeface="Spectral"/>
              <a:sym typeface="Spectral"/>
            </a:endParaRPr>
          </a:p>
          <a:p>
            <a:pPr marL="0" lvl="0" indent="0" algn="l" rtl="0">
              <a:spcBef>
                <a:spcPts val="1600"/>
              </a:spcBef>
              <a:spcAft>
                <a:spcPts val="1600"/>
              </a:spcAft>
              <a:buNone/>
            </a:pPr>
            <a:endParaRPr>
              <a:solidFill>
                <a:srgbClr val="0000FF"/>
              </a:solidFill>
              <a:latin typeface="Spectral"/>
              <a:ea typeface="Spectral"/>
              <a:cs typeface="Spectral"/>
              <a:sym typeface="Spectr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5"/>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Numpy array continues.. Initialization</a:t>
            </a:r>
            <a:endParaRPr/>
          </a:p>
        </p:txBody>
      </p:sp>
      <p:sp>
        <p:nvSpPr>
          <p:cNvPr id="200" name="Google Shape;200;p35"/>
          <p:cNvSpPr txBox="1">
            <a:spLocks noGrp="1"/>
          </p:cNvSpPr>
          <p:nvPr>
            <p:ph type="body" idx="1"/>
          </p:nvPr>
        </p:nvSpPr>
        <p:spPr>
          <a:xfrm>
            <a:off x="311700" y="1225225"/>
            <a:ext cx="8520600" cy="37773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Zeros  function</a:t>
            </a:r>
            <a:br>
              <a:rPr lang="de-CH"/>
            </a:br>
            <a:r>
              <a:rPr lang="de-CH">
                <a:solidFill>
                  <a:srgbClr val="0000FF"/>
                </a:solidFill>
                <a:latin typeface="Spectral"/>
                <a:ea typeface="Spectral"/>
                <a:cs typeface="Spectral"/>
                <a:sym typeface="Spectral"/>
              </a:rPr>
              <a:t>a=np.zeros((2,2))</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arange() function</a:t>
            </a:r>
            <a:br>
              <a:rPr lang="de-CH">
                <a:solidFill>
                  <a:srgbClr val="000000"/>
                </a:solidFill>
                <a:latin typeface="Spectral"/>
                <a:ea typeface="Spectral"/>
                <a:cs typeface="Spectral"/>
                <a:sym typeface="Spectral"/>
              </a:rPr>
            </a:br>
            <a:r>
              <a:rPr lang="de-CH">
                <a:solidFill>
                  <a:srgbClr val="000000"/>
                </a:solidFill>
                <a:latin typeface="Spectral"/>
                <a:ea typeface="Spectral"/>
                <a:cs typeface="Spectral"/>
                <a:sym typeface="Spectral"/>
              </a:rPr>
              <a:t>arange(start,end,difference)</a:t>
            </a:r>
            <a:br>
              <a:rPr lang="de-CH">
                <a:solidFill>
                  <a:srgbClr val="000000"/>
                </a:solidFill>
                <a:latin typeface="Spectral"/>
                <a:ea typeface="Spectral"/>
                <a:cs typeface="Spectral"/>
                <a:sym typeface="Spectral"/>
              </a:rPr>
            </a:br>
            <a:r>
              <a:rPr lang="de-CH">
                <a:solidFill>
                  <a:srgbClr val="000000"/>
                </a:solidFill>
                <a:latin typeface="Spectral"/>
                <a:ea typeface="Spectral"/>
                <a:cs typeface="Spectral"/>
                <a:sym typeface="Spectral"/>
              </a:rPr>
              <a:t> </a:t>
            </a:r>
            <a:r>
              <a:rPr lang="de-CH">
                <a:solidFill>
                  <a:srgbClr val="0000FF"/>
                </a:solidFill>
                <a:latin typeface="Spectral"/>
                <a:ea typeface="Spectral"/>
                <a:cs typeface="Spectral"/>
                <a:sym typeface="Spectral"/>
              </a:rPr>
              <a:t>a=np.arange(2,50,3)</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 full() function</a:t>
            </a:r>
            <a:br>
              <a:rPr lang="de-CH">
                <a:solidFill>
                  <a:srgbClr val="000000"/>
                </a:solidFill>
                <a:latin typeface="Spectral"/>
                <a:ea typeface="Spectral"/>
                <a:cs typeface="Spectral"/>
                <a:sym typeface="Spectral"/>
              </a:rPr>
            </a:br>
            <a:r>
              <a:rPr lang="de-CH">
                <a:solidFill>
                  <a:srgbClr val="000000"/>
                </a:solidFill>
                <a:latin typeface="Spectral"/>
                <a:ea typeface="Spectral"/>
                <a:cs typeface="Spectral"/>
                <a:sym typeface="Spectral"/>
              </a:rPr>
              <a:t>full((rows,columns),default_value)</a:t>
            </a:r>
            <a:br>
              <a:rPr lang="de-CH">
                <a:solidFill>
                  <a:srgbClr val="000000"/>
                </a:solidFill>
                <a:latin typeface="Spectral"/>
                <a:ea typeface="Spectral"/>
                <a:cs typeface="Spectral"/>
                <a:sym typeface="Spectral"/>
              </a:rPr>
            </a:br>
            <a:r>
              <a:rPr lang="de-CH">
                <a:solidFill>
                  <a:srgbClr val="4A86E8"/>
                </a:solidFill>
                <a:latin typeface="Spectral"/>
                <a:ea typeface="Spectral"/>
                <a:cs typeface="Spectral"/>
                <a:sym typeface="Spectral"/>
              </a:rPr>
              <a:t>d=np.full((2,3),10)</a:t>
            </a:r>
            <a:endParaRPr>
              <a:solidFill>
                <a:srgbClr val="4A86E8"/>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linspace() function</a:t>
            </a:r>
            <a:br>
              <a:rPr lang="de-CH">
                <a:solidFill>
                  <a:srgbClr val="000000"/>
                </a:solidFill>
                <a:latin typeface="Spectral"/>
                <a:ea typeface="Spectral"/>
                <a:cs typeface="Spectral"/>
                <a:sym typeface="Spectral"/>
              </a:rPr>
            </a:br>
            <a:r>
              <a:rPr lang="de-CH">
                <a:solidFill>
                  <a:srgbClr val="000000"/>
                </a:solidFill>
                <a:latin typeface="Spectral"/>
                <a:ea typeface="Spectral"/>
                <a:cs typeface="Spectral"/>
                <a:sym typeface="Spectral"/>
              </a:rPr>
              <a:t>linspace(start,end,number_of_elements)</a:t>
            </a:r>
            <a:br>
              <a:rPr lang="de-CH">
                <a:solidFill>
                  <a:srgbClr val="000000"/>
                </a:solidFill>
                <a:latin typeface="Spectral"/>
                <a:ea typeface="Spectral"/>
                <a:cs typeface="Spectral"/>
                <a:sym typeface="Spectral"/>
              </a:rPr>
            </a:br>
            <a:r>
              <a:rPr lang="de-CH">
                <a:solidFill>
                  <a:srgbClr val="0000FF"/>
                </a:solidFill>
                <a:latin typeface="Spectral"/>
                <a:ea typeface="Spectral"/>
                <a:cs typeface="Spectral"/>
                <a:sym typeface="Spectral"/>
              </a:rPr>
              <a:t>a=np.linspace(2,8,4)</a:t>
            </a:r>
            <a:endParaRPr>
              <a:solidFill>
                <a:srgbClr val="0000FF"/>
              </a:solidFill>
              <a:latin typeface="Spectral"/>
              <a:ea typeface="Spectral"/>
              <a:cs typeface="Spectral"/>
              <a:sym typeface="Spectr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36"/>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random</a:t>
            </a:r>
            <a:endParaRPr/>
          </a:p>
        </p:txBody>
      </p:sp>
      <p:sp>
        <p:nvSpPr>
          <p:cNvPr id="206" name="Google Shape;206;p36"/>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random(number_of elements) function</a:t>
            </a:r>
            <a:br>
              <a:rPr lang="de-CH">
                <a:solidFill>
                  <a:srgbClr val="000000"/>
                </a:solidFill>
                <a:latin typeface="Spectral"/>
                <a:ea typeface="Spectral"/>
                <a:cs typeface="Spectral"/>
                <a:sym typeface="Spectral"/>
              </a:rPr>
            </a:br>
            <a:r>
              <a:rPr lang="de-CH">
                <a:solidFill>
                  <a:srgbClr val="0000FF"/>
                </a:solidFill>
                <a:latin typeface="Spectral"/>
                <a:ea typeface="Spectral"/>
                <a:cs typeface="Spectral"/>
                <a:sym typeface="Spectral"/>
              </a:rPr>
              <a:t>out= np.random.random(5)</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randint(start_range,end_range,number_of_elements)</a:t>
            </a:r>
            <a:br>
              <a:rPr lang="de-CH">
                <a:solidFill>
                  <a:srgbClr val="000000"/>
                </a:solidFill>
                <a:latin typeface="Spectral"/>
                <a:ea typeface="Spectral"/>
                <a:cs typeface="Spectral"/>
                <a:sym typeface="Spectral"/>
              </a:rPr>
            </a:br>
            <a:r>
              <a:rPr lang="de-CH">
                <a:solidFill>
                  <a:srgbClr val="0000FF"/>
                </a:solidFill>
                <a:latin typeface="Spectral"/>
                <a:ea typeface="Spectral"/>
                <a:cs typeface="Spectral"/>
                <a:sym typeface="Spectral"/>
              </a:rPr>
              <a:t>out_arr = np.random.randint(2, 10,5)</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out_arr = np.random.randint(2, 10)</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out_arr = np.random.randint(2, 10,(2,2))</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shape</a:t>
            </a:r>
            <a:br>
              <a:rPr lang="de-CH">
                <a:solidFill>
                  <a:srgbClr val="000000"/>
                </a:solidFill>
                <a:latin typeface="Spectral"/>
                <a:ea typeface="Spectral"/>
                <a:cs typeface="Spectral"/>
                <a:sym typeface="Spectral"/>
              </a:rPr>
            </a:br>
            <a:r>
              <a:rPr lang="de-CH">
                <a:solidFill>
                  <a:srgbClr val="000000"/>
                </a:solidFill>
                <a:latin typeface="Spectral"/>
                <a:ea typeface="Spectral"/>
                <a:cs typeface="Spectral"/>
                <a:sym typeface="Spectral"/>
              </a:rPr>
              <a:t>Prints the structure of the array</a:t>
            </a:r>
            <a:br>
              <a:rPr lang="de-CH">
                <a:solidFill>
                  <a:srgbClr val="000000"/>
                </a:solidFill>
                <a:latin typeface="Spectral"/>
                <a:ea typeface="Spectral"/>
                <a:cs typeface="Spectral"/>
                <a:sym typeface="Spectral"/>
              </a:rPr>
            </a:br>
            <a:r>
              <a:rPr lang="de-CH">
                <a:solidFill>
                  <a:srgbClr val="0000FF"/>
                </a:solidFill>
                <a:latin typeface="Spectral"/>
                <a:ea typeface="Spectral"/>
                <a:cs typeface="Spectral"/>
                <a:sym typeface="Spectral"/>
              </a:rPr>
              <a:t>print(out_arr.shape)</a:t>
            </a:r>
            <a:br>
              <a:rPr lang="de-CH">
                <a:solidFill>
                  <a:srgbClr val="000000"/>
                </a:solidFill>
                <a:latin typeface="Spectral"/>
                <a:ea typeface="Spectral"/>
                <a:cs typeface="Spectral"/>
                <a:sym typeface="Spectral"/>
              </a:rPr>
            </a:br>
            <a:endParaRPr>
              <a:solidFill>
                <a:srgbClr val="000000"/>
              </a:solidFill>
              <a:latin typeface="Spectral"/>
              <a:ea typeface="Spectral"/>
              <a:cs typeface="Spectral"/>
              <a:sym typeface="Spectr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37"/>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continues..</a:t>
            </a:r>
            <a:endParaRPr/>
          </a:p>
        </p:txBody>
      </p:sp>
      <p:sp>
        <p:nvSpPr>
          <p:cNvPr id="212" name="Google Shape;212;p37"/>
          <p:cNvSpPr txBox="1">
            <a:spLocks noGrp="1"/>
          </p:cNvSpPr>
          <p:nvPr>
            <p:ph type="body" idx="1"/>
          </p:nvPr>
        </p:nvSpPr>
        <p:spPr>
          <a:xfrm>
            <a:off x="311700" y="1225225"/>
            <a:ext cx="8520600" cy="40773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Size of the array</a:t>
            </a:r>
            <a:br>
              <a:rPr lang="de-CH"/>
            </a:br>
            <a:r>
              <a:rPr lang="de-CH">
                <a:solidFill>
                  <a:srgbClr val="0000FF"/>
                </a:solidFill>
                <a:latin typeface="Spectral"/>
                <a:ea typeface="Spectral"/>
                <a:cs typeface="Spectral"/>
                <a:sym typeface="Spectral"/>
              </a:rPr>
              <a:t>abc=np.arange(20)</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print(abc.size)  </a:t>
            </a:r>
            <a:r>
              <a:rPr lang="de-CH">
                <a:solidFill>
                  <a:srgbClr val="B7B7B7"/>
                </a:solidFill>
                <a:latin typeface="Spectral"/>
                <a:ea typeface="Spectral"/>
                <a:cs typeface="Spectral"/>
                <a:sym typeface="Spectral"/>
              </a:rPr>
              <a:t>--&gt;size of the array</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print(abc.itemsize) </a:t>
            </a:r>
            <a:r>
              <a:rPr lang="de-CH">
                <a:solidFill>
                  <a:srgbClr val="999999"/>
                </a:solidFill>
                <a:latin typeface="Spectral"/>
                <a:ea typeface="Spectral"/>
                <a:cs typeface="Spectral"/>
                <a:sym typeface="Spectral"/>
              </a:rPr>
              <a:t>--&gt;s</a:t>
            </a:r>
            <a:r>
              <a:rPr lang="de-CH">
                <a:solidFill>
                  <a:srgbClr val="B7B7B7"/>
                </a:solidFill>
                <a:latin typeface="Spectral"/>
                <a:ea typeface="Spectral"/>
                <a:cs typeface="Spectral"/>
                <a:sym typeface="Spectral"/>
              </a:rPr>
              <a:t>ize of the individual item in the array</a:t>
            </a:r>
            <a:endParaRPr>
              <a:solidFill>
                <a:srgbClr val="B7B7B7"/>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ndim-Dimension of the array</a:t>
            </a:r>
            <a:br>
              <a:rPr lang="de-CH">
                <a:solidFill>
                  <a:srgbClr val="000000"/>
                </a:solidFill>
                <a:latin typeface="Spectral"/>
                <a:ea typeface="Spectral"/>
                <a:cs typeface="Spectral"/>
                <a:sym typeface="Spectral"/>
              </a:rPr>
            </a:br>
            <a:r>
              <a:rPr lang="de-CH">
                <a:solidFill>
                  <a:srgbClr val="0000FF"/>
                </a:solidFill>
                <a:latin typeface="Spectral"/>
                <a:ea typeface="Spectral"/>
                <a:cs typeface="Spectral"/>
                <a:sym typeface="Spectral"/>
              </a:rPr>
              <a:t>print(abc.ndim)</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Dtype- finding the element type of the array</a:t>
            </a:r>
            <a:br>
              <a:rPr lang="de-CH">
                <a:solidFill>
                  <a:srgbClr val="000000"/>
                </a:solidFill>
                <a:latin typeface="Spectral"/>
                <a:ea typeface="Spectral"/>
                <a:cs typeface="Spectral"/>
                <a:sym typeface="Spectral"/>
              </a:rPr>
            </a:br>
            <a:r>
              <a:rPr lang="de-CH">
                <a:solidFill>
                  <a:srgbClr val="000000"/>
                </a:solidFill>
                <a:latin typeface="Spectral"/>
                <a:ea typeface="Spectral"/>
                <a:cs typeface="Spectral"/>
                <a:sym typeface="Spectral"/>
              </a:rPr>
              <a:t>Array in numpy are not heterogeneous but homogeneous</a:t>
            </a:r>
            <a:br>
              <a:rPr lang="de-CH">
                <a:solidFill>
                  <a:srgbClr val="000000"/>
                </a:solidFill>
                <a:latin typeface="Spectral"/>
                <a:ea typeface="Spectral"/>
                <a:cs typeface="Spectral"/>
                <a:sym typeface="Spectral"/>
              </a:rPr>
            </a:br>
            <a:r>
              <a:rPr lang="de-CH">
                <a:solidFill>
                  <a:srgbClr val="0000FF"/>
                </a:solidFill>
                <a:latin typeface="Spectral"/>
                <a:ea typeface="Spectral"/>
                <a:cs typeface="Spectral"/>
                <a:sym typeface="Spectral"/>
              </a:rPr>
              <a:t>print(abc.dtype)</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Nbytes  → total number of bytes using</a:t>
            </a:r>
            <a:br>
              <a:rPr lang="de-CH">
                <a:solidFill>
                  <a:srgbClr val="000000"/>
                </a:solidFill>
                <a:latin typeface="Spectral"/>
                <a:ea typeface="Spectral"/>
                <a:cs typeface="Spectral"/>
                <a:sym typeface="Spectral"/>
              </a:rPr>
            </a:br>
            <a:r>
              <a:rPr lang="de-CH">
                <a:solidFill>
                  <a:srgbClr val="0000FF"/>
                </a:solidFill>
                <a:latin typeface="Spectral"/>
                <a:ea typeface="Spectral"/>
                <a:cs typeface="Spectral"/>
                <a:sym typeface="Spectral"/>
              </a:rPr>
              <a:t>print(a.nbytes</a:t>
            </a:r>
            <a:r>
              <a:rPr lang="de-CH">
                <a:solidFill>
                  <a:srgbClr val="000000"/>
                </a:solidFill>
                <a:latin typeface="Spectral"/>
                <a:ea typeface="Spectral"/>
                <a:cs typeface="Spectral"/>
                <a:sym typeface="Spectral"/>
              </a:rPr>
              <a:t>)</a:t>
            </a:r>
            <a:endParaRPr>
              <a:solidFill>
                <a:srgbClr val="000000"/>
              </a:solidFill>
              <a:latin typeface="Spectral"/>
              <a:ea typeface="Spectral"/>
              <a:cs typeface="Spectral"/>
              <a:sym typeface="Spectra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8"/>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Astype- to convert the type of the array</a:t>
            </a:r>
            <a:endParaRPr/>
          </a:p>
        </p:txBody>
      </p:sp>
      <p:sp>
        <p:nvSpPr>
          <p:cNvPr id="218" name="Google Shape;218;p38"/>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de-CH">
                <a:solidFill>
                  <a:srgbClr val="0000FF"/>
                </a:solidFill>
                <a:latin typeface="Spectral"/>
                <a:ea typeface="Spectral"/>
                <a:cs typeface="Spectral"/>
                <a:sym typeface="Spectral"/>
              </a:rPr>
              <a:t>arr=np.array([1,2,3,4</a:t>
            </a:r>
            <a:endParaRPr>
              <a:solidFill>
                <a:srgbClr val="0000FF"/>
              </a:solidFill>
              <a:latin typeface="Spectral"/>
              <a:ea typeface="Spectral"/>
              <a:cs typeface="Spectral"/>
              <a:sym typeface="Spectral"/>
            </a:endParaRPr>
          </a:p>
          <a:p>
            <a:pPr marL="0" lvl="0" indent="0" algn="l" rtl="0">
              <a:spcBef>
                <a:spcPts val="1600"/>
              </a:spcBef>
              <a:spcAft>
                <a:spcPts val="0"/>
              </a:spcAft>
              <a:buClr>
                <a:schemeClr val="dk1"/>
              </a:buClr>
              <a:buSzPts val="1100"/>
              <a:buFont typeface="Arial"/>
              <a:buNone/>
            </a:pPr>
            <a:r>
              <a:rPr lang="de-CH">
                <a:solidFill>
                  <a:srgbClr val="0000FF"/>
                </a:solidFill>
                <a:latin typeface="Spectral"/>
                <a:ea typeface="Spectral"/>
                <a:cs typeface="Spectral"/>
                <a:sym typeface="Spectral"/>
              </a:rPr>
              <a:t>print(arr.dtype)</a:t>
            </a:r>
            <a:endParaRPr>
              <a:solidFill>
                <a:srgbClr val="0000FF"/>
              </a:solidFill>
              <a:latin typeface="Spectral"/>
              <a:ea typeface="Spectral"/>
              <a:cs typeface="Spectral"/>
              <a:sym typeface="Spectral"/>
            </a:endParaRPr>
          </a:p>
          <a:p>
            <a:pPr marL="0" lvl="0" indent="0" algn="l" rtl="0">
              <a:spcBef>
                <a:spcPts val="1600"/>
              </a:spcBef>
              <a:spcAft>
                <a:spcPts val="0"/>
              </a:spcAft>
              <a:buClr>
                <a:schemeClr val="dk1"/>
              </a:buClr>
              <a:buSzPts val="1100"/>
              <a:buFont typeface="Arial"/>
              <a:buNone/>
            </a:pPr>
            <a:r>
              <a:rPr lang="de-CH">
                <a:solidFill>
                  <a:srgbClr val="0000FF"/>
                </a:solidFill>
                <a:latin typeface="Spectral"/>
                <a:ea typeface="Spectral"/>
                <a:cs typeface="Spectral"/>
                <a:sym typeface="Spectral"/>
              </a:rPr>
              <a:t>arr=arr.astype('int8')</a:t>
            </a:r>
            <a:endParaRPr>
              <a:solidFill>
                <a:srgbClr val="0000FF"/>
              </a:solidFill>
              <a:latin typeface="Spectral"/>
              <a:ea typeface="Spectral"/>
              <a:cs typeface="Spectral"/>
              <a:sym typeface="Spectral"/>
            </a:endParaRPr>
          </a:p>
          <a:p>
            <a:pPr marL="0" lvl="0" indent="0" algn="l" rtl="0">
              <a:spcBef>
                <a:spcPts val="1600"/>
              </a:spcBef>
              <a:spcAft>
                <a:spcPts val="0"/>
              </a:spcAft>
              <a:buClr>
                <a:schemeClr val="dk1"/>
              </a:buClr>
              <a:buSzPts val="1100"/>
              <a:buFont typeface="Arial"/>
              <a:buNone/>
            </a:pPr>
            <a:r>
              <a:rPr lang="de-CH">
                <a:solidFill>
                  <a:srgbClr val="0000FF"/>
                </a:solidFill>
                <a:latin typeface="Spectral"/>
                <a:ea typeface="Spectral"/>
                <a:cs typeface="Spectral"/>
                <a:sym typeface="Spectral"/>
              </a:rPr>
              <a:t>print(arr.dtype)</a:t>
            </a:r>
            <a:endParaRPr>
              <a:solidFill>
                <a:srgbClr val="0000FF"/>
              </a:solidFill>
              <a:latin typeface="Spectral"/>
              <a:ea typeface="Spectral"/>
              <a:cs typeface="Spectral"/>
              <a:sym typeface="Spectral"/>
            </a:endParaRPr>
          </a:p>
          <a:p>
            <a:pPr marL="0" lvl="0" indent="0" algn="l" rtl="0">
              <a:spcBef>
                <a:spcPts val="1600"/>
              </a:spcBef>
              <a:spcAft>
                <a:spcPts val="1600"/>
              </a:spcAft>
              <a:buClr>
                <a:schemeClr val="dk1"/>
              </a:buClr>
              <a:buSzPts val="1100"/>
              <a:buFont typeface="Arial"/>
              <a:buNone/>
            </a:pPr>
            <a:r>
              <a:rPr lang="de-CH">
                <a:solidFill>
                  <a:srgbClr val="0000FF"/>
                </a:solidFill>
                <a:latin typeface="Spectral"/>
                <a:ea typeface="Spectral"/>
                <a:cs typeface="Spectral"/>
                <a:sym typeface="Spectral"/>
              </a:rPr>
              <a:t>])</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39"/>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Add or remove elements</a:t>
            </a:r>
            <a:endParaRPr/>
          </a:p>
        </p:txBody>
      </p:sp>
      <p:sp>
        <p:nvSpPr>
          <p:cNvPr id="224" name="Google Shape;224;p39"/>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Append</a:t>
            </a:r>
            <a:br>
              <a:rPr lang="de-CH"/>
            </a:br>
            <a:r>
              <a:rPr lang="de-CH">
                <a:solidFill>
                  <a:srgbClr val="0000FF"/>
                </a:solidFill>
              </a:rPr>
              <a:t>arr=np.array([1,2,3,4])</a:t>
            </a:r>
            <a:br>
              <a:rPr lang="de-CH">
                <a:solidFill>
                  <a:srgbClr val="0000FF"/>
                </a:solidFill>
              </a:rPr>
            </a:br>
            <a:r>
              <a:rPr lang="de-CH">
                <a:solidFill>
                  <a:srgbClr val="0000FF"/>
                </a:solidFill>
              </a:rPr>
              <a:t>np.append(arr,6)</a:t>
            </a:r>
            <a:endParaRPr>
              <a:solidFill>
                <a:srgbClr val="0000FF"/>
              </a:solidFill>
            </a:endParaRPr>
          </a:p>
          <a:p>
            <a:pPr marL="457200" lvl="0" indent="-342900" algn="l" rtl="0">
              <a:spcBef>
                <a:spcPts val="0"/>
              </a:spcBef>
              <a:spcAft>
                <a:spcPts val="0"/>
              </a:spcAft>
              <a:buClr>
                <a:srgbClr val="000000"/>
              </a:buClr>
              <a:buSzPts val="1800"/>
              <a:buChar char="●"/>
            </a:pPr>
            <a:r>
              <a:rPr lang="de-CH">
                <a:solidFill>
                  <a:srgbClr val="000000"/>
                </a:solidFill>
              </a:rPr>
              <a:t>Insert</a:t>
            </a:r>
            <a:br>
              <a:rPr lang="de-CH">
                <a:solidFill>
                  <a:srgbClr val="000000"/>
                </a:solidFill>
              </a:rPr>
            </a:br>
            <a:r>
              <a:rPr lang="de-CH">
                <a:solidFill>
                  <a:srgbClr val="0000FF"/>
                </a:solidFill>
                <a:latin typeface="Spectral"/>
                <a:ea typeface="Spectral"/>
                <a:cs typeface="Spectral"/>
                <a:sym typeface="Spectral"/>
              </a:rPr>
              <a:t>np.insert(abc,1,2,axis=1) </a:t>
            </a:r>
            <a:r>
              <a:rPr lang="de-CH">
                <a:solidFill>
                  <a:srgbClr val="4A86E8"/>
                </a:solidFill>
                <a:latin typeface="Spectral"/>
                <a:ea typeface="Spectral"/>
                <a:cs typeface="Spectral"/>
                <a:sym typeface="Spectral"/>
              </a:rPr>
              <a:t>  → </a:t>
            </a:r>
            <a:r>
              <a:rPr lang="de-CH">
                <a:solidFill>
                  <a:srgbClr val="999999"/>
                </a:solidFill>
                <a:latin typeface="Spectral"/>
                <a:ea typeface="Spectral"/>
                <a:cs typeface="Spectral"/>
                <a:sym typeface="Spectral"/>
              </a:rPr>
              <a:t>2nd arg: index at which insert, 3rd arg: content to insert</a:t>
            </a:r>
            <a:endParaRPr>
              <a:solidFill>
                <a:srgbClr val="999999"/>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Delete</a:t>
            </a:r>
            <a:br>
              <a:rPr lang="de-CH">
                <a:solidFill>
                  <a:srgbClr val="000000"/>
                </a:solidFill>
                <a:latin typeface="Spectral"/>
                <a:ea typeface="Spectral"/>
                <a:cs typeface="Spectral"/>
                <a:sym typeface="Spectral"/>
              </a:rPr>
            </a:br>
            <a:r>
              <a:rPr lang="de-CH">
                <a:solidFill>
                  <a:srgbClr val="0000FF"/>
                </a:solidFill>
                <a:latin typeface="Spectral"/>
                <a:ea typeface="Spectral"/>
                <a:cs typeface="Spectral"/>
                <a:sym typeface="Spectral"/>
              </a:rPr>
              <a:t>np.delete(abc,1,axis=1)</a:t>
            </a:r>
            <a:endParaRPr>
              <a:solidFill>
                <a:srgbClr val="0000FF"/>
              </a:solidFill>
              <a:latin typeface="Spectral"/>
              <a:ea typeface="Spectral"/>
              <a:cs typeface="Spectral"/>
              <a:sym typeface="Spectra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40"/>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Copy &amp; Sort</a:t>
            </a:r>
            <a:endParaRPr/>
          </a:p>
        </p:txBody>
      </p:sp>
      <p:sp>
        <p:nvSpPr>
          <p:cNvPr id="230" name="Google Shape;230;p40"/>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COPY</a:t>
            </a:r>
            <a:br>
              <a:rPr lang="de-CH"/>
            </a:br>
            <a:r>
              <a:rPr lang="de-CH">
                <a:solidFill>
                  <a:srgbClr val="0000FF"/>
                </a:solidFill>
                <a:latin typeface="Spectral"/>
                <a:ea typeface="Spectral"/>
                <a:cs typeface="Spectral"/>
                <a:sym typeface="Spectral"/>
              </a:rPr>
              <a:t>abc=np.array([1,6,3,2])</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ab=np.copy(abc)  </a:t>
            </a:r>
            <a:r>
              <a:rPr lang="de-CH">
                <a:solidFill>
                  <a:srgbClr val="B7B7B7"/>
                </a:solidFill>
                <a:latin typeface="Spectral"/>
                <a:ea typeface="Spectral"/>
                <a:cs typeface="Spectral"/>
                <a:sym typeface="Spectral"/>
              </a:rPr>
              <a:t>Or</a:t>
            </a:r>
            <a:br>
              <a:rPr lang="de-CH">
                <a:solidFill>
                  <a:srgbClr val="B7B7B7"/>
                </a:solidFill>
                <a:latin typeface="Spectral"/>
                <a:ea typeface="Spectral"/>
                <a:cs typeface="Spectral"/>
                <a:sym typeface="Spectral"/>
              </a:rPr>
            </a:br>
            <a:r>
              <a:rPr lang="de-CH">
                <a:solidFill>
                  <a:srgbClr val="0000FF"/>
                </a:solidFill>
                <a:latin typeface="Spectral"/>
                <a:ea typeface="Spectral"/>
                <a:cs typeface="Spectral"/>
                <a:sym typeface="Spectral"/>
              </a:rPr>
              <a:t>ab=abc.copy()</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SORT</a:t>
            </a:r>
            <a:br>
              <a:rPr lang="de-CH">
                <a:solidFill>
                  <a:srgbClr val="000000"/>
                </a:solidFill>
                <a:latin typeface="Spectral"/>
                <a:ea typeface="Spectral"/>
                <a:cs typeface="Spectral"/>
                <a:sym typeface="Spectral"/>
              </a:rPr>
            </a:br>
            <a:r>
              <a:rPr lang="de-CH">
                <a:solidFill>
                  <a:srgbClr val="0000FF"/>
                </a:solidFill>
                <a:latin typeface="Spectral"/>
                <a:ea typeface="Spectral"/>
                <a:cs typeface="Spectral"/>
                <a:sym typeface="Spectral"/>
              </a:rPr>
              <a:t>np.sort(abc,axis=1)</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abc.sort()</a:t>
            </a:r>
            <a:endParaRPr>
              <a:solidFill>
                <a:srgbClr val="0000FF"/>
              </a:solidFill>
              <a:latin typeface="Spectral"/>
              <a:ea typeface="Spectral"/>
              <a:cs typeface="Spectral"/>
              <a:sym typeface="Spectra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41"/>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Element operation</a:t>
            </a:r>
            <a:endParaRPr/>
          </a:p>
        </p:txBody>
      </p:sp>
      <p:sp>
        <p:nvSpPr>
          <p:cNvPr id="236" name="Google Shape;236;p41"/>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sz="1600">
                <a:solidFill>
                  <a:srgbClr val="0000FF"/>
                </a:solidFill>
                <a:latin typeface="Spectral"/>
                <a:ea typeface="Spectral"/>
                <a:cs typeface="Spectral"/>
                <a:sym typeface="Spectral"/>
              </a:rPr>
              <a:t>a=np.array([4,5,6,7])</a:t>
            </a:r>
            <a:br>
              <a:rPr lang="de-CH" sz="1600">
                <a:solidFill>
                  <a:srgbClr val="0000FF"/>
                </a:solidFill>
                <a:latin typeface="Spectral"/>
                <a:ea typeface="Spectral"/>
                <a:cs typeface="Spectral"/>
                <a:sym typeface="Spectral"/>
              </a:rPr>
            </a:br>
            <a:r>
              <a:rPr lang="de-CH" sz="1600">
                <a:solidFill>
                  <a:srgbClr val="0000FF"/>
                </a:solidFill>
                <a:latin typeface="Spectral"/>
                <a:ea typeface="Spectral"/>
                <a:cs typeface="Spectral"/>
                <a:sym typeface="Spectral"/>
              </a:rPr>
              <a:t>a*2</a:t>
            </a:r>
            <a:br>
              <a:rPr lang="de-CH" sz="1600">
                <a:solidFill>
                  <a:srgbClr val="0000FF"/>
                </a:solidFill>
                <a:latin typeface="Spectral"/>
                <a:ea typeface="Spectral"/>
                <a:cs typeface="Spectral"/>
                <a:sym typeface="Spectral"/>
              </a:rPr>
            </a:br>
            <a:r>
              <a:rPr lang="de-CH" sz="1600">
                <a:solidFill>
                  <a:srgbClr val="0000FF"/>
                </a:solidFill>
                <a:latin typeface="Spectral"/>
                <a:ea typeface="Spectral"/>
                <a:cs typeface="Spectral"/>
                <a:sym typeface="Spectral"/>
              </a:rPr>
              <a:t>a-2</a:t>
            </a:r>
            <a:br>
              <a:rPr lang="de-CH" sz="1600">
                <a:solidFill>
                  <a:srgbClr val="0000FF"/>
                </a:solidFill>
                <a:latin typeface="Spectral"/>
                <a:ea typeface="Spectral"/>
                <a:cs typeface="Spectral"/>
                <a:sym typeface="Spectral"/>
              </a:rPr>
            </a:br>
            <a:r>
              <a:rPr lang="de-CH" sz="1600">
                <a:solidFill>
                  <a:srgbClr val="0000FF"/>
                </a:solidFill>
                <a:latin typeface="Spectral"/>
                <a:ea typeface="Spectral"/>
                <a:cs typeface="Spectral"/>
                <a:sym typeface="Spectral"/>
              </a:rPr>
              <a:t>a+2</a:t>
            </a:r>
            <a:br>
              <a:rPr lang="de-CH" sz="1600">
                <a:solidFill>
                  <a:srgbClr val="0000FF"/>
                </a:solidFill>
                <a:latin typeface="Spectral"/>
                <a:ea typeface="Spectral"/>
                <a:cs typeface="Spectral"/>
                <a:sym typeface="Spectral"/>
              </a:rPr>
            </a:br>
            <a:r>
              <a:rPr lang="de-CH" sz="1600">
                <a:solidFill>
                  <a:srgbClr val="0000FF"/>
                </a:solidFill>
                <a:latin typeface="Spectral"/>
                <a:ea typeface="Spectral"/>
                <a:cs typeface="Spectral"/>
                <a:sym typeface="Spectral"/>
              </a:rPr>
              <a:t>a/2</a:t>
            </a:r>
            <a:br>
              <a:rPr lang="de-CH" sz="1600">
                <a:solidFill>
                  <a:srgbClr val="0000FF"/>
                </a:solidFill>
                <a:latin typeface="Spectral"/>
                <a:ea typeface="Spectral"/>
                <a:cs typeface="Spectral"/>
                <a:sym typeface="Spectral"/>
              </a:rPr>
            </a:br>
            <a:r>
              <a:rPr lang="de-CH" sz="1600">
                <a:solidFill>
                  <a:srgbClr val="0000FF"/>
                </a:solidFill>
                <a:latin typeface="Spectral"/>
                <a:ea typeface="Spectral"/>
                <a:cs typeface="Spectral"/>
                <a:sym typeface="Spectral"/>
              </a:rPr>
              <a:t>a  ** 2</a:t>
            </a:r>
            <a:endParaRPr sz="1600">
              <a:solidFill>
                <a:srgbClr val="0000FF"/>
              </a:solidFill>
              <a:latin typeface="Spectral"/>
              <a:ea typeface="Spectral"/>
              <a:cs typeface="Spectral"/>
              <a:sym typeface="Spectral"/>
            </a:endParaRPr>
          </a:p>
          <a:p>
            <a:pPr marL="0" lvl="0" indent="0" algn="l" rtl="0">
              <a:spcBef>
                <a:spcPts val="1600"/>
              </a:spcBef>
              <a:spcAft>
                <a:spcPts val="1600"/>
              </a:spcAft>
              <a:buNone/>
            </a:pPr>
            <a:r>
              <a:rPr lang="de-CH" sz="1600">
                <a:solidFill>
                  <a:srgbClr val="0000FF"/>
                </a:solidFill>
                <a:latin typeface="Spectral"/>
                <a:ea typeface="Spectral"/>
                <a:cs typeface="Spectral"/>
                <a:sym typeface="Spectral"/>
              </a:rPr>
              <a:t>b=np.array([2,6,4,3])</a:t>
            </a:r>
            <a:br>
              <a:rPr lang="de-CH" sz="1600">
                <a:solidFill>
                  <a:srgbClr val="0000FF"/>
                </a:solidFill>
                <a:latin typeface="Spectral"/>
                <a:ea typeface="Spectral"/>
                <a:cs typeface="Spectral"/>
                <a:sym typeface="Spectral"/>
              </a:rPr>
            </a:br>
            <a:r>
              <a:rPr lang="de-CH" sz="1600">
                <a:solidFill>
                  <a:srgbClr val="0000FF"/>
                </a:solidFill>
                <a:latin typeface="Spectral"/>
                <a:ea typeface="Spectral"/>
                <a:cs typeface="Spectral"/>
                <a:sym typeface="Spectral"/>
              </a:rPr>
              <a:t>a+b</a:t>
            </a:r>
            <a:br>
              <a:rPr lang="de-CH" sz="1600">
                <a:solidFill>
                  <a:srgbClr val="0000FF"/>
                </a:solidFill>
                <a:latin typeface="Spectral"/>
                <a:ea typeface="Spectral"/>
                <a:cs typeface="Spectral"/>
                <a:sym typeface="Spectral"/>
              </a:rPr>
            </a:br>
            <a:r>
              <a:rPr lang="de-CH" sz="1600">
                <a:solidFill>
                  <a:srgbClr val="0000FF"/>
                </a:solidFill>
                <a:latin typeface="Spectral"/>
                <a:ea typeface="Spectral"/>
                <a:cs typeface="Spectral"/>
                <a:sym typeface="Spectral"/>
              </a:rPr>
              <a:t>a-b</a:t>
            </a:r>
            <a:br>
              <a:rPr lang="de-CH" sz="1600">
                <a:solidFill>
                  <a:srgbClr val="0000FF"/>
                </a:solidFill>
                <a:latin typeface="Spectral"/>
                <a:ea typeface="Spectral"/>
                <a:cs typeface="Spectral"/>
                <a:sym typeface="Spectral"/>
              </a:rPr>
            </a:br>
            <a:r>
              <a:rPr lang="de-CH" sz="1600">
                <a:solidFill>
                  <a:srgbClr val="0000FF"/>
                </a:solidFill>
                <a:latin typeface="Spectral"/>
                <a:ea typeface="Spectral"/>
                <a:cs typeface="Spectral"/>
                <a:sym typeface="Spectral"/>
              </a:rPr>
              <a:t>a*b</a:t>
            </a:r>
            <a:br>
              <a:rPr lang="de-CH" sz="1600">
                <a:solidFill>
                  <a:srgbClr val="0000FF"/>
                </a:solidFill>
                <a:latin typeface="Spectral"/>
                <a:ea typeface="Spectral"/>
                <a:cs typeface="Spectral"/>
                <a:sym typeface="Spectral"/>
              </a:rPr>
            </a:br>
            <a:r>
              <a:rPr lang="de-CH" sz="1600">
                <a:solidFill>
                  <a:srgbClr val="0000FF"/>
                </a:solidFill>
                <a:latin typeface="Spectral"/>
                <a:ea typeface="Spectral"/>
                <a:cs typeface="Spectral"/>
                <a:sym typeface="Spectral"/>
              </a:rPr>
              <a:t>a/b</a:t>
            </a:r>
            <a:endParaRPr sz="1600">
              <a:solidFill>
                <a:srgbClr val="0000FF"/>
              </a:solidFill>
              <a:latin typeface="Spectral"/>
              <a:ea typeface="Spectral"/>
              <a:cs typeface="Spectral"/>
              <a:sym typeface="Spectr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42"/>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continues..</a:t>
            </a:r>
            <a:endParaRPr/>
          </a:p>
        </p:txBody>
      </p:sp>
      <p:sp>
        <p:nvSpPr>
          <p:cNvPr id="242" name="Google Shape;242;p42"/>
          <p:cNvSpPr txBox="1">
            <a:spLocks noGrp="1"/>
          </p:cNvSpPr>
          <p:nvPr>
            <p:ph type="body" idx="1"/>
          </p:nvPr>
        </p:nvSpPr>
        <p:spPr>
          <a:xfrm>
            <a:off x="311700" y="989225"/>
            <a:ext cx="8520600" cy="4245000"/>
          </a:xfrm>
          <a:prstGeom prst="rect">
            <a:avLst/>
          </a:prstGeom>
        </p:spPr>
        <p:txBody>
          <a:bodyPr spcFirstLastPara="1" wrap="square" lIns="91425" tIns="91425" rIns="91425" bIns="91425" anchor="t" anchorCtr="0">
            <a:noAutofit/>
          </a:bodyPr>
          <a:lstStyle/>
          <a:p>
            <a:pPr marL="457200" lvl="0" indent="0" algn="l" rtl="0">
              <a:lnSpc>
                <a:spcPct val="50000"/>
              </a:lnSpc>
              <a:spcBef>
                <a:spcPts val="0"/>
              </a:spcBef>
              <a:spcAft>
                <a:spcPts val="0"/>
              </a:spcAft>
              <a:buNone/>
            </a:pPr>
            <a:r>
              <a:rPr lang="de-CH" sz="1400">
                <a:solidFill>
                  <a:srgbClr val="4A86E8"/>
                </a:solidFill>
                <a:latin typeface="Spectral"/>
                <a:ea typeface="Spectral"/>
                <a:cs typeface="Spectral"/>
                <a:sym typeface="Spectral"/>
              </a:rPr>
              <a:t>arr=np.array([[1,2,3,4,5],[6,7,8,9,10],[2,5,7,9,1]])</a:t>
            </a:r>
            <a:endParaRPr sz="1400">
              <a:solidFill>
                <a:srgbClr val="4A86E8"/>
              </a:solidFill>
              <a:latin typeface="Spectral"/>
              <a:ea typeface="Spectral"/>
              <a:cs typeface="Spectral"/>
              <a:sym typeface="Spectral"/>
            </a:endParaRPr>
          </a:p>
          <a:p>
            <a:pPr marL="457200" lvl="0" indent="0" algn="l" rtl="0">
              <a:lnSpc>
                <a:spcPct val="50000"/>
              </a:lnSpc>
              <a:spcBef>
                <a:spcPts val="1600"/>
              </a:spcBef>
              <a:spcAft>
                <a:spcPts val="0"/>
              </a:spcAft>
              <a:buNone/>
            </a:pPr>
            <a:r>
              <a:rPr lang="de-CH" sz="1400">
                <a:solidFill>
                  <a:srgbClr val="4A86E8"/>
                </a:solidFill>
                <a:latin typeface="Spectral"/>
                <a:ea typeface="Spectral"/>
                <a:cs typeface="Spectral"/>
                <a:sym typeface="Spectral"/>
              </a:rPr>
              <a:t>arr1=np.array([[1,2,3,4,5],[6,7,8,9,10],[2,5,7,9,1]])</a:t>
            </a:r>
            <a:endParaRPr sz="1400">
              <a:solidFill>
                <a:srgbClr val="4A86E8"/>
              </a:solidFill>
              <a:latin typeface="Spectral"/>
              <a:ea typeface="Spectral"/>
              <a:cs typeface="Spectral"/>
              <a:sym typeface="Spectral"/>
            </a:endParaRPr>
          </a:p>
          <a:p>
            <a:pPr marL="457200" lvl="0" indent="-342900" algn="l" rtl="0">
              <a:spcBef>
                <a:spcPts val="1600"/>
              </a:spcBef>
              <a:spcAft>
                <a:spcPts val="0"/>
              </a:spcAft>
              <a:buSzPts val="1800"/>
              <a:buChar char="●"/>
            </a:pPr>
            <a:r>
              <a:rPr lang="de-CH"/>
              <a:t>subtract()</a:t>
            </a:r>
            <a:br>
              <a:rPr lang="de-CH"/>
            </a:br>
            <a:r>
              <a:rPr lang="de-CH" sz="1600">
                <a:solidFill>
                  <a:srgbClr val="4A86E8"/>
                </a:solidFill>
                <a:latin typeface="Spectral"/>
                <a:ea typeface="Spectral"/>
                <a:cs typeface="Spectral"/>
                <a:sym typeface="Spectral"/>
              </a:rPr>
              <a:t>np.subtract(5,4)</a:t>
            </a:r>
            <a:br>
              <a:rPr lang="de-CH" sz="1600">
                <a:solidFill>
                  <a:srgbClr val="4A86E8"/>
                </a:solidFill>
                <a:latin typeface="Spectral"/>
                <a:ea typeface="Spectral"/>
                <a:cs typeface="Spectral"/>
                <a:sym typeface="Spectral"/>
              </a:rPr>
            </a:br>
            <a:r>
              <a:rPr lang="de-CH" sz="1600">
                <a:solidFill>
                  <a:srgbClr val="4A86E8"/>
                </a:solidFill>
                <a:latin typeface="Spectral"/>
                <a:ea typeface="Spectral"/>
                <a:cs typeface="Spectral"/>
                <a:sym typeface="Spectral"/>
              </a:rPr>
              <a:t>np.subtract(arr,arr1)</a:t>
            </a:r>
            <a:endParaRPr sz="1600">
              <a:solidFill>
                <a:srgbClr val="4A86E8"/>
              </a:solidFill>
              <a:latin typeface="Spectral"/>
              <a:ea typeface="Spectral"/>
              <a:cs typeface="Spectral"/>
              <a:sym typeface="Spectral"/>
            </a:endParaRPr>
          </a:p>
          <a:p>
            <a:pPr marL="457200" lvl="0" indent="-342900" algn="l" rtl="0">
              <a:spcBef>
                <a:spcPts val="0"/>
              </a:spcBef>
              <a:spcAft>
                <a:spcPts val="0"/>
              </a:spcAft>
              <a:buSzPts val="1800"/>
              <a:buChar char="●"/>
            </a:pPr>
            <a:r>
              <a:rPr lang="de-CH"/>
              <a:t>divide()</a:t>
            </a:r>
            <a:br>
              <a:rPr lang="de-CH"/>
            </a:br>
            <a:r>
              <a:rPr lang="de-CH" sz="1400">
                <a:solidFill>
                  <a:srgbClr val="0000FF"/>
                </a:solidFill>
                <a:latin typeface="Spectral"/>
                <a:ea typeface="Spectral"/>
                <a:cs typeface="Spectral"/>
                <a:sym typeface="Spectral"/>
              </a:rPr>
              <a:t>np.divide(2,4)</a:t>
            </a:r>
            <a:br>
              <a:rPr lang="de-CH" sz="1400">
                <a:solidFill>
                  <a:srgbClr val="0000FF"/>
                </a:solidFill>
                <a:latin typeface="Spectral"/>
                <a:ea typeface="Spectral"/>
                <a:cs typeface="Spectral"/>
                <a:sym typeface="Spectral"/>
              </a:rPr>
            </a:br>
            <a:r>
              <a:rPr lang="de-CH" sz="1400">
                <a:solidFill>
                  <a:srgbClr val="0000FF"/>
                </a:solidFill>
                <a:latin typeface="Spectral"/>
                <a:ea typeface="Spectral"/>
                <a:cs typeface="Spectral"/>
                <a:sym typeface="Spectral"/>
              </a:rPr>
              <a:t>np.divide(arr,arr1)</a:t>
            </a:r>
            <a:endParaRPr/>
          </a:p>
          <a:p>
            <a:pPr marL="457200" lvl="0" indent="-342900" algn="l" rtl="0">
              <a:spcBef>
                <a:spcPts val="0"/>
              </a:spcBef>
              <a:spcAft>
                <a:spcPts val="0"/>
              </a:spcAft>
              <a:buSzPts val="1800"/>
              <a:buChar char="●"/>
            </a:pPr>
            <a:r>
              <a:rPr lang="de-CH"/>
              <a:t>multiply()</a:t>
            </a:r>
            <a:br>
              <a:rPr lang="de-CH"/>
            </a:br>
            <a:r>
              <a:rPr lang="de-CH" sz="1400">
                <a:solidFill>
                  <a:srgbClr val="0000FF"/>
                </a:solidFill>
                <a:latin typeface="Spectral"/>
                <a:ea typeface="Spectral"/>
                <a:cs typeface="Spectral"/>
                <a:sym typeface="Spectral"/>
              </a:rPr>
              <a:t>np.multiply(2,4)</a:t>
            </a:r>
            <a:br>
              <a:rPr lang="de-CH" sz="1400">
                <a:solidFill>
                  <a:srgbClr val="0000FF"/>
                </a:solidFill>
                <a:latin typeface="Spectral"/>
                <a:ea typeface="Spectral"/>
                <a:cs typeface="Spectral"/>
                <a:sym typeface="Spectral"/>
              </a:rPr>
            </a:br>
            <a:r>
              <a:rPr lang="de-CH" sz="1400">
                <a:solidFill>
                  <a:srgbClr val="0000FF"/>
                </a:solidFill>
                <a:latin typeface="Spectral"/>
                <a:ea typeface="Spectral"/>
                <a:cs typeface="Spectral"/>
                <a:sym typeface="Spectral"/>
              </a:rPr>
              <a:t>np.multiply(arr,arr1)</a:t>
            </a:r>
            <a:endParaRPr/>
          </a:p>
          <a:p>
            <a:pPr marL="457200" lvl="0" indent="-342900" algn="l" rtl="0">
              <a:spcBef>
                <a:spcPts val="0"/>
              </a:spcBef>
              <a:spcAft>
                <a:spcPts val="0"/>
              </a:spcAft>
              <a:buSzPts val="1800"/>
              <a:buChar char="●"/>
            </a:pPr>
            <a:r>
              <a:rPr lang="de-CH"/>
              <a:t>sqrt()</a:t>
            </a:r>
            <a:br>
              <a:rPr lang="de-CH"/>
            </a:br>
            <a:r>
              <a:rPr lang="de-CH">
                <a:solidFill>
                  <a:srgbClr val="4A86E8"/>
                </a:solidFill>
                <a:latin typeface="Spectral"/>
                <a:ea typeface="Spectral"/>
                <a:cs typeface="Spectral"/>
                <a:sym typeface="Spectral"/>
              </a:rPr>
              <a:t>np.sqrt(2)</a:t>
            </a:r>
            <a:br>
              <a:rPr lang="de-CH">
                <a:solidFill>
                  <a:srgbClr val="4A86E8"/>
                </a:solidFill>
                <a:latin typeface="Spectral"/>
                <a:ea typeface="Spectral"/>
                <a:cs typeface="Spectral"/>
                <a:sym typeface="Spectral"/>
              </a:rPr>
            </a:br>
            <a:r>
              <a:rPr lang="de-CH">
                <a:solidFill>
                  <a:srgbClr val="4A86E8"/>
                </a:solidFill>
                <a:latin typeface="Spectral"/>
                <a:ea typeface="Spectral"/>
                <a:cs typeface="Spectral"/>
                <a:sym typeface="Spectral"/>
              </a:rPr>
              <a:t>np.sqrt(arr)</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43"/>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continue..</a:t>
            </a:r>
            <a:endParaRPr/>
          </a:p>
        </p:txBody>
      </p:sp>
      <p:sp>
        <p:nvSpPr>
          <p:cNvPr id="248" name="Google Shape;248;p43"/>
          <p:cNvSpPr txBox="1">
            <a:spLocks noGrp="1"/>
          </p:cNvSpPr>
          <p:nvPr>
            <p:ph type="body" idx="1"/>
          </p:nvPr>
        </p:nvSpPr>
        <p:spPr>
          <a:xfrm>
            <a:off x="311700" y="1225225"/>
            <a:ext cx="8520600" cy="40704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sin()</a:t>
            </a:r>
            <a:br>
              <a:rPr lang="de-CH"/>
            </a:br>
            <a:r>
              <a:rPr lang="de-CH">
                <a:solidFill>
                  <a:srgbClr val="0000FF"/>
                </a:solidFill>
                <a:latin typeface="Spectral"/>
                <a:ea typeface="Spectral"/>
                <a:cs typeface="Spectral"/>
                <a:sym typeface="Spectral"/>
              </a:rPr>
              <a:t>np.sin(0)</a:t>
            </a:r>
            <a:endParaRPr>
              <a:solidFill>
                <a:srgbClr val="0000FF"/>
              </a:solidFill>
              <a:latin typeface="Spectral"/>
              <a:ea typeface="Spectral"/>
              <a:cs typeface="Spectral"/>
              <a:sym typeface="Spectral"/>
            </a:endParaRPr>
          </a:p>
          <a:p>
            <a:pPr marL="457200" lvl="0" indent="-342900" algn="l" rtl="0">
              <a:spcBef>
                <a:spcPts val="0"/>
              </a:spcBef>
              <a:spcAft>
                <a:spcPts val="0"/>
              </a:spcAft>
              <a:buSzPts val="1800"/>
              <a:buChar char="●"/>
            </a:pPr>
            <a:r>
              <a:rPr lang="de-CH"/>
              <a:t>cos()</a:t>
            </a:r>
            <a:br>
              <a:rPr lang="de-CH"/>
            </a:br>
            <a:r>
              <a:rPr lang="de-CH">
                <a:solidFill>
                  <a:srgbClr val="0000FF"/>
                </a:solidFill>
                <a:latin typeface="Spectral"/>
                <a:ea typeface="Spectral"/>
                <a:cs typeface="Spectral"/>
                <a:sym typeface="Spectral"/>
              </a:rPr>
              <a:t>np.cos(0)</a:t>
            </a:r>
            <a:endParaRPr>
              <a:solidFill>
                <a:srgbClr val="0000FF"/>
              </a:solidFill>
              <a:latin typeface="Spectral"/>
              <a:ea typeface="Spectral"/>
              <a:cs typeface="Spectral"/>
              <a:sym typeface="Spectral"/>
            </a:endParaRPr>
          </a:p>
          <a:p>
            <a:pPr marL="457200" lvl="0" indent="-342900" algn="l" rtl="0">
              <a:spcBef>
                <a:spcPts val="0"/>
              </a:spcBef>
              <a:spcAft>
                <a:spcPts val="0"/>
              </a:spcAft>
              <a:buSzPts val="1800"/>
              <a:buChar char="●"/>
            </a:pPr>
            <a:r>
              <a:rPr lang="de-CH"/>
              <a:t>tan()</a:t>
            </a:r>
            <a:br>
              <a:rPr lang="de-CH"/>
            </a:br>
            <a:r>
              <a:rPr lang="de-CH">
                <a:solidFill>
                  <a:srgbClr val="0000FF"/>
                </a:solidFill>
                <a:latin typeface="Spectral"/>
                <a:ea typeface="Spectral"/>
                <a:cs typeface="Spectral"/>
                <a:sym typeface="Spectral"/>
              </a:rPr>
              <a:t>np.tan(0)</a:t>
            </a:r>
            <a:endParaRPr>
              <a:solidFill>
                <a:srgbClr val="0000FF"/>
              </a:solidFill>
              <a:latin typeface="Spectral"/>
              <a:ea typeface="Spectral"/>
              <a:cs typeface="Spectral"/>
              <a:sym typeface="Spectral"/>
            </a:endParaRPr>
          </a:p>
          <a:p>
            <a:pPr marL="457200" lvl="0" indent="-342900" algn="l" rtl="0">
              <a:spcBef>
                <a:spcPts val="0"/>
              </a:spcBef>
              <a:spcAft>
                <a:spcPts val="0"/>
              </a:spcAft>
              <a:buSzPts val="1800"/>
              <a:buChar char="●"/>
            </a:pPr>
            <a:r>
              <a:rPr lang="de-CH"/>
              <a:t>log()</a:t>
            </a:r>
            <a:br>
              <a:rPr lang="de-CH"/>
            </a:br>
            <a:r>
              <a:rPr lang="de-CH">
                <a:solidFill>
                  <a:srgbClr val="4A86E8"/>
                </a:solidFill>
                <a:latin typeface="Spectral"/>
                <a:ea typeface="Spectral"/>
                <a:cs typeface="Spectral"/>
                <a:sym typeface="Spectral"/>
              </a:rPr>
              <a:t>np.log(10)</a:t>
            </a:r>
            <a:br>
              <a:rPr lang="de-CH">
                <a:solidFill>
                  <a:srgbClr val="4A86E8"/>
                </a:solidFill>
                <a:latin typeface="Spectral"/>
                <a:ea typeface="Spectral"/>
                <a:cs typeface="Spectral"/>
                <a:sym typeface="Spectral"/>
              </a:rPr>
            </a:br>
            <a:r>
              <a:rPr lang="de-CH">
                <a:solidFill>
                  <a:srgbClr val="4A86E8"/>
                </a:solidFill>
                <a:latin typeface="Spectral"/>
                <a:ea typeface="Spectral"/>
                <a:cs typeface="Spectral"/>
                <a:sym typeface="Spectral"/>
              </a:rPr>
              <a:t>np.log10(2)</a:t>
            </a:r>
            <a:endParaRPr>
              <a:solidFill>
                <a:srgbClr val="4A86E8"/>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exp()</a:t>
            </a:r>
            <a:br>
              <a:rPr lang="de-CH">
                <a:solidFill>
                  <a:srgbClr val="000000"/>
                </a:solidFill>
                <a:latin typeface="Spectral"/>
                <a:ea typeface="Spectral"/>
                <a:cs typeface="Spectral"/>
                <a:sym typeface="Spectral"/>
              </a:rPr>
            </a:br>
            <a:r>
              <a:rPr lang="de-CH">
                <a:solidFill>
                  <a:srgbClr val="4A86E8"/>
                </a:solidFill>
                <a:latin typeface="Spectral"/>
                <a:ea typeface="Spectral"/>
                <a:cs typeface="Spectral"/>
                <a:sym typeface="Spectral"/>
              </a:rPr>
              <a:t>np.exp(5) → e=2.71</a:t>
            </a:r>
            <a:endParaRPr>
              <a:solidFill>
                <a:srgbClr val="4A86E8"/>
              </a:solidFill>
              <a:latin typeface="Spectral"/>
              <a:ea typeface="Spectral"/>
              <a:cs typeface="Spectral"/>
              <a:sym typeface="Spectr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sp>
        <p:nvSpPr>
          <p:cNvPr id="253" name="Google Shape;253;p44"/>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continues...</a:t>
            </a:r>
            <a:endParaRPr/>
          </a:p>
        </p:txBody>
      </p:sp>
      <p:sp>
        <p:nvSpPr>
          <p:cNvPr id="254" name="Google Shape;254;p44"/>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std() --&gt;</a:t>
            </a:r>
            <a:r>
              <a:rPr lang="de-CH">
                <a:solidFill>
                  <a:srgbClr val="B7B7B7"/>
                </a:solidFill>
              </a:rPr>
              <a:t>standard deviation</a:t>
            </a:r>
            <a:br>
              <a:rPr lang="de-CH">
                <a:solidFill>
                  <a:srgbClr val="B7B7B7"/>
                </a:solidFill>
              </a:rPr>
            </a:br>
            <a:r>
              <a:rPr lang="de-CH" sz="1600">
                <a:solidFill>
                  <a:srgbClr val="0000FF"/>
                </a:solidFill>
                <a:latin typeface="Spectral"/>
                <a:ea typeface="Spectral"/>
                <a:cs typeface="Spectral"/>
                <a:sym typeface="Spectral"/>
              </a:rPr>
              <a:t>np.std(arr)</a:t>
            </a:r>
            <a:endParaRPr sz="1600">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Arial"/>
              <a:buChar char="●"/>
            </a:pPr>
            <a:r>
              <a:rPr lang="de-CH">
                <a:solidFill>
                  <a:srgbClr val="000000"/>
                </a:solidFill>
                <a:latin typeface="Arial"/>
                <a:ea typeface="Arial"/>
                <a:cs typeface="Arial"/>
                <a:sym typeface="Arial"/>
              </a:rPr>
              <a:t>+,-, * .%</a:t>
            </a:r>
            <a:br>
              <a:rPr lang="de-CH">
                <a:solidFill>
                  <a:srgbClr val="000000"/>
                </a:solidFill>
                <a:latin typeface="Arial"/>
                <a:ea typeface="Arial"/>
                <a:cs typeface="Arial"/>
                <a:sym typeface="Arial"/>
              </a:rPr>
            </a:br>
            <a:r>
              <a:rPr lang="de-CH">
                <a:solidFill>
                  <a:srgbClr val="4A86E8"/>
                </a:solidFill>
                <a:latin typeface="Spectral"/>
                <a:ea typeface="Spectral"/>
                <a:cs typeface="Spectral"/>
                <a:sym typeface="Spectral"/>
              </a:rPr>
              <a:t>arr=np.array([[1,2,3,4,5],[6,7,8,9,10]])</a:t>
            </a:r>
            <a:br>
              <a:rPr lang="de-CH">
                <a:solidFill>
                  <a:srgbClr val="4A86E8"/>
                </a:solidFill>
                <a:latin typeface="Spectral"/>
                <a:ea typeface="Spectral"/>
                <a:cs typeface="Spectral"/>
                <a:sym typeface="Spectral"/>
              </a:rPr>
            </a:br>
            <a:r>
              <a:rPr lang="de-CH">
                <a:solidFill>
                  <a:srgbClr val="4A86E8"/>
                </a:solidFill>
                <a:latin typeface="Spectral"/>
                <a:ea typeface="Spectral"/>
                <a:cs typeface="Spectral"/>
                <a:sym typeface="Spectral"/>
              </a:rPr>
              <a:t>arr1=np.array([[1,2,3,4,5],[6,7,8,9,10]])</a:t>
            </a:r>
            <a:br>
              <a:rPr lang="de-CH">
                <a:solidFill>
                  <a:srgbClr val="4A86E8"/>
                </a:solidFill>
                <a:latin typeface="Spectral"/>
                <a:ea typeface="Spectral"/>
                <a:cs typeface="Spectral"/>
                <a:sym typeface="Spectral"/>
              </a:rPr>
            </a:br>
            <a:r>
              <a:rPr lang="de-CH">
                <a:solidFill>
                  <a:srgbClr val="4A86E8"/>
                </a:solidFill>
                <a:latin typeface="Spectral"/>
                <a:ea typeface="Spectral"/>
                <a:cs typeface="Spectral"/>
                <a:sym typeface="Spectral"/>
              </a:rPr>
              <a:t>arr+arr1</a:t>
            </a:r>
            <a:br>
              <a:rPr lang="de-CH">
                <a:solidFill>
                  <a:srgbClr val="4A86E8"/>
                </a:solidFill>
                <a:latin typeface="Spectral"/>
                <a:ea typeface="Spectral"/>
                <a:cs typeface="Spectral"/>
                <a:sym typeface="Spectral"/>
              </a:rPr>
            </a:br>
            <a:r>
              <a:rPr lang="de-CH">
                <a:solidFill>
                  <a:srgbClr val="4A86E8"/>
                </a:solidFill>
                <a:latin typeface="Spectral"/>
                <a:ea typeface="Spectral"/>
                <a:cs typeface="Spectral"/>
                <a:sym typeface="Spectral"/>
              </a:rPr>
              <a:t>arr-arr2</a:t>
            </a:r>
            <a:br>
              <a:rPr lang="de-CH">
                <a:solidFill>
                  <a:srgbClr val="4A86E8"/>
                </a:solidFill>
                <a:latin typeface="Spectral"/>
                <a:ea typeface="Spectral"/>
                <a:cs typeface="Spectral"/>
                <a:sym typeface="Spectral"/>
              </a:rPr>
            </a:br>
            <a:r>
              <a:rPr lang="de-CH">
                <a:solidFill>
                  <a:srgbClr val="4A86E8"/>
                </a:solidFill>
                <a:latin typeface="Spectral"/>
                <a:ea typeface="Spectral"/>
                <a:cs typeface="Spectral"/>
                <a:sym typeface="Spectral"/>
              </a:rPr>
              <a:t>arr*arr2</a:t>
            </a:r>
            <a:br>
              <a:rPr lang="de-CH">
                <a:solidFill>
                  <a:srgbClr val="4A86E8"/>
                </a:solidFill>
                <a:latin typeface="Spectral"/>
                <a:ea typeface="Spectral"/>
                <a:cs typeface="Spectral"/>
                <a:sym typeface="Spectral"/>
              </a:rPr>
            </a:br>
            <a:r>
              <a:rPr lang="de-CH">
                <a:solidFill>
                  <a:srgbClr val="4A86E8"/>
                </a:solidFill>
                <a:latin typeface="Spectral"/>
                <a:ea typeface="Spectral"/>
                <a:cs typeface="Spectral"/>
                <a:sym typeface="Spectral"/>
              </a:rPr>
              <a:t>arr/arr2</a:t>
            </a:r>
            <a:br>
              <a:rPr lang="de-CH">
                <a:solidFill>
                  <a:srgbClr val="4A86E8"/>
                </a:solidFill>
                <a:latin typeface="Spectral"/>
                <a:ea typeface="Spectral"/>
                <a:cs typeface="Spectral"/>
                <a:sym typeface="Spectral"/>
              </a:rPr>
            </a:br>
            <a:r>
              <a:rPr lang="de-CH">
                <a:solidFill>
                  <a:srgbClr val="4A86E8"/>
                </a:solidFill>
                <a:latin typeface="Spectral"/>
                <a:ea typeface="Spectral"/>
                <a:cs typeface="Spectral"/>
                <a:sym typeface="Spectral"/>
              </a:rPr>
              <a:t>arr%arr1</a:t>
            </a:r>
            <a:br>
              <a:rPr lang="de-CH">
                <a:solidFill>
                  <a:srgbClr val="4A86E8"/>
                </a:solidFill>
                <a:latin typeface="Spectral"/>
                <a:ea typeface="Spectral"/>
                <a:cs typeface="Spectral"/>
                <a:sym typeface="Spectral"/>
              </a:rPr>
            </a:br>
            <a:br>
              <a:rPr lang="de-CH">
                <a:solidFill>
                  <a:srgbClr val="4A86E8"/>
                </a:solidFill>
                <a:latin typeface="Spectral"/>
                <a:ea typeface="Spectral"/>
                <a:cs typeface="Spectral"/>
                <a:sym typeface="Spectral"/>
              </a:rPr>
            </a:br>
            <a:br>
              <a:rPr lang="de-CH">
                <a:solidFill>
                  <a:srgbClr val="4A86E8"/>
                </a:solidFill>
                <a:latin typeface="Spectral"/>
                <a:ea typeface="Spectral"/>
                <a:cs typeface="Spectral"/>
                <a:sym typeface="Spectral"/>
              </a:rPr>
            </a:br>
            <a:br>
              <a:rPr lang="de-CH" sz="1400">
                <a:solidFill>
                  <a:srgbClr val="4A86E8"/>
                </a:solidFill>
                <a:latin typeface="Spectral"/>
                <a:ea typeface="Spectral"/>
                <a:cs typeface="Spectral"/>
                <a:sym typeface="Spectral"/>
              </a:rPr>
            </a:br>
            <a:endParaRPr sz="1400">
              <a:solidFill>
                <a:srgbClr val="4A86E8"/>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Arial"/>
              <a:buChar char="●"/>
            </a:pPr>
            <a:endParaRPr>
              <a:solidFill>
                <a:srgbClr val="000000"/>
              </a:solidFill>
              <a:latin typeface="Arial"/>
              <a:ea typeface="Arial"/>
              <a:cs typeface="Arial"/>
              <a:sym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45"/>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continues..</a:t>
            </a:r>
            <a:endParaRPr/>
          </a:p>
        </p:txBody>
      </p:sp>
      <p:sp>
        <p:nvSpPr>
          <p:cNvPr id="260" name="Google Shape;260;p45"/>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Vstack() and hstack()</a:t>
            </a:r>
            <a:br>
              <a:rPr lang="de-CH"/>
            </a:br>
            <a:r>
              <a:rPr lang="de-CH">
                <a:solidFill>
                  <a:srgbClr val="0000FF"/>
                </a:solidFill>
                <a:latin typeface="Spectral"/>
                <a:ea typeface="Spectral"/>
                <a:cs typeface="Spectral"/>
                <a:sym typeface="Spectral"/>
              </a:rPr>
              <a:t>np.vstack([arr,arr1])</a:t>
            </a:r>
            <a:r>
              <a:rPr lang="de-CH"/>
              <a:t> → </a:t>
            </a:r>
            <a:r>
              <a:rPr lang="de-CH">
                <a:solidFill>
                  <a:srgbClr val="B7B7B7"/>
                </a:solidFill>
              </a:rPr>
              <a:t>vertically concatenate 2 arrays</a:t>
            </a:r>
            <a:endParaRPr>
              <a:solidFill>
                <a:srgbClr val="B7B7B7"/>
              </a:solidFill>
            </a:endParaRPr>
          </a:p>
          <a:p>
            <a:pPr marL="457200" lvl="0" indent="0" algn="l" rtl="0">
              <a:spcBef>
                <a:spcPts val="1600"/>
              </a:spcBef>
              <a:spcAft>
                <a:spcPts val="0"/>
              </a:spcAft>
              <a:buNone/>
            </a:pPr>
            <a:r>
              <a:rPr lang="de-CH">
                <a:solidFill>
                  <a:srgbClr val="0000FF"/>
                </a:solidFill>
              </a:rPr>
              <a:t>np.concatenate([arr,arr1],axis=0)</a:t>
            </a:r>
            <a:br>
              <a:rPr lang="de-CH">
                <a:solidFill>
                  <a:srgbClr val="B7B7B7"/>
                </a:solidFill>
              </a:rPr>
            </a:br>
            <a:r>
              <a:rPr lang="de-CH">
                <a:solidFill>
                  <a:srgbClr val="0000FF"/>
                </a:solidFill>
                <a:latin typeface="Spectral"/>
                <a:ea typeface="Spectral"/>
                <a:cs typeface="Spectral"/>
                <a:sym typeface="Spectral"/>
              </a:rPr>
              <a:t>np.hstack([arr,arr1])</a:t>
            </a:r>
            <a:r>
              <a:rPr lang="de-CH"/>
              <a:t> → </a:t>
            </a:r>
            <a:r>
              <a:rPr lang="de-CH">
                <a:solidFill>
                  <a:srgbClr val="B7B7B7"/>
                </a:solidFill>
              </a:rPr>
              <a:t>horizontally concatenate 2 arrays</a:t>
            </a:r>
            <a:endParaRPr>
              <a:solidFill>
                <a:srgbClr val="B7B7B7"/>
              </a:solidFill>
            </a:endParaRPr>
          </a:p>
          <a:p>
            <a:pPr marL="457200" lvl="0" indent="0" algn="l" rtl="0">
              <a:spcBef>
                <a:spcPts val="1600"/>
              </a:spcBef>
              <a:spcAft>
                <a:spcPts val="0"/>
              </a:spcAft>
              <a:buNone/>
            </a:pPr>
            <a:r>
              <a:rPr lang="de-CH">
                <a:solidFill>
                  <a:srgbClr val="0000FF"/>
                </a:solidFill>
              </a:rPr>
              <a:t>np.concatenate([arr,arr1],axis=1)</a:t>
            </a:r>
            <a:br>
              <a:rPr lang="de-CH">
                <a:solidFill>
                  <a:schemeClr val="dk2"/>
                </a:solidFill>
              </a:rPr>
            </a:br>
            <a:endParaRPr>
              <a:solidFill>
                <a:srgbClr val="B7B7B7"/>
              </a:solidFill>
            </a:endParaRPr>
          </a:p>
          <a:p>
            <a:pPr marL="457200" lvl="0" indent="-342900" algn="l" rtl="0">
              <a:spcBef>
                <a:spcPts val="1600"/>
              </a:spcBef>
              <a:spcAft>
                <a:spcPts val="0"/>
              </a:spcAft>
              <a:buSzPts val="1800"/>
              <a:buChar char="●"/>
            </a:pPr>
            <a:r>
              <a:rPr lang="de-CH"/>
              <a:t>ravel()</a:t>
            </a:r>
            <a:br>
              <a:rPr lang="de-CH"/>
            </a:br>
            <a:r>
              <a:rPr lang="de-CH">
                <a:solidFill>
                  <a:srgbClr val="0000FF"/>
                </a:solidFill>
                <a:latin typeface="Spectral"/>
                <a:ea typeface="Spectral"/>
                <a:cs typeface="Spectral"/>
                <a:sym typeface="Spectral"/>
              </a:rPr>
              <a:t>np.ravel(arr)</a:t>
            </a:r>
            <a:r>
              <a:rPr lang="de-CH"/>
              <a:t> → </a:t>
            </a:r>
            <a:r>
              <a:rPr lang="de-CH">
                <a:solidFill>
                  <a:srgbClr val="B7B7B7"/>
                </a:solidFill>
              </a:rPr>
              <a:t>Make a single dimension array</a:t>
            </a:r>
            <a:br>
              <a:rPr lang="de-CH"/>
            </a:b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46"/>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Numpy slicing</a:t>
            </a:r>
            <a:endParaRPr/>
          </a:p>
        </p:txBody>
      </p:sp>
      <p:sp>
        <p:nvSpPr>
          <p:cNvPr id="266" name="Google Shape;266;p46"/>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solidFill>
                  <a:srgbClr val="0000FF"/>
                </a:solidFill>
                <a:latin typeface="Spectral"/>
                <a:ea typeface="Spectral"/>
                <a:cs typeface="Spectral"/>
                <a:sym typeface="Spectral"/>
              </a:rPr>
              <a:t>arr=np.array([[1,2,3,4,5],[6,7,8,9,10],[2,5,7,9,1]])</a:t>
            </a:r>
            <a:endParaRPr>
              <a:solidFill>
                <a:srgbClr val="0000FF"/>
              </a:solidFill>
              <a:latin typeface="Spectral"/>
              <a:ea typeface="Spectral"/>
              <a:cs typeface="Spectral"/>
              <a:sym typeface="Spectral"/>
            </a:endParaRPr>
          </a:p>
          <a:p>
            <a:pPr marL="0" lvl="0" indent="0" algn="l" rtl="0">
              <a:spcBef>
                <a:spcPts val="1600"/>
              </a:spcBef>
              <a:spcAft>
                <a:spcPts val="0"/>
              </a:spcAft>
              <a:buNone/>
            </a:pPr>
            <a:r>
              <a:rPr lang="de-CH">
                <a:solidFill>
                  <a:srgbClr val="0000FF"/>
                </a:solidFill>
                <a:latin typeface="Spectral"/>
                <a:ea typeface="Spectral"/>
                <a:cs typeface="Spectral"/>
                <a:sym typeface="Spectral"/>
              </a:rPr>
              <a:t>print(arr[0,1])</a:t>
            </a:r>
            <a:endParaRPr>
              <a:solidFill>
                <a:srgbClr val="0000FF"/>
              </a:solidFill>
              <a:latin typeface="Spectral"/>
              <a:ea typeface="Spectral"/>
              <a:cs typeface="Spectral"/>
              <a:sym typeface="Spectral"/>
            </a:endParaRPr>
          </a:p>
          <a:p>
            <a:pPr marL="0" lvl="0" indent="0" algn="l" rtl="0">
              <a:spcBef>
                <a:spcPts val="1600"/>
              </a:spcBef>
              <a:spcAft>
                <a:spcPts val="0"/>
              </a:spcAft>
              <a:buNone/>
            </a:pPr>
            <a:r>
              <a:rPr lang="de-CH">
                <a:solidFill>
                  <a:srgbClr val="0000FF"/>
                </a:solidFill>
                <a:latin typeface="Spectral"/>
                <a:ea typeface="Spectral"/>
                <a:cs typeface="Spectral"/>
                <a:sym typeface="Spectral"/>
              </a:rPr>
              <a:t>print(arr[0:])</a:t>
            </a:r>
            <a:endParaRPr>
              <a:solidFill>
                <a:srgbClr val="0000FF"/>
              </a:solidFill>
              <a:latin typeface="Spectral"/>
              <a:ea typeface="Spectral"/>
              <a:cs typeface="Spectral"/>
              <a:sym typeface="Spectral"/>
            </a:endParaRPr>
          </a:p>
          <a:p>
            <a:pPr marL="0" lvl="0" indent="0" algn="l" rtl="0">
              <a:spcBef>
                <a:spcPts val="1600"/>
              </a:spcBef>
              <a:spcAft>
                <a:spcPts val="0"/>
              </a:spcAft>
              <a:buNone/>
            </a:pPr>
            <a:r>
              <a:rPr lang="de-CH">
                <a:solidFill>
                  <a:srgbClr val="0000FF"/>
                </a:solidFill>
                <a:latin typeface="Spectral"/>
                <a:ea typeface="Spectral"/>
                <a:cs typeface="Spectral"/>
                <a:sym typeface="Spectral"/>
              </a:rPr>
              <a:t>print(arr[0:2])</a:t>
            </a:r>
            <a:endParaRPr>
              <a:solidFill>
                <a:srgbClr val="0000FF"/>
              </a:solidFill>
              <a:latin typeface="Spectral"/>
              <a:ea typeface="Spectral"/>
              <a:cs typeface="Spectral"/>
              <a:sym typeface="Spectral"/>
            </a:endParaRPr>
          </a:p>
          <a:p>
            <a:pPr marL="0" lvl="0" indent="0" algn="l" rtl="0">
              <a:spcBef>
                <a:spcPts val="1600"/>
              </a:spcBef>
              <a:spcAft>
                <a:spcPts val="1600"/>
              </a:spcAft>
              <a:buNone/>
            </a:pPr>
            <a:r>
              <a:rPr lang="de-CH">
                <a:solidFill>
                  <a:srgbClr val="0000FF"/>
                </a:solidFill>
                <a:latin typeface="Spectral"/>
                <a:ea typeface="Spectral"/>
                <a:cs typeface="Spectral"/>
                <a:sym typeface="Spectral"/>
              </a:rPr>
              <a:t>print(arr[0:2,3])</a:t>
            </a:r>
            <a:endParaRPr>
              <a:solidFill>
                <a:srgbClr val="0000FF"/>
              </a:solidFill>
              <a:latin typeface="Spectral"/>
              <a:ea typeface="Spectral"/>
              <a:cs typeface="Spectral"/>
              <a:sym typeface="Spectr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47"/>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Linear Algebra</a:t>
            </a:r>
            <a:endParaRPr/>
          </a:p>
        </p:txBody>
      </p:sp>
      <p:sp>
        <p:nvSpPr>
          <p:cNvPr id="272" name="Google Shape;272;p47"/>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Matrix multiplication:</a:t>
            </a:r>
            <a:br>
              <a:rPr lang="de-CH"/>
            </a:br>
            <a:r>
              <a:rPr lang="de-CH" sz="1600">
                <a:solidFill>
                  <a:srgbClr val="0000FF"/>
                </a:solidFill>
                <a:latin typeface="Spectral"/>
                <a:ea typeface="Spectral"/>
                <a:cs typeface="Spectral"/>
                <a:sym typeface="Spectral"/>
              </a:rPr>
              <a:t>a=np.ones((2,3))</a:t>
            </a:r>
            <a:br>
              <a:rPr lang="de-CH" sz="1600">
                <a:solidFill>
                  <a:srgbClr val="0000FF"/>
                </a:solidFill>
                <a:latin typeface="Spectral"/>
                <a:ea typeface="Spectral"/>
                <a:cs typeface="Spectral"/>
                <a:sym typeface="Spectral"/>
              </a:rPr>
            </a:br>
            <a:r>
              <a:rPr lang="de-CH" sz="1600">
                <a:solidFill>
                  <a:srgbClr val="0000FF"/>
                </a:solidFill>
                <a:latin typeface="Spectral"/>
                <a:ea typeface="Spectral"/>
                <a:cs typeface="Spectral"/>
                <a:sym typeface="Spectral"/>
              </a:rPr>
              <a:t>b=np.full((3,2),5)</a:t>
            </a:r>
            <a:br>
              <a:rPr lang="de-CH" sz="1600">
                <a:solidFill>
                  <a:srgbClr val="0000FF"/>
                </a:solidFill>
                <a:latin typeface="Spectral"/>
                <a:ea typeface="Spectral"/>
                <a:cs typeface="Spectral"/>
                <a:sym typeface="Spectral"/>
              </a:rPr>
            </a:br>
            <a:r>
              <a:rPr lang="de-CH" sz="1600">
                <a:solidFill>
                  <a:srgbClr val="0000FF"/>
                </a:solidFill>
                <a:latin typeface="Spectral"/>
                <a:ea typeface="Spectral"/>
                <a:cs typeface="Spectral"/>
                <a:sym typeface="Spectral"/>
              </a:rPr>
              <a:t>print(a)</a:t>
            </a:r>
            <a:br>
              <a:rPr lang="de-CH" sz="1600">
                <a:solidFill>
                  <a:srgbClr val="0000FF"/>
                </a:solidFill>
                <a:latin typeface="Spectral"/>
                <a:ea typeface="Spectral"/>
                <a:cs typeface="Spectral"/>
                <a:sym typeface="Spectral"/>
              </a:rPr>
            </a:br>
            <a:r>
              <a:rPr lang="de-CH" sz="1600">
                <a:solidFill>
                  <a:srgbClr val="0000FF"/>
                </a:solidFill>
                <a:latin typeface="Spectral"/>
                <a:ea typeface="Spectral"/>
                <a:cs typeface="Spectral"/>
                <a:sym typeface="Spectral"/>
              </a:rPr>
              <a:t>print(b)</a:t>
            </a:r>
            <a:br>
              <a:rPr lang="de-CH" sz="1600">
                <a:solidFill>
                  <a:srgbClr val="0000FF"/>
                </a:solidFill>
                <a:latin typeface="Spectral"/>
                <a:ea typeface="Spectral"/>
                <a:cs typeface="Spectral"/>
                <a:sym typeface="Spectral"/>
              </a:rPr>
            </a:br>
            <a:r>
              <a:rPr lang="de-CH" sz="1600">
                <a:solidFill>
                  <a:srgbClr val="0000FF"/>
                </a:solidFill>
                <a:latin typeface="Spectral"/>
                <a:ea typeface="Spectral"/>
                <a:cs typeface="Spectral"/>
                <a:sym typeface="Spectral"/>
              </a:rPr>
              <a:t>out=np.matmul(a,b)</a:t>
            </a:r>
            <a:endParaRPr sz="1600">
              <a:solidFill>
                <a:srgbClr val="0000FF"/>
              </a:solidFill>
              <a:latin typeface="Spectral"/>
              <a:ea typeface="Spectral"/>
              <a:cs typeface="Spectral"/>
              <a:sym typeface="Spectral"/>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48"/>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Statistics..</a:t>
            </a:r>
            <a:endParaRPr/>
          </a:p>
        </p:txBody>
      </p:sp>
      <p:sp>
        <p:nvSpPr>
          <p:cNvPr id="278" name="Google Shape;278;p48"/>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solidFill>
                  <a:srgbClr val="0000FF"/>
                </a:solidFill>
                <a:latin typeface="Spectral"/>
                <a:ea typeface="Spectral"/>
                <a:cs typeface="Spectral"/>
                <a:sym typeface="Spectral"/>
              </a:rPr>
              <a:t>abc=np.array([[1,2,3],[2,5,7],[3,6,9]])</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print(np.max(abc))</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print(np.min(abc))</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print(np.max(abc,axis=1))</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print(np.max(abc,axis=0))</a:t>
            </a:r>
            <a:endParaRPr>
              <a:solidFill>
                <a:srgbClr val="0000FF"/>
              </a:solidFill>
              <a:latin typeface="Spectral"/>
              <a:ea typeface="Spectral"/>
              <a:cs typeface="Spectral"/>
              <a:sym typeface="Spectral"/>
            </a:endParaRPr>
          </a:p>
          <a:p>
            <a:pPr marL="0" lvl="0" indent="0" algn="l" rtl="0">
              <a:spcBef>
                <a:spcPts val="1600"/>
              </a:spcBef>
              <a:spcAft>
                <a:spcPts val="1600"/>
              </a:spcAft>
              <a:buNone/>
            </a:pPr>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283" name="Google Shape;283;p49"/>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continues..</a:t>
            </a:r>
            <a:endParaRPr/>
          </a:p>
        </p:txBody>
      </p:sp>
      <p:sp>
        <p:nvSpPr>
          <p:cNvPr id="284" name="Google Shape;284;p49"/>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sum()</a:t>
            </a:r>
            <a:br>
              <a:rPr lang="de-CH"/>
            </a:br>
            <a:r>
              <a:rPr lang="de-CH">
                <a:solidFill>
                  <a:srgbClr val="4A86E8"/>
                </a:solidFill>
                <a:latin typeface="Spectral"/>
                <a:ea typeface="Spectral"/>
                <a:cs typeface="Spectral"/>
                <a:sym typeface="Spectral"/>
              </a:rPr>
              <a:t>arr=np.array([2,8])</a:t>
            </a:r>
            <a:br>
              <a:rPr lang="de-CH">
                <a:solidFill>
                  <a:srgbClr val="4A86E8"/>
                </a:solidFill>
                <a:latin typeface="Spectral"/>
                <a:ea typeface="Spectral"/>
                <a:cs typeface="Spectral"/>
                <a:sym typeface="Spectral"/>
              </a:rPr>
            </a:br>
            <a:r>
              <a:rPr lang="de-CH">
                <a:solidFill>
                  <a:srgbClr val="4A86E8"/>
                </a:solidFill>
                <a:latin typeface="Spectral"/>
                <a:ea typeface="Spectral"/>
                <a:cs typeface="Spectral"/>
                <a:sym typeface="Spectral"/>
              </a:rPr>
              <a:t>arr2=np.array([4,6])</a:t>
            </a:r>
            <a:br>
              <a:rPr lang="de-CH"/>
            </a:br>
            <a:r>
              <a:rPr lang="de-CH">
                <a:solidFill>
                  <a:srgbClr val="0000FF"/>
                </a:solidFill>
                <a:latin typeface="Spectral"/>
                <a:ea typeface="Spectral"/>
                <a:cs typeface="Spectral"/>
                <a:sym typeface="Spectral"/>
              </a:rPr>
              <a:t>np.sum([5,10])</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np.sum((2,5,6))</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np.sum(arr)</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np.sum([arr,arr2])</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np.sum([arr,arr2],axis=1) #axis=0 for column wise sum, =1 for row wise sum</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arr.sum(axis=0)</a:t>
            </a:r>
            <a:br>
              <a:rPr lang="de-CH">
                <a:solidFill>
                  <a:srgbClr val="0000FF"/>
                </a:solidFill>
                <a:latin typeface="Spectral"/>
                <a:ea typeface="Spectral"/>
                <a:cs typeface="Spectral"/>
                <a:sym typeface="Spectral"/>
              </a:rPr>
            </a:br>
            <a:endParaRPr>
              <a:solidFill>
                <a:srgbClr val="0000FF"/>
              </a:solidFill>
              <a:latin typeface="Spectral"/>
              <a:ea typeface="Spectral"/>
              <a:cs typeface="Spectral"/>
              <a:sym typeface="Spectr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50"/>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Load Data From File</a:t>
            </a:r>
            <a:endParaRPr/>
          </a:p>
        </p:txBody>
      </p:sp>
      <p:sp>
        <p:nvSpPr>
          <p:cNvPr id="290" name="Google Shape;290;p50"/>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de-CH">
                <a:solidFill>
                  <a:srgbClr val="0000FF"/>
                </a:solidFill>
                <a:latin typeface="Spectral"/>
                <a:ea typeface="Spectral"/>
                <a:cs typeface="Spectral"/>
                <a:sym typeface="Spectral"/>
              </a:rPr>
              <a:t>data=np.genfromtxt('abc.txt',delimiter=',')</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new_data=data.astype('int32')</a:t>
            </a:r>
            <a:endParaRPr>
              <a:solidFill>
                <a:srgbClr val="0000FF"/>
              </a:solidFill>
              <a:latin typeface="Spectral"/>
              <a:ea typeface="Spectral"/>
              <a:cs typeface="Spectral"/>
              <a:sym typeface="Spectr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51"/>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Boolean Masking and Advanced Indexing</a:t>
            </a:r>
            <a:endParaRPr/>
          </a:p>
        </p:txBody>
      </p:sp>
      <p:sp>
        <p:nvSpPr>
          <p:cNvPr id="296" name="Google Shape;296;p51"/>
          <p:cNvSpPr txBox="1">
            <a:spLocks noGrp="1"/>
          </p:cNvSpPr>
          <p:nvPr>
            <p:ph type="body" idx="1"/>
          </p:nvPr>
        </p:nvSpPr>
        <p:spPr>
          <a:xfrm>
            <a:off x="311700" y="1225225"/>
            <a:ext cx="8520600" cy="36549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Font typeface="Spectral"/>
              <a:buChar char="●"/>
            </a:pPr>
            <a:r>
              <a:rPr lang="de-CH" b="1">
                <a:solidFill>
                  <a:srgbClr val="000000"/>
                </a:solidFill>
                <a:latin typeface="Spectral"/>
                <a:ea typeface="Spectral"/>
                <a:cs typeface="Spectral"/>
                <a:sym typeface="Spectral"/>
              </a:rPr>
              <a:t>Boolean Masking</a:t>
            </a:r>
            <a:br>
              <a:rPr lang="de-CH" b="1">
                <a:solidFill>
                  <a:srgbClr val="000000"/>
                </a:solidFill>
                <a:latin typeface="Spectral"/>
                <a:ea typeface="Spectral"/>
                <a:cs typeface="Spectral"/>
                <a:sym typeface="Spectral"/>
              </a:rPr>
            </a:br>
            <a:r>
              <a:rPr lang="de-CH">
                <a:solidFill>
                  <a:srgbClr val="0000FF"/>
                </a:solidFill>
                <a:latin typeface="Spectral"/>
                <a:ea typeface="Spectral"/>
                <a:cs typeface="Spectral"/>
                <a:sym typeface="Spectral"/>
              </a:rPr>
              <a:t>data=np.genfromtxt('abc.txt',delimiter=',')</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data&gt;5</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data&gt;=5</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data==5</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np.all(data&gt;5,axis=1)</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np.any(data&gt;5,axis=1)</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Indexing </a:t>
            </a:r>
            <a:br>
              <a:rPr lang="de-CH">
                <a:solidFill>
                  <a:srgbClr val="000000"/>
                </a:solidFill>
                <a:latin typeface="Spectral"/>
                <a:ea typeface="Spectral"/>
                <a:cs typeface="Spectral"/>
                <a:sym typeface="Spectral"/>
              </a:rPr>
            </a:br>
            <a:r>
              <a:rPr lang="de-CH">
                <a:solidFill>
                  <a:srgbClr val="0000FF"/>
                </a:solidFill>
                <a:latin typeface="Spectral"/>
                <a:ea typeface="Spectral"/>
                <a:cs typeface="Spectral"/>
                <a:sym typeface="Spectral"/>
              </a:rPr>
              <a:t>data[data&gt;5]</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data[((data&gt;5) &amp; (data&lt;10))]</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data[data%2==0]</a:t>
            </a:r>
            <a:endParaRPr>
              <a:solidFill>
                <a:srgbClr val="0000FF"/>
              </a:solidFill>
              <a:latin typeface="Spectral"/>
              <a:ea typeface="Spectral"/>
              <a:cs typeface="Spectral"/>
              <a:sym typeface="Spectr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52"/>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continues..</a:t>
            </a:r>
            <a:endParaRPr/>
          </a:p>
        </p:txBody>
      </p:sp>
      <p:sp>
        <p:nvSpPr>
          <p:cNvPr id="302" name="Google Shape;302;p52"/>
          <p:cNvSpPr txBox="1">
            <a:spLocks noGrp="1"/>
          </p:cNvSpPr>
          <p:nvPr>
            <p:ph type="body" idx="1"/>
          </p:nvPr>
        </p:nvSpPr>
        <p:spPr>
          <a:xfrm>
            <a:off x="240275" y="1253800"/>
            <a:ext cx="8520600" cy="33540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Indexing with list</a:t>
            </a:r>
            <a:br>
              <a:rPr lang="de-CH"/>
            </a:br>
            <a:r>
              <a:rPr lang="de-CH">
                <a:solidFill>
                  <a:srgbClr val="0000FF"/>
                </a:solidFill>
                <a:latin typeface="Spectral"/>
                <a:ea typeface="Spectral"/>
                <a:cs typeface="Spectral"/>
                <a:sym typeface="Spectral"/>
              </a:rPr>
              <a:t>abc=np.array([2., 4., 6., 8., 4., 6., 8., 2., 6., 4., 2., 4., 2., 4.])</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print(abc[[0,4,6,8]])</a:t>
            </a:r>
            <a:endParaRPr>
              <a:solidFill>
                <a:srgbClr val="0000FF"/>
              </a:solidFill>
              <a:latin typeface="Spectral"/>
              <a:ea typeface="Spectral"/>
              <a:cs typeface="Spectral"/>
              <a:sym typeface="Spectr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sp>
        <p:nvSpPr>
          <p:cNvPr id="307" name="Google Shape;307;p53"/>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Index It</a:t>
            </a:r>
            <a:endParaRPr/>
          </a:p>
        </p:txBody>
      </p:sp>
      <p:pic>
        <p:nvPicPr>
          <p:cNvPr id="308" name="Google Shape;308;p53"/>
          <p:cNvPicPr preferRelativeResize="0"/>
          <p:nvPr/>
        </p:nvPicPr>
        <p:blipFill>
          <a:blip r:embed="rId3">
            <a:alphaModFix/>
          </a:blip>
          <a:stretch>
            <a:fillRect/>
          </a:stretch>
        </p:blipFill>
        <p:spPr>
          <a:xfrm>
            <a:off x="1543250" y="917950"/>
            <a:ext cx="5028300" cy="378805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54"/>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Array comparison..</a:t>
            </a:r>
            <a:endParaRPr/>
          </a:p>
        </p:txBody>
      </p:sp>
      <p:sp>
        <p:nvSpPr>
          <p:cNvPr id="314" name="Google Shape;314;p54"/>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Element  wise Comparisons</a:t>
            </a:r>
            <a:br>
              <a:rPr lang="de-CH"/>
            </a:br>
            <a:r>
              <a:rPr lang="de-CH" sz="1600">
                <a:solidFill>
                  <a:srgbClr val="0000FF"/>
                </a:solidFill>
                <a:latin typeface="Spectral"/>
                <a:ea typeface="Spectral"/>
                <a:cs typeface="Spectral"/>
                <a:sym typeface="Spectral"/>
              </a:rPr>
              <a:t>a=np.array([1,2,3])</a:t>
            </a:r>
            <a:br>
              <a:rPr lang="de-CH" sz="1600">
                <a:solidFill>
                  <a:srgbClr val="0000FF"/>
                </a:solidFill>
                <a:latin typeface="Spectral"/>
                <a:ea typeface="Spectral"/>
                <a:cs typeface="Spectral"/>
                <a:sym typeface="Spectral"/>
              </a:rPr>
            </a:br>
            <a:r>
              <a:rPr lang="de-CH" sz="1600">
                <a:solidFill>
                  <a:srgbClr val="0000FF"/>
                </a:solidFill>
                <a:latin typeface="Spectral"/>
                <a:ea typeface="Spectral"/>
                <a:cs typeface="Spectral"/>
                <a:sym typeface="Spectral"/>
              </a:rPr>
              <a:t>b=np.array([2,4,3])</a:t>
            </a:r>
            <a:br>
              <a:rPr lang="de-CH" sz="1600">
                <a:solidFill>
                  <a:srgbClr val="0000FF"/>
                </a:solidFill>
                <a:latin typeface="Spectral"/>
                <a:ea typeface="Spectral"/>
                <a:cs typeface="Spectral"/>
                <a:sym typeface="Spectral"/>
              </a:rPr>
            </a:br>
            <a:r>
              <a:rPr lang="de-CH" sz="1600">
                <a:solidFill>
                  <a:srgbClr val="0000FF"/>
                </a:solidFill>
                <a:latin typeface="Spectral"/>
                <a:ea typeface="Spectral"/>
                <a:cs typeface="Spectral"/>
                <a:sym typeface="Spectral"/>
              </a:rPr>
              <a:t>np.equal(a,b)</a:t>
            </a:r>
            <a:endParaRPr sz="1600">
              <a:solidFill>
                <a:srgbClr val="0000FF"/>
              </a:solidFill>
              <a:latin typeface="Spectral"/>
              <a:ea typeface="Spectral"/>
              <a:cs typeface="Spectral"/>
              <a:sym typeface="Spectral"/>
            </a:endParaRPr>
          </a:p>
          <a:p>
            <a:pPr marL="457200" lvl="0" indent="-330200" algn="l" rtl="0">
              <a:spcBef>
                <a:spcPts val="0"/>
              </a:spcBef>
              <a:spcAft>
                <a:spcPts val="0"/>
              </a:spcAft>
              <a:buClr>
                <a:srgbClr val="000000"/>
              </a:buClr>
              <a:buSzPts val="1600"/>
              <a:buFont typeface="Spectral"/>
              <a:buChar char="●"/>
            </a:pPr>
            <a:r>
              <a:rPr lang="de-CH" sz="1600">
                <a:solidFill>
                  <a:srgbClr val="000000"/>
                </a:solidFill>
                <a:latin typeface="Spectral"/>
                <a:ea typeface="Spectral"/>
                <a:cs typeface="Spectral"/>
                <a:sym typeface="Spectral"/>
              </a:rPr>
              <a:t>Comparing full array</a:t>
            </a:r>
            <a:br>
              <a:rPr lang="de-CH" sz="1600">
                <a:solidFill>
                  <a:srgbClr val="000000"/>
                </a:solidFill>
                <a:latin typeface="Spectral"/>
                <a:ea typeface="Spectral"/>
                <a:cs typeface="Spectral"/>
                <a:sym typeface="Spectral"/>
              </a:rPr>
            </a:br>
            <a:r>
              <a:rPr lang="de-CH" sz="1600">
                <a:solidFill>
                  <a:srgbClr val="0000FF"/>
                </a:solidFill>
                <a:latin typeface="Spectral"/>
                <a:ea typeface="Spectral"/>
                <a:cs typeface="Spectral"/>
                <a:sym typeface="Spectral"/>
              </a:rPr>
              <a:t>np.array_equal(a,b)</a:t>
            </a:r>
            <a:endParaRPr sz="1600">
              <a:solidFill>
                <a:srgbClr val="0000FF"/>
              </a:solidFill>
              <a:latin typeface="Spectral"/>
              <a:ea typeface="Spectral"/>
              <a:cs typeface="Spectral"/>
              <a:sym typeface="Spectra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18"/>
        <p:cNvGrpSpPr/>
        <p:nvPr/>
      </p:nvGrpSpPr>
      <p:grpSpPr>
        <a:xfrm>
          <a:off x="0" y="0"/>
          <a:ext cx="0" cy="0"/>
          <a:chOff x="0" y="0"/>
          <a:chExt cx="0" cy="0"/>
        </a:xfrm>
      </p:grpSpPr>
      <p:sp>
        <p:nvSpPr>
          <p:cNvPr id="319" name="Google Shape;319;p55"/>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Array BroadCasting..</a:t>
            </a:r>
            <a:endParaRPr/>
          </a:p>
        </p:txBody>
      </p:sp>
      <p:sp>
        <p:nvSpPr>
          <p:cNvPr id="320" name="Google Shape;320;p55"/>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434343"/>
              </a:buClr>
              <a:buSzPts val="1800"/>
              <a:buFont typeface="Spectral"/>
              <a:buChar char="●"/>
            </a:pPr>
            <a:r>
              <a:rPr lang="de-CH">
                <a:solidFill>
                  <a:srgbClr val="434343"/>
                </a:solidFill>
                <a:latin typeface="Spectral"/>
                <a:ea typeface="Spectral"/>
                <a:cs typeface="Spectral"/>
                <a:sym typeface="Spectral"/>
              </a:rPr>
              <a:t>When doing aggregate functions with array if both array is not in the same shape the lower shape array will expand to accomplish the function</a:t>
            </a:r>
            <a:endParaRPr>
              <a:solidFill>
                <a:srgbClr val="434343"/>
              </a:solidFill>
              <a:latin typeface="Spectral"/>
              <a:ea typeface="Spectral"/>
              <a:cs typeface="Spectral"/>
              <a:sym typeface="Spectral"/>
            </a:endParaRPr>
          </a:p>
          <a:p>
            <a:pPr marL="0" lvl="0" indent="0" algn="l" rtl="0">
              <a:spcBef>
                <a:spcPts val="1600"/>
              </a:spcBef>
              <a:spcAft>
                <a:spcPts val="0"/>
              </a:spcAft>
              <a:buClr>
                <a:schemeClr val="dk1"/>
              </a:buClr>
              <a:buSzPts val="1100"/>
              <a:buFont typeface="Arial"/>
              <a:buNone/>
            </a:pPr>
            <a:r>
              <a:rPr lang="de-CH">
                <a:solidFill>
                  <a:srgbClr val="0000FF"/>
                </a:solidFill>
                <a:latin typeface="Spectral"/>
                <a:ea typeface="Spectral"/>
                <a:cs typeface="Spectral"/>
                <a:sym typeface="Spectral"/>
              </a:rPr>
              <a:t>aa=np.array([[1,2,3],[4,5,6],[7,8,9]])</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bb=np.array([[2,3,4]])</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np.sum((aa,bb))</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np.subtract(aa,bb)</a:t>
            </a:r>
            <a:endParaRPr>
              <a:solidFill>
                <a:srgbClr val="0000FF"/>
              </a:solidFill>
              <a:latin typeface="Spectral"/>
              <a:ea typeface="Spectral"/>
              <a:cs typeface="Spectral"/>
              <a:sym typeface="Spectral"/>
            </a:endParaRPr>
          </a:p>
          <a:p>
            <a:pPr marL="0" lvl="0" indent="0" algn="l" rtl="0">
              <a:spcBef>
                <a:spcPts val="1600"/>
              </a:spcBef>
              <a:spcAft>
                <a:spcPts val="1600"/>
              </a:spcAft>
              <a:buNone/>
            </a:pP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56"/>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Split array..</a:t>
            </a:r>
            <a:endParaRPr/>
          </a:p>
        </p:txBody>
      </p:sp>
      <p:sp>
        <p:nvSpPr>
          <p:cNvPr id="326" name="Google Shape;326;p56"/>
          <p:cNvSpPr txBox="1">
            <a:spLocks noGrp="1"/>
          </p:cNvSpPr>
          <p:nvPr>
            <p:ph type="body" idx="1"/>
          </p:nvPr>
        </p:nvSpPr>
        <p:spPr>
          <a:xfrm>
            <a:off x="187775" y="1258775"/>
            <a:ext cx="85206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sz="1400">
                <a:solidFill>
                  <a:srgbClr val="4A86E8"/>
                </a:solidFill>
                <a:latin typeface="Spectral"/>
                <a:ea typeface="Spectral"/>
                <a:cs typeface="Spectral"/>
                <a:sym typeface="Spectral"/>
              </a:rPr>
              <a:t>aaa=np.array([[1,2,3],[4,5,6],[7,8,9]])</a:t>
            </a:r>
            <a:br>
              <a:rPr lang="de-CH" sz="1400">
                <a:latin typeface="Spectral"/>
                <a:ea typeface="Spectral"/>
                <a:cs typeface="Spectral"/>
                <a:sym typeface="Spectral"/>
              </a:rPr>
            </a:br>
            <a:r>
              <a:rPr lang="de-CH" sz="1400">
                <a:solidFill>
                  <a:srgbClr val="E69138"/>
                </a:solidFill>
                <a:highlight>
                  <a:srgbClr val="FFFFFF"/>
                </a:highlight>
                <a:latin typeface="Arial"/>
                <a:ea typeface="Arial"/>
                <a:cs typeface="Arial"/>
                <a:sym typeface="Arial"/>
              </a:rPr>
              <a:t>[[1 2 3]</a:t>
            </a:r>
            <a:br>
              <a:rPr lang="de-CH" sz="1400">
                <a:solidFill>
                  <a:srgbClr val="E69138"/>
                </a:solidFill>
                <a:highlight>
                  <a:srgbClr val="FFFFFF"/>
                </a:highlight>
                <a:latin typeface="Arial"/>
                <a:ea typeface="Arial"/>
                <a:cs typeface="Arial"/>
                <a:sym typeface="Arial"/>
              </a:rPr>
            </a:br>
            <a:r>
              <a:rPr lang="de-CH" sz="1400">
                <a:solidFill>
                  <a:srgbClr val="E69138"/>
                </a:solidFill>
                <a:highlight>
                  <a:srgbClr val="FFFFFF"/>
                </a:highlight>
                <a:latin typeface="Arial"/>
                <a:ea typeface="Arial"/>
                <a:cs typeface="Arial"/>
                <a:sym typeface="Arial"/>
              </a:rPr>
              <a:t> [4 5 6]</a:t>
            </a:r>
            <a:br>
              <a:rPr lang="de-CH" sz="1400">
                <a:solidFill>
                  <a:srgbClr val="E69138"/>
                </a:solidFill>
                <a:highlight>
                  <a:srgbClr val="FFFFFF"/>
                </a:highlight>
                <a:latin typeface="Arial"/>
                <a:ea typeface="Arial"/>
                <a:cs typeface="Arial"/>
                <a:sym typeface="Arial"/>
              </a:rPr>
            </a:br>
            <a:r>
              <a:rPr lang="de-CH" sz="1400">
                <a:solidFill>
                  <a:srgbClr val="E69138"/>
                </a:solidFill>
                <a:highlight>
                  <a:srgbClr val="FFFFFF"/>
                </a:highlight>
                <a:latin typeface="Arial"/>
                <a:ea typeface="Arial"/>
                <a:cs typeface="Arial"/>
                <a:sym typeface="Arial"/>
              </a:rPr>
              <a:t> [7 8 9]]</a:t>
            </a:r>
            <a:endParaRPr sz="1400">
              <a:solidFill>
                <a:srgbClr val="E69138"/>
              </a:solidFill>
              <a:highlight>
                <a:srgbClr val="FFFFFF"/>
              </a:highlight>
              <a:latin typeface="Arial"/>
              <a:ea typeface="Arial"/>
              <a:cs typeface="Arial"/>
              <a:sym typeface="Arial"/>
            </a:endParaRPr>
          </a:p>
          <a:p>
            <a:pPr marL="0" lvl="0" indent="0" algn="l" rtl="0">
              <a:spcBef>
                <a:spcPts val="1600"/>
              </a:spcBef>
              <a:spcAft>
                <a:spcPts val="0"/>
              </a:spcAft>
              <a:buNone/>
            </a:pPr>
            <a:r>
              <a:rPr lang="de-CH" sz="1400" b="1">
                <a:solidFill>
                  <a:srgbClr val="000000"/>
                </a:solidFill>
                <a:highlight>
                  <a:srgbClr val="FFFFFF"/>
                </a:highlight>
                <a:latin typeface="Arial"/>
                <a:ea typeface="Arial"/>
                <a:cs typeface="Arial"/>
                <a:sym typeface="Arial"/>
              </a:rPr>
              <a:t>AS PASSING INDEX</a:t>
            </a:r>
            <a:endParaRPr sz="1400" b="1">
              <a:solidFill>
                <a:srgbClr val="000000"/>
              </a:solidFill>
              <a:highlight>
                <a:srgbClr val="FFFFFF"/>
              </a:highlight>
              <a:latin typeface="Arial"/>
              <a:ea typeface="Arial"/>
              <a:cs typeface="Arial"/>
              <a:sym typeface="Arial"/>
            </a:endParaRPr>
          </a:p>
          <a:p>
            <a:pPr marL="0" lvl="0" indent="0" algn="l" rtl="0">
              <a:spcBef>
                <a:spcPts val="1600"/>
              </a:spcBef>
              <a:spcAft>
                <a:spcPts val="0"/>
              </a:spcAft>
              <a:buNone/>
            </a:pPr>
            <a:r>
              <a:rPr lang="de-CH" sz="1400">
                <a:solidFill>
                  <a:srgbClr val="4A86E8"/>
                </a:solidFill>
                <a:highlight>
                  <a:srgbClr val="FFFFFF"/>
                </a:highlight>
                <a:latin typeface="Spectral"/>
                <a:ea typeface="Spectral"/>
                <a:cs typeface="Spectral"/>
                <a:sym typeface="Spectral"/>
              </a:rPr>
              <a:t>np.split(aaa,3,axis=0)</a:t>
            </a:r>
            <a:br>
              <a:rPr lang="de-CH" sz="1400">
                <a:solidFill>
                  <a:srgbClr val="4A86E8"/>
                </a:solidFill>
                <a:highlight>
                  <a:srgbClr val="FFFFFF"/>
                </a:highlight>
                <a:latin typeface="Spectral"/>
                <a:ea typeface="Spectral"/>
                <a:cs typeface="Spectral"/>
                <a:sym typeface="Spectral"/>
              </a:rPr>
            </a:br>
            <a:r>
              <a:rPr lang="de-CH" sz="1400">
                <a:solidFill>
                  <a:srgbClr val="4A86E8"/>
                </a:solidFill>
                <a:highlight>
                  <a:srgbClr val="FFFFFF"/>
                </a:highlight>
                <a:latin typeface="Spectral"/>
                <a:ea typeface="Spectral"/>
                <a:cs typeface="Spectral"/>
                <a:sym typeface="Spectral"/>
              </a:rPr>
              <a:t>np.split(aaa,3,axis=1)</a:t>
            </a:r>
            <a:endParaRPr sz="1400">
              <a:solidFill>
                <a:srgbClr val="4A86E8"/>
              </a:solidFill>
              <a:highlight>
                <a:srgbClr val="FFFFFF"/>
              </a:highlight>
              <a:latin typeface="Spectral"/>
              <a:ea typeface="Spectral"/>
              <a:cs typeface="Spectral"/>
              <a:sym typeface="Spectral"/>
            </a:endParaRPr>
          </a:p>
          <a:p>
            <a:pPr marL="0" lvl="0" indent="0" algn="l" rtl="0">
              <a:spcBef>
                <a:spcPts val="1600"/>
              </a:spcBef>
              <a:spcAft>
                <a:spcPts val="0"/>
              </a:spcAft>
              <a:buNone/>
            </a:pPr>
            <a:r>
              <a:rPr lang="de-CH" sz="1400">
                <a:solidFill>
                  <a:srgbClr val="000000"/>
                </a:solidFill>
                <a:highlight>
                  <a:srgbClr val="FFFFFF"/>
                </a:highlight>
                <a:latin typeface="Spectral"/>
                <a:ea typeface="Spectral"/>
                <a:cs typeface="Spectral"/>
                <a:sym typeface="Spectral"/>
              </a:rPr>
              <a:t>AS PASSING LIST</a:t>
            </a:r>
            <a:endParaRPr sz="1400">
              <a:solidFill>
                <a:srgbClr val="000000"/>
              </a:solidFill>
              <a:highlight>
                <a:srgbClr val="FFFFFF"/>
              </a:highlight>
              <a:latin typeface="Spectral"/>
              <a:ea typeface="Spectral"/>
              <a:cs typeface="Spectral"/>
              <a:sym typeface="Spectral"/>
            </a:endParaRPr>
          </a:p>
          <a:p>
            <a:pPr marL="0" lvl="0" indent="0" algn="l" rtl="0">
              <a:spcBef>
                <a:spcPts val="1600"/>
              </a:spcBef>
              <a:spcAft>
                <a:spcPts val="0"/>
              </a:spcAft>
              <a:buNone/>
            </a:pPr>
            <a:r>
              <a:rPr lang="de-CH" sz="1400">
                <a:solidFill>
                  <a:srgbClr val="4A86E8"/>
                </a:solidFill>
                <a:highlight>
                  <a:srgbClr val="FFFFFF"/>
                </a:highlight>
                <a:latin typeface="Spectral"/>
                <a:ea typeface="Spectral"/>
                <a:cs typeface="Spectral"/>
                <a:sym typeface="Spectral"/>
              </a:rPr>
              <a:t>np.split(aaa,[1,3],axis=0)</a:t>
            </a:r>
            <a:br>
              <a:rPr lang="de-CH" sz="1400">
                <a:solidFill>
                  <a:srgbClr val="4A86E8"/>
                </a:solidFill>
                <a:highlight>
                  <a:srgbClr val="FFFFFF"/>
                </a:highlight>
                <a:latin typeface="Spectral"/>
                <a:ea typeface="Spectral"/>
                <a:cs typeface="Spectral"/>
                <a:sym typeface="Spectral"/>
              </a:rPr>
            </a:br>
            <a:r>
              <a:rPr lang="de-CH" sz="1400">
                <a:solidFill>
                  <a:srgbClr val="4A86E8"/>
                </a:solidFill>
                <a:highlight>
                  <a:srgbClr val="FFFFFF"/>
                </a:highlight>
                <a:latin typeface="Spectral"/>
                <a:ea typeface="Spectral"/>
                <a:cs typeface="Spectral"/>
                <a:sym typeface="Spectral"/>
              </a:rPr>
              <a:t>np.split(aaa,[1,3],axis=1)</a:t>
            </a:r>
            <a:endParaRPr sz="1400">
              <a:solidFill>
                <a:srgbClr val="4A86E8"/>
              </a:solidFill>
              <a:highlight>
                <a:srgbClr val="FFFFFF"/>
              </a:highlight>
              <a:latin typeface="Spectral"/>
              <a:ea typeface="Spectral"/>
              <a:cs typeface="Spectral"/>
              <a:sym typeface="Spectral"/>
            </a:endParaRPr>
          </a:p>
          <a:p>
            <a:pPr marL="0" lvl="0" indent="0" algn="l" rtl="0">
              <a:spcBef>
                <a:spcPts val="1600"/>
              </a:spcBef>
              <a:spcAft>
                <a:spcPts val="0"/>
              </a:spcAft>
              <a:buNone/>
            </a:pPr>
            <a:endParaRPr sz="1050">
              <a:highlight>
                <a:srgbClr val="FFFFFF"/>
              </a:highlight>
              <a:latin typeface="Arial"/>
              <a:ea typeface="Arial"/>
              <a:cs typeface="Arial"/>
              <a:sym typeface="Arial"/>
            </a:endParaRPr>
          </a:p>
          <a:p>
            <a:pPr marL="0" lvl="0" indent="0" algn="l" rtl="0">
              <a:spcBef>
                <a:spcPts val="1600"/>
              </a:spcBef>
              <a:spcAft>
                <a:spcPts val="1600"/>
              </a:spcAft>
              <a:buNone/>
            </a:pP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30"/>
        <p:cNvGrpSpPr/>
        <p:nvPr/>
      </p:nvGrpSpPr>
      <p:grpSpPr>
        <a:xfrm>
          <a:off x="0" y="0"/>
          <a:ext cx="0" cy="0"/>
          <a:chOff x="0" y="0"/>
          <a:chExt cx="0" cy="0"/>
        </a:xfrm>
      </p:grpSpPr>
      <p:sp>
        <p:nvSpPr>
          <p:cNvPr id="331" name="Google Shape;331;p57"/>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Split continues..</a:t>
            </a:r>
            <a:endParaRPr/>
          </a:p>
        </p:txBody>
      </p:sp>
      <p:sp>
        <p:nvSpPr>
          <p:cNvPr id="332" name="Google Shape;332;p57"/>
          <p:cNvSpPr txBox="1">
            <a:spLocks noGrp="1"/>
          </p:cNvSpPr>
          <p:nvPr>
            <p:ph type="body" idx="1"/>
          </p:nvPr>
        </p:nvSpPr>
        <p:spPr>
          <a:xfrm>
            <a:off x="311700" y="1225225"/>
            <a:ext cx="8520600" cy="3562800"/>
          </a:xfrm>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de-CH" b="1">
                <a:latin typeface="Spectral"/>
                <a:ea typeface="Spectral"/>
                <a:cs typeface="Spectral"/>
                <a:sym typeface="Spectral"/>
              </a:rPr>
              <a:t>Passed Index=[a,b]</a:t>
            </a:r>
            <a:endParaRPr b="1">
              <a:latin typeface="Spectral"/>
              <a:ea typeface="Spectral"/>
              <a:cs typeface="Spectral"/>
              <a:sym typeface="Spectral"/>
            </a:endParaRPr>
          </a:p>
          <a:p>
            <a:pPr marL="0" lvl="0" indent="0" algn="l" rtl="0">
              <a:lnSpc>
                <a:spcPct val="100000"/>
              </a:lnSpc>
              <a:spcBef>
                <a:spcPts val="0"/>
              </a:spcBef>
              <a:spcAft>
                <a:spcPts val="0"/>
              </a:spcAft>
              <a:buNone/>
            </a:pPr>
            <a:endParaRPr b="1">
              <a:latin typeface="Spectral"/>
              <a:ea typeface="Spectral"/>
              <a:cs typeface="Spectral"/>
              <a:sym typeface="Spectral"/>
            </a:endParaRPr>
          </a:p>
          <a:p>
            <a:pPr marL="0" lvl="0" indent="0" algn="l" rtl="0">
              <a:lnSpc>
                <a:spcPct val="100000"/>
              </a:lnSpc>
              <a:spcBef>
                <a:spcPts val="0"/>
              </a:spcBef>
              <a:spcAft>
                <a:spcPts val="0"/>
              </a:spcAft>
              <a:buClr>
                <a:schemeClr val="dk1"/>
              </a:buClr>
              <a:buSzPts val="1100"/>
              <a:buFont typeface="Arial"/>
              <a:buNone/>
            </a:pPr>
            <a:r>
              <a:rPr lang="de-CH" b="1">
                <a:latin typeface="Spectral"/>
                <a:ea typeface="Spectral"/>
                <a:cs typeface="Spectral"/>
                <a:sym typeface="Spectral"/>
              </a:rPr>
              <a:t>axis=0</a:t>
            </a:r>
            <a:endParaRPr b="1">
              <a:latin typeface="Spectral"/>
              <a:ea typeface="Spectral"/>
              <a:cs typeface="Spectral"/>
              <a:sym typeface="Spectral"/>
            </a:endParaRPr>
          </a:p>
          <a:p>
            <a:pPr marL="0" lvl="0" indent="0" algn="l" rtl="0">
              <a:lnSpc>
                <a:spcPct val="100000"/>
              </a:lnSpc>
              <a:spcBef>
                <a:spcPts val="0"/>
              </a:spcBef>
              <a:spcAft>
                <a:spcPts val="0"/>
              </a:spcAft>
              <a:buClr>
                <a:schemeClr val="dk1"/>
              </a:buClr>
              <a:buSzPts val="1100"/>
              <a:buFont typeface="Arial"/>
              <a:buNone/>
            </a:pPr>
            <a:r>
              <a:rPr lang="de-CH" b="1">
                <a:latin typeface="Spectral"/>
                <a:ea typeface="Spectral"/>
                <a:cs typeface="Spectral"/>
                <a:sym typeface="Spectral"/>
              </a:rPr>
              <a:t>Arr[:a,:]</a:t>
            </a:r>
            <a:endParaRPr b="1">
              <a:latin typeface="Spectral"/>
              <a:ea typeface="Spectral"/>
              <a:cs typeface="Spectral"/>
              <a:sym typeface="Spectral"/>
            </a:endParaRPr>
          </a:p>
          <a:p>
            <a:pPr marL="0" lvl="0" indent="0" algn="l" rtl="0">
              <a:lnSpc>
                <a:spcPct val="100000"/>
              </a:lnSpc>
              <a:spcBef>
                <a:spcPts val="0"/>
              </a:spcBef>
              <a:spcAft>
                <a:spcPts val="0"/>
              </a:spcAft>
              <a:buClr>
                <a:schemeClr val="dk1"/>
              </a:buClr>
              <a:buSzPts val="1100"/>
              <a:buFont typeface="Arial"/>
              <a:buNone/>
            </a:pPr>
            <a:r>
              <a:rPr lang="de-CH" b="1">
                <a:latin typeface="Spectral"/>
                <a:ea typeface="Spectral"/>
                <a:cs typeface="Spectral"/>
                <a:sym typeface="Spectral"/>
              </a:rPr>
              <a:t>Arr[a:b,:]</a:t>
            </a:r>
            <a:endParaRPr b="1">
              <a:latin typeface="Spectral"/>
              <a:ea typeface="Spectral"/>
              <a:cs typeface="Spectral"/>
              <a:sym typeface="Spectral"/>
            </a:endParaRPr>
          </a:p>
          <a:p>
            <a:pPr marL="0" lvl="0" indent="0" algn="l" rtl="0">
              <a:lnSpc>
                <a:spcPct val="100000"/>
              </a:lnSpc>
              <a:spcBef>
                <a:spcPts val="0"/>
              </a:spcBef>
              <a:spcAft>
                <a:spcPts val="0"/>
              </a:spcAft>
              <a:buNone/>
            </a:pPr>
            <a:r>
              <a:rPr lang="de-CH" b="1">
                <a:latin typeface="Spectral"/>
                <a:ea typeface="Spectral"/>
                <a:cs typeface="Spectral"/>
                <a:sym typeface="Spectral"/>
              </a:rPr>
              <a:t>Arr[b:,:]</a:t>
            </a:r>
            <a:endParaRPr b="1">
              <a:latin typeface="Spectral"/>
              <a:ea typeface="Spectral"/>
              <a:cs typeface="Spectral"/>
              <a:sym typeface="Spectral"/>
            </a:endParaRPr>
          </a:p>
          <a:p>
            <a:pPr marL="0" lvl="0" indent="0" algn="l" rtl="0">
              <a:lnSpc>
                <a:spcPct val="100000"/>
              </a:lnSpc>
              <a:spcBef>
                <a:spcPts val="0"/>
              </a:spcBef>
              <a:spcAft>
                <a:spcPts val="0"/>
              </a:spcAft>
              <a:buNone/>
            </a:pPr>
            <a:endParaRPr b="1">
              <a:latin typeface="Spectral"/>
              <a:ea typeface="Spectral"/>
              <a:cs typeface="Spectral"/>
              <a:sym typeface="Spectral"/>
            </a:endParaRPr>
          </a:p>
          <a:p>
            <a:pPr marL="0" lvl="0" indent="0" algn="l" rtl="0">
              <a:lnSpc>
                <a:spcPct val="100000"/>
              </a:lnSpc>
              <a:spcBef>
                <a:spcPts val="0"/>
              </a:spcBef>
              <a:spcAft>
                <a:spcPts val="0"/>
              </a:spcAft>
              <a:buNone/>
            </a:pPr>
            <a:r>
              <a:rPr lang="de-CH" b="1">
                <a:latin typeface="Spectral"/>
                <a:ea typeface="Spectral"/>
                <a:cs typeface="Spectral"/>
                <a:sym typeface="Spectral"/>
              </a:rPr>
              <a:t>axis=1</a:t>
            </a:r>
            <a:endParaRPr b="1">
              <a:latin typeface="Spectral"/>
              <a:ea typeface="Spectral"/>
              <a:cs typeface="Spectral"/>
              <a:sym typeface="Spectral"/>
            </a:endParaRPr>
          </a:p>
          <a:p>
            <a:pPr marL="0" lvl="0" indent="0" algn="l" rtl="0">
              <a:lnSpc>
                <a:spcPct val="100000"/>
              </a:lnSpc>
              <a:spcBef>
                <a:spcPts val="0"/>
              </a:spcBef>
              <a:spcAft>
                <a:spcPts val="0"/>
              </a:spcAft>
              <a:buNone/>
            </a:pPr>
            <a:endParaRPr b="1">
              <a:latin typeface="Spectral"/>
              <a:ea typeface="Spectral"/>
              <a:cs typeface="Spectral"/>
              <a:sym typeface="Spectral"/>
            </a:endParaRPr>
          </a:p>
          <a:p>
            <a:pPr marL="0" lvl="0" indent="0" algn="l" rtl="0">
              <a:lnSpc>
                <a:spcPct val="100000"/>
              </a:lnSpc>
              <a:spcBef>
                <a:spcPts val="0"/>
              </a:spcBef>
              <a:spcAft>
                <a:spcPts val="0"/>
              </a:spcAft>
              <a:buNone/>
            </a:pPr>
            <a:r>
              <a:rPr lang="de-CH" b="1">
                <a:latin typeface="Spectral"/>
                <a:ea typeface="Spectral"/>
                <a:cs typeface="Spectral"/>
                <a:sym typeface="Spectral"/>
              </a:rPr>
              <a:t>Arr[:,:a]</a:t>
            </a:r>
            <a:endParaRPr b="1">
              <a:latin typeface="Spectral"/>
              <a:ea typeface="Spectral"/>
              <a:cs typeface="Spectral"/>
              <a:sym typeface="Spectral"/>
            </a:endParaRPr>
          </a:p>
          <a:p>
            <a:pPr marL="0" lvl="0" indent="0" algn="l" rtl="0">
              <a:lnSpc>
                <a:spcPct val="100000"/>
              </a:lnSpc>
              <a:spcBef>
                <a:spcPts val="0"/>
              </a:spcBef>
              <a:spcAft>
                <a:spcPts val="0"/>
              </a:spcAft>
              <a:buNone/>
            </a:pPr>
            <a:r>
              <a:rPr lang="de-CH" b="1">
                <a:latin typeface="Spectral"/>
                <a:ea typeface="Spectral"/>
                <a:cs typeface="Spectral"/>
                <a:sym typeface="Spectral"/>
              </a:rPr>
              <a:t>Arr[:,a:b]</a:t>
            </a:r>
            <a:endParaRPr b="1">
              <a:latin typeface="Spectral"/>
              <a:ea typeface="Spectral"/>
              <a:cs typeface="Spectral"/>
              <a:sym typeface="Spectral"/>
            </a:endParaRPr>
          </a:p>
          <a:p>
            <a:pPr marL="0" lvl="0" indent="0" algn="l" rtl="0">
              <a:lnSpc>
                <a:spcPct val="100000"/>
              </a:lnSpc>
              <a:spcBef>
                <a:spcPts val="0"/>
              </a:spcBef>
              <a:spcAft>
                <a:spcPts val="0"/>
              </a:spcAft>
              <a:buClr>
                <a:schemeClr val="dk1"/>
              </a:buClr>
              <a:buSzPts val="1100"/>
              <a:buFont typeface="Arial"/>
              <a:buNone/>
            </a:pPr>
            <a:r>
              <a:rPr lang="de-CH" b="1">
                <a:latin typeface="Spectral"/>
                <a:ea typeface="Spectral"/>
                <a:cs typeface="Spectral"/>
                <a:sym typeface="Spectral"/>
              </a:rPr>
              <a:t>arr[:,a:]</a:t>
            </a:r>
            <a:endParaRPr b="1">
              <a:latin typeface="Spectral"/>
              <a:ea typeface="Spectral"/>
              <a:cs typeface="Spectral"/>
              <a:sym typeface="Spectr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36"/>
        <p:cNvGrpSpPr/>
        <p:nvPr/>
      </p:nvGrpSpPr>
      <p:grpSpPr>
        <a:xfrm>
          <a:off x="0" y="0"/>
          <a:ext cx="0" cy="0"/>
          <a:chOff x="0" y="0"/>
          <a:chExt cx="0" cy="0"/>
        </a:xfrm>
      </p:grpSpPr>
      <p:sp>
        <p:nvSpPr>
          <p:cNvPr id="337" name="Google Shape;337;p58"/>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exercises..</a:t>
            </a:r>
            <a:endParaRPr/>
          </a:p>
        </p:txBody>
      </p:sp>
      <p:sp>
        <p:nvSpPr>
          <p:cNvPr id="338" name="Google Shape;338;p58"/>
          <p:cNvSpPr txBox="1">
            <a:spLocks noGrp="1"/>
          </p:cNvSpPr>
          <p:nvPr>
            <p:ph type="body" idx="1"/>
          </p:nvPr>
        </p:nvSpPr>
        <p:spPr>
          <a:xfrm>
            <a:off x="311700" y="841725"/>
            <a:ext cx="8520600" cy="4402200"/>
          </a:xfrm>
          <a:prstGeom prst="rect">
            <a:avLst/>
          </a:prstGeom>
        </p:spPr>
        <p:txBody>
          <a:bodyPr spcFirstLastPara="1" wrap="square" lIns="91425" tIns="91425" rIns="91425" bIns="91425" anchor="t" anchorCtr="0">
            <a:noAutofit/>
          </a:bodyPr>
          <a:lstStyle/>
          <a:p>
            <a:pPr marL="457200" lvl="0" indent="-342900" algn="l" rtl="0">
              <a:lnSpc>
                <a:spcPct val="100000"/>
              </a:lnSpc>
              <a:spcBef>
                <a:spcPts val="0"/>
              </a:spcBef>
              <a:spcAft>
                <a:spcPts val="0"/>
              </a:spcAft>
              <a:buSzPts val="1800"/>
              <a:buFont typeface="Arial"/>
              <a:buChar char="●"/>
            </a:pPr>
            <a:r>
              <a:rPr lang="de-CH">
                <a:highlight>
                  <a:srgbClr val="FFFFFF"/>
                </a:highlight>
                <a:latin typeface="Arial"/>
                <a:ea typeface="Arial"/>
                <a:cs typeface="Arial"/>
                <a:sym typeface="Arial"/>
              </a:rPr>
              <a:t>Write a NumPy program to create a 3x3 matrix with values ranging from 2 to 10</a:t>
            </a:r>
            <a:endParaRPr>
              <a:highlight>
                <a:srgbClr val="FFFFFF"/>
              </a:highlight>
              <a:latin typeface="Arial"/>
              <a:ea typeface="Arial"/>
              <a:cs typeface="Arial"/>
              <a:sym typeface="Arial"/>
            </a:endParaRPr>
          </a:p>
          <a:p>
            <a:pPr marL="457200" lvl="0" indent="-342900" algn="l" rtl="0">
              <a:lnSpc>
                <a:spcPct val="100000"/>
              </a:lnSpc>
              <a:spcBef>
                <a:spcPts val="0"/>
              </a:spcBef>
              <a:spcAft>
                <a:spcPts val="0"/>
              </a:spcAft>
              <a:buSzPts val="1800"/>
              <a:buFont typeface="Arial"/>
              <a:buChar char="●"/>
            </a:pPr>
            <a:r>
              <a:rPr lang="de-CH">
                <a:highlight>
                  <a:srgbClr val="FFFFFF"/>
                </a:highlight>
                <a:latin typeface="Arial"/>
                <a:ea typeface="Arial"/>
                <a:cs typeface="Arial"/>
                <a:sym typeface="Arial"/>
              </a:rPr>
              <a:t>Write a NumPy program to get the unique elements of an array</a:t>
            </a:r>
            <a:endParaRPr>
              <a:highlight>
                <a:srgbClr val="FFFFFF"/>
              </a:highlight>
              <a:latin typeface="Arial"/>
              <a:ea typeface="Arial"/>
              <a:cs typeface="Arial"/>
              <a:sym typeface="Arial"/>
            </a:endParaRPr>
          </a:p>
          <a:p>
            <a:pPr marL="457200" lvl="0" indent="-342900" algn="l" rtl="0">
              <a:lnSpc>
                <a:spcPct val="100000"/>
              </a:lnSpc>
              <a:spcBef>
                <a:spcPts val="0"/>
              </a:spcBef>
              <a:spcAft>
                <a:spcPts val="0"/>
              </a:spcAft>
              <a:buSzPts val="1800"/>
              <a:buFont typeface="Arial"/>
              <a:buChar char="●"/>
            </a:pPr>
            <a:r>
              <a:rPr lang="de-CH">
                <a:highlight>
                  <a:srgbClr val="FFFFFF"/>
                </a:highlight>
                <a:latin typeface="Arial"/>
                <a:ea typeface="Arial"/>
                <a:cs typeface="Arial"/>
                <a:sym typeface="Arial"/>
              </a:rPr>
              <a:t>Write a NumPy program to find the union of two arrays. Union will return the unique, sorted array of values that are in either of the two input arrays.</a:t>
            </a:r>
            <a:endParaRPr>
              <a:highlight>
                <a:srgbClr val="FFFFFF"/>
              </a:highlight>
              <a:latin typeface="Arial"/>
              <a:ea typeface="Arial"/>
              <a:cs typeface="Arial"/>
              <a:sym typeface="Arial"/>
            </a:endParaRPr>
          </a:p>
          <a:p>
            <a:pPr marL="457200" lvl="0" indent="-342900" algn="l" rtl="0">
              <a:lnSpc>
                <a:spcPct val="100000"/>
              </a:lnSpc>
              <a:spcBef>
                <a:spcPts val="0"/>
              </a:spcBef>
              <a:spcAft>
                <a:spcPts val="0"/>
              </a:spcAft>
              <a:buSzPts val="1800"/>
              <a:buFont typeface="Arial"/>
              <a:buChar char="●"/>
            </a:pPr>
            <a:r>
              <a:rPr lang="de-CH">
                <a:highlight>
                  <a:srgbClr val="FFFFFF"/>
                </a:highlight>
                <a:latin typeface="Arial"/>
                <a:ea typeface="Arial"/>
                <a:cs typeface="Arial"/>
                <a:sym typeface="Arial"/>
              </a:rPr>
              <a:t>Write a NumPy program to create a 2-dimensional array of size 2 x 3 (composed of 4-byte integer elements), also print the shape, type and data type of the array.</a:t>
            </a:r>
            <a:endParaRPr>
              <a:highlight>
                <a:srgbClr val="FFFFFF"/>
              </a:highlight>
              <a:latin typeface="Arial"/>
              <a:ea typeface="Arial"/>
              <a:cs typeface="Arial"/>
              <a:sym typeface="Arial"/>
            </a:endParaRPr>
          </a:p>
          <a:p>
            <a:pPr marL="457200" lvl="0" indent="-342900" algn="l" rtl="0">
              <a:lnSpc>
                <a:spcPct val="100000"/>
              </a:lnSpc>
              <a:spcBef>
                <a:spcPts val="0"/>
              </a:spcBef>
              <a:spcAft>
                <a:spcPts val="0"/>
              </a:spcAft>
              <a:buSzPts val="1800"/>
              <a:buFont typeface="Arial"/>
              <a:buChar char="●"/>
            </a:pPr>
            <a:r>
              <a:rPr lang="de-CH">
                <a:highlight>
                  <a:srgbClr val="FFFFFF"/>
                </a:highlight>
                <a:latin typeface="Arial"/>
                <a:ea typeface="Arial"/>
                <a:cs typeface="Arial"/>
                <a:sym typeface="Arial"/>
              </a:rPr>
              <a:t>Write a NumPy program to create a 2D array whose diagonal equals [4, 5, 6, 8] and 0's elsewhere.</a:t>
            </a:r>
            <a:endParaRPr>
              <a:highlight>
                <a:srgbClr val="FFFFFF"/>
              </a:highlight>
              <a:latin typeface="Arial"/>
              <a:ea typeface="Arial"/>
              <a:cs typeface="Arial"/>
              <a:sym typeface="Arial"/>
            </a:endParaRPr>
          </a:p>
          <a:p>
            <a:pPr marL="457200" lvl="0" indent="-342900" algn="l" rtl="0">
              <a:lnSpc>
                <a:spcPct val="100000"/>
              </a:lnSpc>
              <a:spcBef>
                <a:spcPts val="0"/>
              </a:spcBef>
              <a:spcAft>
                <a:spcPts val="0"/>
              </a:spcAft>
              <a:buSzPts val="1800"/>
              <a:buFont typeface="Arial"/>
              <a:buChar char="●"/>
            </a:pPr>
            <a:r>
              <a:rPr lang="de-CH">
                <a:highlight>
                  <a:srgbClr val="FFFFFF"/>
                </a:highlight>
                <a:latin typeface="Arial"/>
                <a:ea typeface="Arial"/>
                <a:cs typeface="Arial"/>
                <a:sym typeface="Arial"/>
              </a:rPr>
              <a:t>Write a NumPy program to create a null vector of size 6 (1D) and update sixth value to 9</a:t>
            </a:r>
            <a:endParaRPr>
              <a:highlight>
                <a:srgbClr val="FFFFFF"/>
              </a:highlight>
              <a:latin typeface="Arial"/>
              <a:ea typeface="Arial"/>
              <a:cs typeface="Arial"/>
              <a:sym typeface="Arial"/>
            </a:endParaRPr>
          </a:p>
          <a:p>
            <a:pPr marL="457200" lvl="0" indent="-342900" algn="l" rtl="0">
              <a:lnSpc>
                <a:spcPct val="100000"/>
              </a:lnSpc>
              <a:spcBef>
                <a:spcPts val="0"/>
              </a:spcBef>
              <a:spcAft>
                <a:spcPts val="0"/>
              </a:spcAft>
              <a:buSzPts val="1800"/>
              <a:buFont typeface="Arial"/>
              <a:buChar char="●"/>
            </a:pPr>
            <a:r>
              <a:rPr lang="de-CH">
                <a:highlight>
                  <a:srgbClr val="FFFFFF"/>
                </a:highlight>
                <a:latin typeface="Arial"/>
                <a:ea typeface="Arial"/>
                <a:cs typeface="Arial"/>
                <a:sym typeface="Arial"/>
              </a:rPr>
              <a:t>Write a NumPy program to create a array with values ranging from 12 to 39</a:t>
            </a:r>
            <a:endParaRPr>
              <a:highlight>
                <a:srgbClr val="FFFFFF"/>
              </a:highlight>
              <a:latin typeface="Arial"/>
              <a:ea typeface="Arial"/>
              <a:cs typeface="Arial"/>
              <a:sym typeface="Arial"/>
            </a:endParaRPr>
          </a:p>
          <a:p>
            <a:pPr marL="457200" lvl="0" indent="-342900" algn="l" rtl="0">
              <a:lnSpc>
                <a:spcPct val="100000"/>
              </a:lnSpc>
              <a:spcBef>
                <a:spcPts val="0"/>
              </a:spcBef>
              <a:spcAft>
                <a:spcPts val="0"/>
              </a:spcAft>
              <a:buSzPts val="1800"/>
              <a:buFont typeface="Arial"/>
              <a:buChar char="●"/>
            </a:pPr>
            <a:r>
              <a:rPr lang="de-CH">
                <a:highlight>
                  <a:srgbClr val="FFFFFF"/>
                </a:highlight>
                <a:latin typeface="Arial"/>
                <a:ea typeface="Arial"/>
                <a:cs typeface="Arial"/>
                <a:sym typeface="Arial"/>
              </a:rPr>
              <a:t>Write a NumPy program to reverse a 1D array (first element becomes last).</a:t>
            </a:r>
            <a:endParaRPr>
              <a:highlight>
                <a:srgbClr val="FFFFFF"/>
              </a:highlight>
              <a:latin typeface="Arial"/>
              <a:ea typeface="Arial"/>
              <a:cs typeface="Arial"/>
              <a:sym typeface="Arial"/>
            </a:endParaRPr>
          </a:p>
          <a:p>
            <a:pPr marL="0" lvl="0" indent="0" algn="l" rtl="0">
              <a:lnSpc>
                <a:spcPct val="100000"/>
              </a:lnSpc>
              <a:spcBef>
                <a:spcPts val="0"/>
              </a:spcBef>
              <a:spcAft>
                <a:spcPts val="0"/>
              </a:spcAft>
              <a:buNone/>
            </a:pPr>
            <a:endParaRPr>
              <a:highlight>
                <a:srgbClr val="FFFFFF"/>
              </a:highlight>
              <a:latin typeface="Arial"/>
              <a:ea typeface="Arial"/>
              <a:cs typeface="Arial"/>
              <a:sym typeface="Arial"/>
            </a:endParaRPr>
          </a:p>
        </p:txBody>
      </p:sp>
      <p:sp>
        <p:nvSpPr>
          <p:cNvPr id="339" name="Google Shape;339;p58"/>
          <p:cNvSpPr txBox="1"/>
          <p:nvPr/>
        </p:nvSpPr>
        <p:spPr>
          <a:xfrm>
            <a:off x="4143575" y="2493925"/>
            <a:ext cx="7341000" cy="856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59"/>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Exercise continues...</a:t>
            </a:r>
            <a:endParaRPr/>
          </a:p>
        </p:txBody>
      </p:sp>
      <p:sp>
        <p:nvSpPr>
          <p:cNvPr id="345" name="Google Shape;345;p59"/>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lnSpc>
                <a:spcPct val="100000"/>
              </a:lnSpc>
              <a:spcBef>
                <a:spcPts val="0"/>
              </a:spcBef>
              <a:spcAft>
                <a:spcPts val="0"/>
              </a:spcAft>
              <a:buSzPts val="1800"/>
              <a:buFont typeface="Arial"/>
              <a:buChar char="●"/>
            </a:pPr>
            <a:r>
              <a:rPr lang="de-CH">
                <a:highlight>
                  <a:schemeClr val="lt1"/>
                </a:highlight>
                <a:latin typeface="Arial"/>
                <a:ea typeface="Arial"/>
                <a:cs typeface="Arial"/>
                <a:sym typeface="Arial"/>
              </a:rPr>
              <a:t>Write a NumPy program to an array converted to a float type</a:t>
            </a:r>
            <a:endParaRPr>
              <a:highlight>
                <a:schemeClr val="lt1"/>
              </a:highlight>
              <a:latin typeface="Arial"/>
              <a:ea typeface="Arial"/>
              <a:cs typeface="Arial"/>
              <a:sym typeface="Arial"/>
            </a:endParaRPr>
          </a:p>
          <a:p>
            <a:pPr marL="457200" lvl="0" indent="-342900" algn="l" rtl="0">
              <a:lnSpc>
                <a:spcPct val="100000"/>
              </a:lnSpc>
              <a:spcBef>
                <a:spcPts val="0"/>
              </a:spcBef>
              <a:spcAft>
                <a:spcPts val="0"/>
              </a:spcAft>
              <a:buSzPts val="1800"/>
              <a:buFont typeface="Arial"/>
              <a:buChar char="●"/>
            </a:pPr>
            <a:r>
              <a:rPr lang="de-CH">
                <a:highlight>
                  <a:schemeClr val="lt1"/>
                </a:highlight>
                <a:latin typeface="Arial"/>
                <a:ea typeface="Arial"/>
                <a:cs typeface="Arial"/>
                <a:sym typeface="Arial"/>
              </a:rPr>
              <a:t>Write a NumPy program to create a 8x8 matrix and fill it with a checkerboard pattern</a:t>
            </a:r>
            <a:endParaRPr>
              <a:highlight>
                <a:schemeClr val="lt1"/>
              </a:highlight>
              <a:latin typeface="Arial"/>
              <a:ea typeface="Arial"/>
              <a:cs typeface="Arial"/>
              <a:sym typeface="Arial"/>
            </a:endParaRPr>
          </a:p>
          <a:p>
            <a:pPr marL="457200" lvl="0" indent="-342900" algn="l" rtl="0">
              <a:lnSpc>
                <a:spcPct val="100000"/>
              </a:lnSpc>
              <a:spcBef>
                <a:spcPts val="0"/>
              </a:spcBef>
              <a:spcAft>
                <a:spcPts val="0"/>
              </a:spcAft>
              <a:buSzPts val="1800"/>
              <a:buFont typeface="Arial"/>
              <a:buChar char="●"/>
            </a:pPr>
            <a:r>
              <a:rPr lang="de-CH">
                <a:highlight>
                  <a:schemeClr val="lt1"/>
                </a:highlight>
                <a:latin typeface="Arial"/>
                <a:ea typeface="Arial"/>
                <a:cs typeface="Arial"/>
                <a:sym typeface="Arial"/>
              </a:rPr>
              <a:t>Write a NumPy program to convert the values of Centigrade degrees into Fahrenheit degrees. Centigrade values are stored into a NumPy array</a:t>
            </a:r>
            <a:endParaRPr>
              <a:highlight>
                <a:schemeClr val="lt1"/>
              </a:highlight>
              <a:latin typeface="Arial"/>
              <a:ea typeface="Arial"/>
              <a:cs typeface="Arial"/>
              <a:sym typeface="Arial"/>
            </a:endParaRPr>
          </a:p>
          <a:p>
            <a:pPr marL="457200" lvl="0" indent="-342900" algn="l" rtl="0">
              <a:lnSpc>
                <a:spcPct val="100000"/>
              </a:lnSpc>
              <a:spcBef>
                <a:spcPts val="0"/>
              </a:spcBef>
              <a:spcAft>
                <a:spcPts val="0"/>
              </a:spcAft>
              <a:buSzPts val="1800"/>
              <a:buFont typeface="Arial"/>
              <a:buChar char="●"/>
            </a:pPr>
            <a:r>
              <a:rPr lang="de-CH">
                <a:highlight>
                  <a:schemeClr val="lt1"/>
                </a:highlight>
                <a:latin typeface="Arial"/>
                <a:ea typeface="Arial"/>
                <a:cs typeface="Arial"/>
                <a:sym typeface="Arial"/>
              </a:rPr>
              <a:t>Write a NumPy program to find the number of elements of an array, length of one array element in bytes and total bytes consumed by the elements.</a:t>
            </a:r>
            <a:endParaRPr>
              <a:highlight>
                <a:schemeClr val="lt1"/>
              </a:highlight>
              <a:latin typeface="Arial"/>
              <a:ea typeface="Arial"/>
              <a:cs typeface="Arial"/>
              <a:sym typeface="Arial"/>
            </a:endParaRPr>
          </a:p>
          <a:p>
            <a:pPr marL="457200" lvl="0" indent="-342900" algn="l" rtl="0">
              <a:lnSpc>
                <a:spcPct val="100000"/>
              </a:lnSpc>
              <a:spcBef>
                <a:spcPts val="0"/>
              </a:spcBef>
              <a:spcAft>
                <a:spcPts val="0"/>
              </a:spcAft>
              <a:buSzPts val="1800"/>
              <a:buFont typeface="Arial"/>
              <a:buChar char="●"/>
            </a:pPr>
            <a:r>
              <a:rPr lang="de-CH">
                <a:highlight>
                  <a:schemeClr val="lt1"/>
                </a:highlight>
                <a:latin typeface="Arial"/>
                <a:ea typeface="Arial"/>
                <a:cs typeface="Arial"/>
                <a:sym typeface="Arial"/>
              </a:rPr>
              <a:t>Write a NumPy program to test whether each element of a 1-D array is also present in a second array.</a:t>
            </a:r>
            <a:endParaRPr>
              <a:highlight>
                <a:schemeClr val="lt1"/>
              </a:highlight>
              <a:latin typeface="Arial"/>
              <a:ea typeface="Arial"/>
              <a:cs typeface="Arial"/>
              <a:sym typeface="Arial"/>
            </a:endParaRPr>
          </a:p>
          <a:p>
            <a:pPr marL="457200" lvl="0" indent="-342900" algn="l" rtl="0">
              <a:lnSpc>
                <a:spcPct val="100000"/>
              </a:lnSpc>
              <a:spcBef>
                <a:spcPts val="0"/>
              </a:spcBef>
              <a:spcAft>
                <a:spcPts val="0"/>
              </a:spcAft>
              <a:buSzPts val="1800"/>
              <a:buFont typeface="Arial"/>
              <a:buChar char="●"/>
            </a:pPr>
            <a:r>
              <a:rPr lang="de-CH">
                <a:highlight>
                  <a:schemeClr val="lt1"/>
                </a:highlight>
                <a:latin typeface="Arial"/>
                <a:ea typeface="Arial"/>
                <a:cs typeface="Arial"/>
                <a:sym typeface="Arial"/>
              </a:rPr>
              <a:t>Write a NumPy program to find common values between two arrays</a:t>
            </a:r>
            <a:endParaRPr>
              <a:highlight>
                <a:schemeClr val="lt1"/>
              </a:highlight>
              <a:latin typeface="Arial"/>
              <a:ea typeface="Arial"/>
              <a:cs typeface="Arial"/>
              <a:sym typeface="Arial"/>
            </a:endParaRPr>
          </a:p>
          <a:p>
            <a:pPr marL="0" lvl="0" indent="0" algn="l" rtl="0">
              <a:spcBef>
                <a:spcPts val="0"/>
              </a:spcBef>
              <a:spcAft>
                <a:spcPts val="1600"/>
              </a:spcAft>
              <a:buNone/>
            </a:pP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349"/>
        <p:cNvGrpSpPr/>
        <p:nvPr/>
      </p:nvGrpSpPr>
      <p:grpSpPr>
        <a:xfrm>
          <a:off x="0" y="0"/>
          <a:ext cx="0" cy="0"/>
          <a:chOff x="0" y="0"/>
          <a:chExt cx="0" cy="0"/>
        </a:xfrm>
      </p:grpSpPr>
      <p:sp>
        <p:nvSpPr>
          <p:cNvPr id="350" name="Google Shape;350;p60"/>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Exercises continues...</a:t>
            </a:r>
            <a:endParaRPr/>
          </a:p>
        </p:txBody>
      </p:sp>
      <p:sp>
        <p:nvSpPr>
          <p:cNvPr id="351" name="Google Shape;351;p60"/>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11150" algn="l" rtl="0">
              <a:spcBef>
                <a:spcPts val="0"/>
              </a:spcBef>
              <a:spcAft>
                <a:spcPts val="0"/>
              </a:spcAft>
              <a:buSzPts val="1300"/>
              <a:buFont typeface="Arial"/>
              <a:buChar char="●"/>
            </a:pPr>
            <a:r>
              <a:rPr lang="de-CH" sz="1300">
                <a:highlight>
                  <a:srgbClr val="FFFFFF"/>
                </a:highlight>
                <a:latin typeface="Arial"/>
                <a:ea typeface="Arial"/>
                <a:cs typeface="Arial"/>
                <a:sym typeface="Arial"/>
              </a:rPr>
              <a:t>Write a NumPy program to remove specific elements in a numpy array.</a:t>
            </a:r>
            <a:br>
              <a:rPr lang="de-CH" sz="1300">
                <a:highlight>
                  <a:srgbClr val="FFFFFF"/>
                </a:highlight>
                <a:latin typeface="Arial"/>
                <a:ea typeface="Arial"/>
                <a:cs typeface="Arial"/>
                <a:sym typeface="Arial"/>
              </a:rPr>
            </a:br>
            <a:r>
              <a:rPr lang="de-CH" sz="1300">
                <a:highlight>
                  <a:srgbClr val="FFFFFF"/>
                </a:highlight>
                <a:latin typeface="Arial"/>
                <a:ea typeface="Arial"/>
                <a:cs typeface="Arial"/>
                <a:sym typeface="Arial"/>
              </a:rPr>
              <a:t>Original array:</a:t>
            </a:r>
            <a:br>
              <a:rPr lang="de-CH" sz="1300">
                <a:highlight>
                  <a:srgbClr val="FFFFFF"/>
                </a:highlight>
                <a:latin typeface="Arial"/>
                <a:ea typeface="Arial"/>
                <a:cs typeface="Arial"/>
                <a:sym typeface="Arial"/>
              </a:rPr>
            </a:br>
            <a:r>
              <a:rPr lang="de-CH" sz="1300">
                <a:highlight>
                  <a:srgbClr val="FFFFFF"/>
                </a:highlight>
                <a:latin typeface="Arial"/>
                <a:ea typeface="Arial"/>
                <a:cs typeface="Arial"/>
                <a:sym typeface="Arial"/>
              </a:rPr>
              <a:t>[ 10 20 30 40 50 60 70 80 90 100]</a:t>
            </a:r>
            <a:br>
              <a:rPr lang="de-CH" sz="1300">
                <a:highlight>
                  <a:srgbClr val="FFFFFF"/>
                </a:highlight>
                <a:latin typeface="Arial"/>
                <a:ea typeface="Arial"/>
                <a:cs typeface="Arial"/>
                <a:sym typeface="Arial"/>
              </a:rPr>
            </a:br>
            <a:r>
              <a:rPr lang="de-CH" sz="1300">
                <a:highlight>
                  <a:srgbClr val="FFFFFF"/>
                </a:highlight>
                <a:latin typeface="Arial"/>
                <a:ea typeface="Arial"/>
                <a:cs typeface="Arial"/>
                <a:sym typeface="Arial"/>
              </a:rPr>
              <a:t>Delete first, fourth and fifth elements:</a:t>
            </a:r>
            <a:br>
              <a:rPr lang="de-CH" sz="1300">
                <a:highlight>
                  <a:srgbClr val="FFFFFF"/>
                </a:highlight>
                <a:latin typeface="Arial"/>
                <a:ea typeface="Arial"/>
                <a:cs typeface="Arial"/>
                <a:sym typeface="Arial"/>
              </a:rPr>
            </a:br>
            <a:r>
              <a:rPr lang="de-CH" sz="1300">
                <a:highlight>
                  <a:srgbClr val="FFFFFF"/>
                </a:highlight>
                <a:latin typeface="Arial"/>
                <a:ea typeface="Arial"/>
                <a:cs typeface="Arial"/>
                <a:sym typeface="Arial"/>
              </a:rPr>
              <a:t>[ 20 30 60 70 80 90 100]</a:t>
            </a:r>
            <a:endParaRPr sz="1300">
              <a:highlight>
                <a:srgbClr val="FFFFFF"/>
              </a:highlight>
              <a:latin typeface="Arial"/>
              <a:ea typeface="Arial"/>
              <a:cs typeface="Arial"/>
              <a:sym typeface="Arial"/>
            </a:endParaRPr>
          </a:p>
          <a:p>
            <a:pPr marL="457200" lvl="0" indent="-311150" algn="l" rtl="0">
              <a:spcBef>
                <a:spcPts val="0"/>
              </a:spcBef>
              <a:spcAft>
                <a:spcPts val="0"/>
              </a:spcAft>
              <a:buSzPts val="1300"/>
              <a:buFont typeface="Arial"/>
              <a:buChar char="●"/>
            </a:pPr>
            <a:r>
              <a:rPr lang="de-CH" sz="1300">
                <a:highlight>
                  <a:srgbClr val="FFFFFF"/>
                </a:highlight>
                <a:latin typeface="Arial"/>
                <a:ea typeface="Arial"/>
                <a:cs typeface="Arial"/>
                <a:sym typeface="Arial"/>
              </a:rPr>
              <a:t>Write a NumPy program to replace the negative values in a numpy array with 0.</a:t>
            </a:r>
            <a:br>
              <a:rPr lang="de-CH" sz="1300">
                <a:highlight>
                  <a:srgbClr val="FFFFFF"/>
                </a:highlight>
                <a:latin typeface="Arial"/>
                <a:ea typeface="Arial"/>
                <a:cs typeface="Arial"/>
                <a:sym typeface="Arial"/>
              </a:rPr>
            </a:br>
            <a:r>
              <a:rPr lang="de-CH" sz="1300">
                <a:highlight>
                  <a:srgbClr val="FFFFFF"/>
                </a:highlight>
                <a:latin typeface="Arial"/>
                <a:ea typeface="Arial"/>
                <a:cs typeface="Arial"/>
                <a:sym typeface="Arial"/>
              </a:rPr>
              <a:t>[-1 -4 0 2 3 4 5 -6]</a:t>
            </a:r>
            <a:endParaRPr sz="1300">
              <a:highlight>
                <a:srgbClr val="FFFFFF"/>
              </a:highlight>
              <a:latin typeface="Arial"/>
              <a:ea typeface="Arial"/>
              <a:cs typeface="Arial"/>
              <a:sym typeface="Arial"/>
            </a:endParaRPr>
          </a:p>
          <a:p>
            <a:pPr marL="457200" lvl="0" indent="-311150" algn="l" rtl="0">
              <a:spcBef>
                <a:spcPts val="0"/>
              </a:spcBef>
              <a:spcAft>
                <a:spcPts val="0"/>
              </a:spcAft>
              <a:buSzPts val="1300"/>
              <a:buFont typeface="Arial"/>
              <a:buChar char="●"/>
            </a:pPr>
            <a:r>
              <a:rPr lang="de-CH" sz="1300">
                <a:highlight>
                  <a:srgbClr val="FFFFFF"/>
                </a:highlight>
                <a:latin typeface="Arial"/>
                <a:ea typeface="Arial"/>
                <a:cs typeface="Arial"/>
                <a:sym typeface="Arial"/>
              </a:rPr>
              <a:t>Write a NumPy program to count the occurrence of a specified item in a given NumPy array.</a:t>
            </a:r>
            <a:br>
              <a:rPr lang="de-CH" sz="1300">
                <a:highlight>
                  <a:srgbClr val="FFFFFF"/>
                </a:highlight>
                <a:latin typeface="Arial"/>
                <a:ea typeface="Arial"/>
                <a:cs typeface="Arial"/>
                <a:sym typeface="Arial"/>
              </a:rPr>
            </a:br>
            <a:r>
              <a:rPr lang="de-CH" sz="1300">
                <a:highlight>
                  <a:srgbClr val="FFFFFF"/>
                </a:highlight>
                <a:latin typeface="Arial"/>
                <a:ea typeface="Arial"/>
                <a:cs typeface="Arial"/>
                <a:sym typeface="Arial"/>
              </a:rPr>
              <a:t>[10 20 20 20 20 0 20 30 30 30 0 0 20 20 0] find the occurence of 20</a:t>
            </a:r>
            <a:endParaRPr sz="1300">
              <a:highlight>
                <a:srgbClr val="FFFFFF"/>
              </a:highlight>
              <a:latin typeface="Arial"/>
              <a:ea typeface="Arial"/>
              <a:cs typeface="Arial"/>
              <a:sym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355"/>
        <p:cNvGrpSpPr/>
        <p:nvPr/>
      </p:nvGrpSpPr>
      <p:grpSpPr>
        <a:xfrm>
          <a:off x="0" y="0"/>
          <a:ext cx="0" cy="0"/>
          <a:chOff x="0" y="0"/>
          <a:chExt cx="0" cy="0"/>
        </a:xfrm>
      </p:grpSpPr>
      <p:sp>
        <p:nvSpPr>
          <p:cNvPr id="356" name="Google Shape;356;p61"/>
          <p:cNvSpPr txBox="1">
            <a:spLocks noGrp="1"/>
          </p:cNvSpPr>
          <p:nvPr>
            <p:ph type="ctr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   PANDAS...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sp>
        <p:nvSpPr>
          <p:cNvPr id="361" name="Google Shape;361;p62"/>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Intro..</a:t>
            </a:r>
            <a:endParaRPr/>
          </a:p>
        </p:txBody>
      </p:sp>
      <p:sp>
        <p:nvSpPr>
          <p:cNvPr id="362" name="Google Shape;362;p62"/>
          <p:cNvSpPr txBox="1">
            <a:spLocks noGrp="1"/>
          </p:cNvSpPr>
          <p:nvPr>
            <p:ph type="body" idx="1"/>
          </p:nvPr>
        </p:nvSpPr>
        <p:spPr>
          <a:xfrm>
            <a:off x="311700" y="1044375"/>
            <a:ext cx="8520600" cy="35349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Font typeface="Arial"/>
              <a:buChar char="●"/>
            </a:pPr>
            <a:r>
              <a:rPr lang="de-CH">
                <a:latin typeface="Arial"/>
                <a:ea typeface="Arial"/>
                <a:cs typeface="Arial"/>
                <a:sym typeface="Arial"/>
              </a:rPr>
              <a:t>Pandas is a python module that makes data science easy and effective.</a:t>
            </a:r>
            <a:endParaRPr>
              <a:latin typeface="Arial"/>
              <a:ea typeface="Arial"/>
              <a:cs typeface="Arial"/>
              <a:sym typeface="Arial"/>
            </a:endParaRPr>
          </a:p>
          <a:p>
            <a:pPr marL="457200" lvl="0" indent="-342900" algn="l" rtl="0">
              <a:spcBef>
                <a:spcPts val="0"/>
              </a:spcBef>
              <a:spcAft>
                <a:spcPts val="0"/>
              </a:spcAft>
              <a:buSzPts val="1800"/>
              <a:buFont typeface="Arial"/>
              <a:buChar char="●"/>
            </a:pPr>
            <a:r>
              <a:rPr lang="de-CH">
                <a:highlight>
                  <a:srgbClr val="FFFFFF"/>
                </a:highlight>
                <a:latin typeface="Arial"/>
                <a:ea typeface="Arial"/>
                <a:cs typeface="Arial"/>
                <a:sym typeface="Arial"/>
              </a:rPr>
              <a:t>Pandas is an open source library in Python. It provides ready to use high-performance data structures and data analysis tools.</a:t>
            </a:r>
            <a:endParaRPr>
              <a:highlight>
                <a:srgbClr val="FFFFFF"/>
              </a:highlight>
              <a:latin typeface="Arial"/>
              <a:ea typeface="Arial"/>
              <a:cs typeface="Arial"/>
              <a:sym typeface="Arial"/>
            </a:endParaRPr>
          </a:p>
          <a:p>
            <a:pPr marL="457200" lvl="0" indent="-342900" algn="l" rtl="0">
              <a:spcBef>
                <a:spcPts val="0"/>
              </a:spcBef>
              <a:spcAft>
                <a:spcPts val="0"/>
              </a:spcAft>
              <a:buSzPts val="1800"/>
              <a:buFont typeface="Arial"/>
              <a:buChar char="●"/>
            </a:pPr>
            <a:r>
              <a:rPr lang="de-CH">
                <a:highlight>
                  <a:srgbClr val="FFFFFF"/>
                </a:highlight>
                <a:latin typeface="Arial"/>
                <a:ea typeface="Arial"/>
                <a:cs typeface="Arial"/>
                <a:sym typeface="Arial"/>
              </a:rPr>
              <a:t>Pandas module runs on top of Numpy and it is popularly used for data science and data analytics.</a:t>
            </a:r>
            <a:endParaRPr>
              <a:highlight>
                <a:srgbClr val="FFFFFF"/>
              </a:highlight>
              <a:latin typeface="Arial"/>
              <a:ea typeface="Arial"/>
              <a:cs typeface="Arial"/>
              <a:sym typeface="Arial"/>
            </a:endParaRPr>
          </a:p>
          <a:p>
            <a:pPr marL="457200" lvl="0" indent="-342900" algn="l" rtl="0">
              <a:spcBef>
                <a:spcPts val="0"/>
              </a:spcBef>
              <a:spcAft>
                <a:spcPts val="0"/>
              </a:spcAft>
              <a:buSzPts val="1800"/>
              <a:buFont typeface="Arial"/>
              <a:buChar char="●"/>
            </a:pPr>
            <a:r>
              <a:rPr lang="de-CH">
                <a:highlight>
                  <a:srgbClr val="FFFFFF"/>
                </a:highlight>
                <a:latin typeface="Arial"/>
                <a:ea typeface="Arial"/>
                <a:cs typeface="Arial"/>
                <a:sym typeface="Arial"/>
              </a:rPr>
              <a:t>NumPy is a low-level data structure that supports multi-dimensional arrays and a wide range of mathematical array operations. Pandas has a higher-level interface. It also provides streamlined alignment of tabular data and powerful time series functionality.</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63"/>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Intro continues..</a:t>
            </a:r>
            <a:endParaRPr/>
          </a:p>
        </p:txBody>
      </p:sp>
      <p:sp>
        <p:nvSpPr>
          <p:cNvPr id="368" name="Google Shape;368;p63"/>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400"/>
              </a:spcBef>
              <a:spcAft>
                <a:spcPts val="0"/>
              </a:spcAft>
              <a:buSzPts val="1800"/>
              <a:buFont typeface="Arial"/>
              <a:buChar char="●"/>
            </a:pPr>
            <a:r>
              <a:rPr lang="de-CH">
                <a:highlight>
                  <a:srgbClr val="FFFFFF"/>
                </a:highlight>
                <a:latin typeface="Arial"/>
                <a:ea typeface="Arial"/>
                <a:cs typeface="Arial"/>
                <a:sym typeface="Arial"/>
              </a:rPr>
              <a:t>DataFrame and Series are the key data structures in Pandas. </a:t>
            </a:r>
            <a:endParaRPr>
              <a:highlight>
                <a:srgbClr val="FFFFFF"/>
              </a:highlight>
              <a:latin typeface="Arial"/>
              <a:ea typeface="Arial"/>
              <a:cs typeface="Arial"/>
              <a:sym typeface="Arial"/>
            </a:endParaRPr>
          </a:p>
          <a:p>
            <a:pPr marL="457200" lvl="0" indent="-342900" algn="l" rtl="0">
              <a:spcBef>
                <a:spcPts val="0"/>
              </a:spcBef>
              <a:spcAft>
                <a:spcPts val="0"/>
              </a:spcAft>
              <a:buSzPts val="1800"/>
              <a:buFont typeface="Arial"/>
              <a:buChar char="●"/>
            </a:pPr>
            <a:r>
              <a:rPr lang="de-CH">
                <a:highlight>
                  <a:srgbClr val="FFFFFF"/>
                </a:highlight>
                <a:latin typeface="Arial"/>
                <a:ea typeface="Arial"/>
                <a:cs typeface="Arial"/>
                <a:sym typeface="Arial"/>
              </a:rPr>
              <a:t>Pandas provides a rich feature-set on the DataFrame. For example, data alignment, data statistics, slicing, grouping, merging, concatenating data, etc.</a:t>
            </a:r>
            <a:endParaRPr>
              <a:highlight>
                <a:srgbClr val="FFFFFF"/>
              </a:highlight>
              <a:latin typeface="Arial"/>
              <a:ea typeface="Arial"/>
              <a:cs typeface="Arial"/>
              <a:sym typeface="Arial"/>
            </a:endParaRPr>
          </a:p>
          <a:p>
            <a:pPr marL="457200" lvl="0" indent="-342900" algn="l" rtl="0">
              <a:spcBef>
                <a:spcPts val="0"/>
              </a:spcBef>
              <a:spcAft>
                <a:spcPts val="0"/>
              </a:spcAft>
              <a:buSzPts val="1800"/>
              <a:buFont typeface="Arial"/>
              <a:buChar char="●"/>
            </a:pPr>
            <a:r>
              <a:rPr lang="de-CH">
                <a:highlight>
                  <a:srgbClr val="FFFFFF"/>
                </a:highlight>
                <a:latin typeface="Arial"/>
                <a:ea typeface="Arial"/>
                <a:cs typeface="Arial"/>
                <a:sym typeface="Arial"/>
              </a:rPr>
              <a:t>Pandas Series is a one-dimensional labelled array capable of holding data of any type.</a:t>
            </a:r>
            <a:endParaRPr>
              <a:highlight>
                <a:srgbClr val="FFFFFF"/>
              </a:highlight>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64"/>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Pandas Series</a:t>
            </a:r>
            <a:endParaRPr/>
          </a:p>
        </p:txBody>
      </p:sp>
      <p:sp>
        <p:nvSpPr>
          <p:cNvPr id="374" name="Google Shape;374;p64"/>
          <p:cNvSpPr txBox="1">
            <a:spLocks noGrp="1"/>
          </p:cNvSpPr>
          <p:nvPr>
            <p:ph type="body" idx="1"/>
          </p:nvPr>
        </p:nvSpPr>
        <p:spPr>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de-CH"/>
              <a:t>Creating a pandas Series</a:t>
            </a:r>
            <a:endParaRPr/>
          </a:p>
          <a:p>
            <a:pPr marL="0" lvl="0" indent="0" algn="l" rtl="0">
              <a:spcBef>
                <a:spcPts val="1600"/>
              </a:spcBef>
              <a:spcAft>
                <a:spcPts val="0"/>
              </a:spcAft>
              <a:buNone/>
            </a:pPr>
            <a:r>
              <a:rPr lang="de-CH">
                <a:solidFill>
                  <a:srgbClr val="0000FF"/>
                </a:solidFill>
              </a:rPr>
              <a:t>import numpy as np</a:t>
            </a:r>
            <a:endParaRPr>
              <a:solidFill>
                <a:srgbClr val="0000FF"/>
              </a:solidFill>
            </a:endParaRPr>
          </a:p>
          <a:p>
            <a:pPr marL="0" lvl="0" indent="0" algn="l" rtl="0">
              <a:spcBef>
                <a:spcPts val="0"/>
              </a:spcBef>
              <a:spcAft>
                <a:spcPts val="0"/>
              </a:spcAft>
              <a:buClr>
                <a:schemeClr val="dk1"/>
              </a:buClr>
              <a:buSzPts val="1100"/>
              <a:buFont typeface="Arial"/>
              <a:buNone/>
            </a:pPr>
            <a:r>
              <a:rPr lang="de-CH">
                <a:solidFill>
                  <a:srgbClr val="0000FF"/>
                </a:solidFill>
              </a:rPr>
              <a:t>data = np.array([1,2,3,4,5])</a:t>
            </a:r>
            <a:endParaRPr>
              <a:solidFill>
                <a:srgbClr val="0000FF"/>
              </a:solidFill>
            </a:endParaRPr>
          </a:p>
          <a:p>
            <a:pPr marL="0" lvl="0" indent="0" algn="l" rtl="0">
              <a:spcBef>
                <a:spcPts val="0"/>
              </a:spcBef>
              <a:spcAft>
                <a:spcPts val="0"/>
              </a:spcAft>
              <a:buClr>
                <a:schemeClr val="dk1"/>
              </a:buClr>
              <a:buSzPts val="1100"/>
              <a:buFont typeface="Arial"/>
              <a:buNone/>
            </a:pPr>
            <a:r>
              <a:rPr lang="de-CH">
                <a:solidFill>
                  <a:srgbClr val="0000FF"/>
                </a:solidFill>
              </a:rPr>
              <a:t>pd.Series(data)</a:t>
            </a:r>
            <a:endParaRPr>
              <a:solidFill>
                <a:srgbClr val="0000FF"/>
              </a:solidFill>
            </a:endParaRPr>
          </a:p>
          <a:p>
            <a:pPr marL="0" lvl="0" indent="0" algn="l" rtl="0">
              <a:spcBef>
                <a:spcPts val="0"/>
              </a:spcBef>
              <a:spcAft>
                <a:spcPts val="0"/>
              </a:spcAft>
              <a:buNone/>
            </a:pPr>
            <a:endParaRPr/>
          </a:p>
          <a:p>
            <a:pPr marL="0" lvl="0" indent="0" algn="l" rtl="0">
              <a:spcBef>
                <a:spcPts val="1600"/>
              </a:spcBef>
              <a:spcAft>
                <a:spcPts val="1600"/>
              </a:spcAft>
              <a:buNone/>
            </a:pP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378"/>
        <p:cNvGrpSpPr/>
        <p:nvPr/>
      </p:nvGrpSpPr>
      <p:grpSpPr>
        <a:xfrm>
          <a:off x="0" y="0"/>
          <a:ext cx="0" cy="0"/>
          <a:chOff x="0" y="0"/>
          <a:chExt cx="0" cy="0"/>
        </a:xfrm>
      </p:grpSpPr>
      <p:sp>
        <p:nvSpPr>
          <p:cNvPr id="379" name="Google Shape;379;p65"/>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Data Frame</a:t>
            </a:r>
            <a:endParaRPr/>
          </a:p>
        </p:txBody>
      </p:sp>
      <p:sp>
        <p:nvSpPr>
          <p:cNvPr id="380" name="Google Shape;380;p65"/>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Data frame is a main object in Pandas</a:t>
            </a:r>
            <a:endParaRPr/>
          </a:p>
          <a:p>
            <a:pPr marL="457200" lvl="0" indent="-342900" algn="l" rtl="0">
              <a:spcBef>
                <a:spcPts val="0"/>
              </a:spcBef>
              <a:spcAft>
                <a:spcPts val="0"/>
              </a:spcAft>
              <a:buSzPts val="1800"/>
              <a:buChar char="●"/>
            </a:pPr>
            <a:r>
              <a:rPr lang="de-CH"/>
              <a:t>It is used to represent data with rows and columns </a:t>
            </a:r>
            <a:r>
              <a:rPr lang="de-CH">
                <a:highlight>
                  <a:schemeClr val="lt1"/>
                </a:highlight>
                <a:latin typeface="Arial"/>
                <a:ea typeface="Arial"/>
                <a:cs typeface="Arial"/>
                <a:sym typeface="Arial"/>
              </a:rPr>
              <a:t>as a 2-D data structure</a:t>
            </a:r>
            <a:endParaRPr/>
          </a:p>
          <a:p>
            <a:pPr marL="457200" lvl="0" indent="-342900" algn="l" rtl="0">
              <a:spcBef>
                <a:spcPts val="0"/>
              </a:spcBef>
              <a:spcAft>
                <a:spcPts val="0"/>
              </a:spcAft>
              <a:buSzPts val="1800"/>
              <a:buChar char="●"/>
            </a:pPr>
            <a:r>
              <a:rPr lang="de-CH"/>
              <a:t>Tabular or Excel spreadsheet like data</a:t>
            </a:r>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66"/>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Different ways to create a dataframe</a:t>
            </a:r>
            <a:endParaRPr/>
          </a:p>
        </p:txBody>
      </p:sp>
      <p:sp>
        <p:nvSpPr>
          <p:cNvPr id="386" name="Google Shape;386;p66"/>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de-CH"/>
              <a:t>Through reading csv file</a:t>
            </a:r>
            <a:endParaRPr/>
          </a:p>
          <a:p>
            <a:pPr marL="457200" lvl="0" indent="-342900" algn="l" rtl="0">
              <a:spcBef>
                <a:spcPts val="0"/>
              </a:spcBef>
              <a:spcAft>
                <a:spcPts val="0"/>
              </a:spcAft>
              <a:buSzPts val="1800"/>
              <a:buAutoNum type="arabicPeriod"/>
            </a:pPr>
            <a:r>
              <a:rPr lang="de-CH"/>
              <a:t>Through reading excel file</a:t>
            </a:r>
            <a:endParaRPr/>
          </a:p>
          <a:p>
            <a:pPr marL="457200" lvl="0" indent="-342900" algn="l" rtl="0">
              <a:spcBef>
                <a:spcPts val="0"/>
              </a:spcBef>
              <a:spcAft>
                <a:spcPts val="0"/>
              </a:spcAft>
              <a:buSzPts val="1800"/>
              <a:buAutoNum type="arabicPeriod"/>
            </a:pPr>
            <a:r>
              <a:rPr lang="de-CH"/>
              <a:t>Through python Dictionary</a:t>
            </a:r>
            <a:endParaRPr/>
          </a:p>
          <a:p>
            <a:pPr marL="457200" lvl="0" indent="-342900" algn="l" rtl="0">
              <a:spcBef>
                <a:spcPts val="0"/>
              </a:spcBef>
              <a:spcAft>
                <a:spcPts val="0"/>
              </a:spcAft>
              <a:buSzPts val="1800"/>
              <a:buAutoNum type="arabicPeriod"/>
            </a:pPr>
            <a:r>
              <a:rPr lang="de-CH"/>
              <a:t>Through python tuple list</a:t>
            </a:r>
            <a:endParaRPr/>
          </a:p>
          <a:p>
            <a:pPr marL="457200" lvl="0" indent="-342900" algn="l" rtl="0">
              <a:spcBef>
                <a:spcPts val="0"/>
              </a:spcBef>
              <a:spcAft>
                <a:spcPts val="0"/>
              </a:spcAft>
              <a:buSzPts val="1800"/>
              <a:buAutoNum type="arabicPeriod"/>
            </a:pPr>
            <a:r>
              <a:rPr lang="de-CH"/>
              <a:t>Through python dictionary list</a:t>
            </a:r>
            <a:endParaRPr/>
          </a:p>
          <a:p>
            <a:pPr marL="0" lvl="0" indent="0" algn="l" rtl="0">
              <a:spcBef>
                <a:spcPts val="1600"/>
              </a:spcBef>
              <a:spcAft>
                <a:spcPts val="1600"/>
              </a:spcAft>
              <a:buNone/>
            </a:pP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390"/>
        <p:cNvGrpSpPr/>
        <p:nvPr/>
      </p:nvGrpSpPr>
      <p:grpSpPr>
        <a:xfrm>
          <a:off x="0" y="0"/>
          <a:ext cx="0" cy="0"/>
          <a:chOff x="0" y="0"/>
          <a:chExt cx="0" cy="0"/>
        </a:xfrm>
      </p:grpSpPr>
      <p:sp>
        <p:nvSpPr>
          <p:cNvPr id="391" name="Google Shape;391;p67"/>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Create DataFrame using python dictionary..</a:t>
            </a:r>
            <a:endParaRPr/>
          </a:p>
        </p:txBody>
      </p:sp>
      <p:sp>
        <p:nvSpPr>
          <p:cNvPr id="392" name="Google Shape;392;p67"/>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Using method </a:t>
            </a:r>
            <a:r>
              <a:rPr lang="de-CH" b="1"/>
              <a:t>DataFrame()</a:t>
            </a:r>
            <a:br>
              <a:rPr lang="de-CH" b="1"/>
            </a:br>
            <a:r>
              <a:rPr lang="de-CH" b="1">
                <a:solidFill>
                  <a:srgbClr val="0000FF"/>
                </a:solidFill>
                <a:latin typeface="Spectral"/>
                <a:ea typeface="Spectral"/>
                <a:cs typeface="Spectral"/>
                <a:sym typeface="Spectral"/>
              </a:rPr>
              <a:t>import pandas as pd</a:t>
            </a:r>
            <a:br>
              <a:rPr lang="de-CH" b="1">
                <a:solidFill>
                  <a:srgbClr val="0000FF"/>
                </a:solidFill>
                <a:latin typeface="Spectral"/>
                <a:ea typeface="Spectral"/>
                <a:cs typeface="Spectral"/>
                <a:sym typeface="Spectral"/>
              </a:rPr>
            </a:br>
            <a:r>
              <a:rPr lang="de-CH" b="1">
                <a:solidFill>
                  <a:srgbClr val="0000FF"/>
                </a:solidFill>
                <a:latin typeface="Spectral"/>
                <a:ea typeface="Spectral"/>
                <a:cs typeface="Spectral"/>
                <a:sym typeface="Spectral"/>
              </a:rPr>
              <a:t>emp={ 'id':[101,102,103,104,105],</a:t>
            </a:r>
            <a:br>
              <a:rPr lang="de-CH" b="1">
                <a:solidFill>
                  <a:srgbClr val="0000FF"/>
                </a:solidFill>
                <a:latin typeface="Spectral"/>
                <a:ea typeface="Spectral"/>
                <a:cs typeface="Spectral"/>
                <a:sym typeface="Spectral"/>
              </a:rPr>
            </a:br>
            <a:r>
              <a:rPr lang="de-CH" b="1">
                <a:solidFill>
                  <a:srgbClr val="0000FF"/>
                </a:solidFill>
                <a:latin typeface="Spectral"/>
                <a:ea typeface="Spectral"/>
                <a:cs typeface="Spectral"/>
                <a:sym typeface="Spectral"/>
              </a:rPr>
              <a:t>'Name':['deepak','shyam','arun','manu','jeena'],</a:t>
            </a:r>
            <a:br>
              <a:rPr lang="de-CH" b="1">
                <a:solidFill>
                  <a:srgbClr val="0000FF"/>
                </a:solidFill>
                <a:latin typeface="Spectral"/>
                <a:ea typeface="Spectral"/>
                <a:cs typeface="Spectral"/>
                <a:sym typeface="Spectral"/>
              </a:rPr>
            </a:br>
            <a:r>
              <a:rPr lang="de-CH" b="1">
                <a:solidFill>
                  <a:srgbClr val="0000FF"/>
                </a:solidFill>
                <a:latin typeface="Spectral"/>
                <a:ea typeface="Spectral"/>
                <a:cs typeface="Spectral"/>
                <a:sym typeface="Spectral"/>
              </a:rPr>
              <a:t>'Age':[25,22,24,20,27],</a:t>
            </a:r>
            <a:br>
              <a:rPr lang="de-CH" b="1">
                <a:solidFill>
                  <a:srgbClr val="0000FF"/>
                </a:solidFill>
                <a:latin typeface="Spectral"/>
                <a:ea typeface="Spectral"/>
                <a:cs typeface="Spectral"/>
                <a:sym typeface="Spectral"/>
              </a:rPr>
            </a:br>
            <a:r>
              <a:rPr lang="de-CH" b="1">
                <a:solidFill>
                  <a:srgbClr val="0000FF"/>
                </a:solidFill>
                <a:latin typeface="Spectral"/>
                <a:ea typeface="Spectral"/>
                <a:cs typeface="Spectral"/>
                <a:sym typeface="Spectral"/>
              </a:rPr>
              <a:t>'salary':[25000,30000,150000,10000,30000] }</a:t>
            </a:r>
            <a:br>
              <a:rPr lang="de-CH" b="1">
                <a:solidFill>
                  <a:srgbClr val="0000FF"/>
                </a:solidFill>
                <a:latin typeface="Spectral"/>
                <a:ea typeface="Spectral"/>
                <a:cs typeface="Spectral"/>
                <a:sym typeface="Spectral"/>
              </a:rPr>
            </a:br>
            <a:br>
              <a:rPr lang="de-CH" b="1">
                <a:solidFill>
                  <a:srgbClr val="0000FF"/>
                </a:solidFill>
                <a:latin typeface="Spectral"/>
                <a:ea typeface="Spectral"/>
                <a:cs typeface="Spectral"/>
                <a:sym typeface="Spectral"/>
              </a:rPr>
            </a:br>
            <a:r>
              <a:rPr lang="de-CH" b="1">
                <a:solidFill>
                  <a:srgbClr val="0000FF"/>
                </a:solidFill>
                <a:latin typeface="Spectral"/>
                <a:ea typeface="Spectral"/>
                <a:cs typeface="Spectral"/>
                <a:sym typeface="Spectral"/>
              </a:rPr>
              <a:t>df=pd.DataFrame(emp)</a:t>
            </a:r>
            <a:endParaRPr b="1">
              <a:solidFill>
                <a:srgbClr val="0000FF"/>
              </a:solidFill>
              <a:latin typeface="Spectral"/>
              <a:ea typeface="Spectral"/>
              <a:cs typeface="Spectral"/>
              <a:sym typeface="Spectr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68"/>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Create Dataframe using python tuple list</a:t>
            </a:r>
            <a:endParaRPr/>
          </a:p>
        </p:txBody>
      </p:sp>
      <p:sp>
        <p:nvSpPr>
          <p:cNvPr id="398" name="Google Shape;398;p68"/>
          <p:cNvSpPr txBox="1">
            <a:spLocks noGrp="1"/>
          </p:cNvSpPr>
          <p:nvPr>
            <p:ph type="body" idx="1"/>
          </p:nvPr>
        </p:nvSpPr>
        <p:spPr>
          <a:xfrm>
            <a:off x="311700" y="1084575"/>
            <a:ext cx="8520600" cy="39183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Using </a:t>
            </a:r>
            <a:r>
              <a:rPr lang="de-CH" b="1"/>
              <a:t>DataFrame()</a:t>
            </a:r>
            <a:r>
              <a:rPr lang="de-CH"/>
              <a:t> method</a:t>
            </a:r>
            <a:br>
              <a:rPr lang="de-CH"/>
            </a:br>
            <a:r>
              <a:rPr lang="de-CH">
                <a:solidFill>
                  <a:srgbClr val="0000FF"/>
                </a:solidFill>
                <a:latin typeface="Spectral"/>
                <a:ea typeface="Spectral"/>
                <a:cs typeface="Spectral"/>
                <a:sym typeface="Spectral"/>
              </a:rPr>
              <a:t>Import pandas as pd</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emp_data=[(101,'deepak',25,25000),</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(102,'shyam',22,30000),</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(103,'arun',24,150000),</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(104,'manu',20,10000),(105,'jeena',27,30000)] </a:t>
            </a:r>
            <a:br>
              <a:rPr lang="de-CH">
                <a:solidFill>
                  <a:srgbClr val="0000FF"/>
                </a:solidFill>
                <a:latin typeface="Spectral"/>
                <a:ea typeface="Spectral"/>
                <a:cs typeface="Spectral"/>
                <a:sym typeface="Spectral"/>
              </a:rPr>
            </a:b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df=pd.DataFrame(emp_data,columns=['id','name','age','salary'])</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Each and every element of the tuple list is actually a row in your dataframe</a:t>
            </a:r>
            <a:endParaRPr>
              <a:solidFill>
                <a:srgbClr val="000000"/>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You should mention all column names as a list as a second argument</a:t>
            </a:r>
            <a:endParaRPr>
              <a:solidFill>
                <a:srgbClr val="000000"/>
              </a:solidFill>
              <a:latin typeface="Spectral"/>
              <a:ea typeface="Spectral"/>
              <a:cs typeface="Spectral"/>
              <a:sym typeface="Spectr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69"/>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Create Dataframe using a list of dictionaries..</a:t>
            </a:r>
            <a:endParaRPr/>
          </a:p>
        </p:txBody>
      </p:sp>
      <p:sp>
        <p:nvSpPr>
          <p:cNvPr id="404" name="Google Shape;404;p69"/>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Using </a:t>
            </a:r>
            <a:r>
              <a:rPr lang="de-CH" b="1"/>
              <a:t>DataFrame()</a:t>
            </a:r>
            <a:r>
              <a:rPr lang="de-CH"/>
              <a:t> method</a:t>
            </a:r>
            <a:br>
              <a:rPr lang="de-CH"/>
            </a:br>
            <a:r>
              <a:rPr lang="de-CH">
                <a:solidFill>
                  <a:srgbClr val="0000FF"/>
                </a:solidFill>
                <a:latin typeface="Spectral"/>
                <a:ea typeface="Spectral"/>
                <a:cs typeface="Spectral"/>
                <a:sym typeface="Spectral"/>
              </a:rPr>
              <a:t>Import pandas as pd</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emp_data_list=[{'id':101,'name':'deepak','age':25,'salary':25000},</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{'id':102,'name':'shyam','age':22,'salary':30000},</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{'id':103,'name':'arun','age':24,'salary':150000},</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{'id':104,'name':'manu','age':20,'salary':10000},</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{'id':105,'name':'jeena','age':27,'salary':30000}]</a:t>
            </a:r>
            <a:br>
              <a:rPr lang="de-CH">
                <a:solidFill>
                  <a:srgbClr val="0000FF"/>
                </a:solidFill>
                <a:latin typeface="Spectral"/>
                <a:ea typeface="Spectral"/>
                <a:cs typeface="Spectral"/>
                <a:sym typeface="Spectral"/>
              </a:rPr>
            </a:b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df=pd.DataFrame(emp_data_list)</a:t>
            </a:r>
            <a:endParaRPr>
              <a:solidFill>
                <a:srgbClr val="0000FF"/>
              </a:solidFill>
              <a:latin typeface="Spectral"/>
              <a:ea typeface="Spectral"/>
              <a:cs typeface="Spectral"/>
              <a:sym typeface="Spectr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408"/>
        <p:cNvGrpSpPr/>
        <p:nvPr/>
      </p:nvGrpSpPr>
      <p:grpSpPr>
        <a:xfrm>
          <a:off x="0" y="0"/>
          <a:ext cx="0" cy="0"/>
          <a:chOff x="0" y="0"/>
          <a:chExt cx="0" cy="0"/>
        </a:xfrm>
      </p:grpSpPr>
      <p:sp>
        <p:nvSpPr>
          <p:cNvPr id="409" name="Google Shape;409;p70"/>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Create dataframe  using CSV</a:t>
            </a:r>
            <a:endParaRPr/>
          </a:p>
        </p:txBody>
      </p:sp>
      <p:sp>
        <p:nvSpPr>
          <p:cNvPr id="410" name="Google Shape;410;p70"/>
          <p:cNvSpPr txBox="1">
            <a:spLocks noGrp="1"/>
          </p:cNvSpPr>
          <p:nvPr>
            <p:ph type="body" idx="1"/>
          </p:nvPr>
        </p:nvSpPr>
        <p:spPr>
          <a:xfrm>
            <a:off x="311700" y="1225225"/>
            <a:ext cx="8520600" cy="37602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We use </a:t>
            </a:r>
            <a:r>
              <a:rPr lang="de-CH" b="1"/>
              <a:t>read_csv()</a:t>
            </a:r>
            <a:br>
              <a:rPr lang="de-CH" b="1"/>
            </a:br>
            <a:r>
              <a:rPr lang="de-CH">
                <a:solidFill>
                  <a:srgbClr val="0000FF"/>
                </a:solidFill>
                <a:latin typeface="Spectral"/>
                <a:ea typeface="Spectral"/>
                <a:cs typeface="Spectral"/>
                <a:sym typeface="Spectral"/>
              </a:rPr>
              <a:t>import pandas as pd</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df=pd.read_csv(r'C:\Users\mithu\Desktop\employee.csv')</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print(df)</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Arial"/>
              <a:buChar char="●"/>
            </a:pPr>
            <a:r>
              <a:rPr lang="de-CH">
                <a:solidFill>
                  <a:srgbClr val="000000"/>
                </a:solidFill>
                <a:latin typeface="Arial"/>
                <a:ea typeface="Arial"/>
                <a:cs typeface="Arial"/>
                <a:sym typeface="Arial"/>
              </a:rPr>
              <a:t>read_csv() method accepts the path of the csv file ,if that exist in the home folder or current working directory  ,then you can directly mention your filename or else you should mention the complete absolute path</a:t>
            </a:r>
            <a:endParaRPr>
              <a:solidFill>
                <a:srgbClr val="000000"/>
              </a:solidFill>
              <a:latin typeface="Arial"/>
              <a:ea typeface="Arial"/>
              <a:cs typeface="Arial"/>
              <a:sym typeface="Arial"/>
            </a:endParaRPr>
          </a:p>
          <a:p>
            <a:pPr marL="457200" lvl="0" indent="-342900" algn="l" rtl="0">
              <a:spcBef>
                <a:spcPts val="0"/>
              </a:spcBef>
              <a:spcAft>
                <a:spcPts val="0"/>
              </a:spcAft>
              <a:buClr>
                <a:srgbClr val="000000"/>
              </a:buClr>
              <a:buSzPts val="1800"/>
              <a:buFont typeface="Arial"/>
              <a:buChar char="●"/>
            </a:pPr>
            <a:r>
              <a:rPr lang="de-CH">
                <a:solidFill>
                  <a:srgbClr val="000000"/>
                </a:solidFill>
                <a:latin typeface="Arial"/>
                <a:ea typeface="Arial"/>
                <a:cs typeface="Arial"/>
                <a:sym typeface="Arial"/>
              </a:rPr>
              <a:t>os.getcwd() → to find the current working directory</a:t>
            </a:r>
            <a:br>
              <a:rPr lang="de-CH">
                <a:solidFill>
                  <a:srgbClr val="000000"/>
                </a:solidFill>
                <a:latin typeface="Arial"/>
                <a:ea typeface="Arial"/>
                <a:cs typeface="Arial"/>
                <a:sym typeface="Arial"/>
              </a:rPr>
            </a:br>
            <a:r>
              <a:rPr lang="de-CH">
                <a:solidFill>
                  <a:srgbClr val="0000FF"/>
                </a:solidFill>
                <a:latin typeface="Spectral"/>
                <a:ea typeface="Spectral"/>
                <a:cs typeface="Spectral"/>
                <a:sym typeface="Spectral"/>
              </a:rPr>
              <a:t>import os</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print(os.getcwd())</a:t>
            </a:r>
            <a:endParaRPr>
              <a:solidFill>
                <a:srgbClr val="0000FF"/>
              </a:solidFill>
              <a:latin typeface="Spectral"/>
              <a:ea typeface="Spectral"/>
              <a:cs typeface="Spectral"/>
              <a:sym typeface="Spectral"/>
            </a:endParaRPr>
          </a:p>
          <a:p>
            <a:pPr marL="457200" lvl="0" indent="0" algn="l" rtl="0">
              <a:spcBef>
                <a:spcPts val="1600"/>
              </a:spcBef>
              <a:spcAft>
                <a:spcPts val="1600"/>
              </a:spcAft>
              <a:buNone/>
            </a:pPr>
            <a:endParaRPr>
              <a:solidFill>
                <a:srgbClr val="000000"/>
              </a:solidFill>
              <a:latin typeface="Arial"/>
              <a:ea typeface="Arial"/>
              <a:cs typeface="Arial"/>
              <a:sym typeface="Aria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71"/>
          <p:cNvSpPr txBox="1">
            <a:spLocks noGrp="1"/>
          </p:cNvSpPr>
          <p:nvPr>
            <p:ph type="title"/>
          </p:nvPr>
        </p:nvSpPr>
        <p:spPr>
          <a:xfrm>
            <a:off x="311700" y="175275"/>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Skip the unnecessary header or add yours..</a:t>
            </a:r>
            <a:endParaRPr/>
          </a:p>
        </p:txBody>
      </p:sp>
      <p:sp>
        <p:nvSpPr>
          <p:cNvPr id="416" name="Google Shape;416;p71"/>
          <p:cNvSpPr txBox="1">
            <a:spLocks noGrp="1"/>
          </p:cNvSpPr>
          <p:nvPr>
            <p:ph type="body" idx="1"/>
          </p:nvPr>
        </p:nvSpPr>
        <p:spPr>
          <a:xfrm>
            <a:off x="311700" y="1006575"/>
            <a:ext cx="8520600" cy="33540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While you are reading a csv file,If you have some unnecessary Header in your  file you can skip it using the following command</a:t>
            </a:r>
            <a:br>
              <a:rPr lang="de-CH"/>
            </a:br>
            <a:r>
              <a:rPr lang="de-CH">
                <a:solidFill>
                  <a:srgbClr val="0000FF"/>
                </a:solidFill>
                <a:latin typeface="Spectral"/>
                <a:ea typeface="Spectral"/>
                <a:cs typeface="Spectral"/>
                <a:sym typeface="Spectral"/>
              </a:rPr>
              <a:t>data=pd.read_csv(r'C:\Users\mithu\Desktop\stock_data.csv',skiprows=1) → </a:t>
            </a:r>
            <a:r>
              <a:rPr lang="de-CH">
                <a:solidFill>
                  <a:srgbClr val="000000"/>
                </a:solidFill>
                <a:latin typeface="Spectral"/>
                <a:ea typeface="Spectral"/>
                <a:cs typeface="Spectral"/>
                <a:sym typeface="Spectral"/>
              </a:rPr>
              <a:t>tells to skip the given number from the top of file</a:t>
            </a:r>
            <a:br>
              <a:rPr lang="de-CH">
                <a:solidFill>
                  <a:srgbClr val="000000"/>
                </a:solidFill>
                <a:latin typeface="Spectral"/>
                <a:ea typeface="Spectral"/>
                <a:cs typeface="Spectral"/>
                <a:sym typeface="Spectral"/>
              </a:rPr>
            </a:br>
            <a:r>
              <a:rPr lang="de-CH">
                <a:solidFill>
                  <a:srgbClr val="000000"/>
                </a:solidFill>
                <a:latin typeface="Spectral"/>
                <a:ea typeface="Spectral"/>
                <a:cs typeface="Spectral"/>
                <a:sym typeface="Spectral"/>
              </a:rPr>
              <a:t>OR </a:t>
            </a:r>
            <a:br>
              <a:rPr lang="de-CH">
                <a:solidFill>
                  <a:srgbClr val="000000"/>
                </a:solidFill>
                <a:latin typeface="Spectral"/>
                <a:ea typeface="Spectral"/>
                <a:cs typeface="Spectral"/>
                <a:sym typeface="Spectral"/>
              </a:rPr>
            </a:br>
            <a:r>
              <a:rPr lang="de-CH">
                <a:solidFill>
                  <a:srgbClr val="0000FF"/>
                </a:solidFill>
                <a:latin typeface="Spectral"/>
                <a:ea typeface="Spectral"/>
                <a:cs typeface="Spectral"/>
                <a:sym typeface="Spectral"/>
              </a:rPr>
              <a:t>data=pd.read_csv(r'C:\Users\mithu\Desktop\stock_data.csv',header=1) → </a:t>
            </a:r>
            <a:r>
              <a:rPr lang="de-CH">
                <a:solidFill>
                  <a:srgbClr val="000000"/>
                </a:solidFill>
                <a:latin typeface="Spectral"/>
                <a:ea typeface="Spectral"/>
                <a:cs typeface="Spectral"/>
                <a:sym typeface="Spectral"/>
              </a:rPr>
              <a:t>shows in which row your header locates</a:t>
            </a:r>
            <a:endParaRPr>
              <a:solidFill>
                <a:srgbClr val="000000"/>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If you don't have  header in your file and you want to add some column header</a:t>
            </a:r>
            <a:br>
              <a:rPr lang="de-CH">
                <a:solidFill>
                  <a:srgbClr val="000000"/>
                </a:solidFill>
                <a:latin typeface="Spectral"/>
                <a:ea typeface="Spectral"/>
                <a:cs typeface="Spectral"/>
                <a:sym typeface="Spectral"/>
              </a:rPr>
            </a:br>
            <a:r>
              <a:rPr lang="de-CH">
                <a:solidFill>
                  <a:srgbClr val="0000FF"/>
                </a:solidFill>
                <a:latin typeface="Spectral"/>
                <a:ea typeface="Spectral"/>
                <a:cs typeface="Spectral"/>
                <a:sym typeface="Spectral"/>
              </a:rPr>
              <a:t>data=pd.read_csv(r'C:\Users\mithu\Desktop\stock_data.csv',header=None,names=['tickers','eps','revenue','price','people'])</a:t>
            </a:r>
            <a:endParaRPr>
              <a:solidFill>
                <a:srgbClr val="0000FF"/>
              </a:solidFill>
              <a:latin typeface="Spectral"/>
              <a:ea typeface="Spectral"/>
              <a:cs typeface="Spectral"/>
              <a:sym typeface="Spectr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72"/>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Read csv continues.,,</a:t>
            </a:r>
            <a:endParaRPr/>
          </a:p>
        </p:txBody>
      </p:sp>
      <p:sp>
        <p:nvSpPr>
          <p:cNvPr id="422" name="Google Shape;422;p72"/>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Read a limited number of rows from the top of the file</a:t>
            </a:r>
            <a:br>
              <a:rPr lang="de-CH"/>
            </a:br>
            <a:r>
              <a:rPr lang="de-CH">
                <a:solidFill>
                  <a:srgbClr val="0000FF"/>
                </a:solidFill>
                <a:latin typeface="Spectral"/>
                <a:ea typeface="Spectral"/>
                <a:cs typeface="Spectral"/>
                <a:sym typeface="Spectral"/>
              </a:rPr>
              <a:t>data=pd.read_csv(r'C:\Users\mithu\Desktop\py-master\pandas\4_read_write_to_excel\stock_data.csv',nrows=3)</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Replace all unwanted value with NaN</a:t>
            </a:r>
            <a:br>
              <a:rPr lang="de-CH">
                <a:solidFill>
                  <a:srgbClr val="000000"/>
                </a:solidFill>
                <a:latin typeface="Spectral"/>
                <a:ea typeface="Spectral"/>
                <a:cs typeface="Spectral"/>
                <a:sym typeface="Spectral"/>
              </a:rPr>
            </a:br>
            <a:r>
              <a:rPr lang="de-CH">
                <a:solidFill>
                  <a:srgbClr val="4A86E8"/>
                </a:solidFill>
                <a:latin typeface="Spectral"/>
                <a:ea typeface="Spectral"/>
                <a:cs typeface="Spectral"/>
                <a:sym typeface="Spectral"/>
              </a:rPr>
              <a:t>data=pd.read_csv(r'C:\Users\mithu\Desktop\stock_data.csv',na_values=['n.a.','not available'])</a:t>
            </a:r>
            <a:endParaRPr>
              <a:solidFill>
                <a:srgbClr val="4A86E8"/>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If you want to replace your column value with NaN by specific to column </a:t>
            </a:r>
            <a:br>
              <a:rPr lang="de-CH">
                <a:solidFill>
                  <a:srgbClr val="000000"/>
                </a:solidFill>
                <a:latin typeface="Spectral"/>
                <a:ea typeface="Spectral"/>
                <a:cs typeface="Spectral"/>
                <a:sym typeface="Spectral"/>
              </a:rPr>
            </a:br>
            <a:r>
              <a:rPr lang="de-CH">
                <a:solidFill>
                  <a:srgbClr val="0000FF"/>
                </a:solidFill>
                <a:latin typeface="Spectral"/>
                <a:ea typeface="Spectral"/>
                <a:cs typeface="Spectral"/>
                <a:sym typeface="Spectral"/>
              </a:rPr>
              <a:t>data=pd.read_csv(r'C:\Users\mithu\Desktop\stock_data.csv', na_values={'eps':['n.a.','not available'],</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'revenue':['n.a.','not available',-1],'people':['n.a.','not available']})</a:t>
            </a:r>
            <a:endParaRPr>
              <a:solidFill>
                <a:srgbClr val="0000FF"/>
              </a:solidFill>
              <a:latin typeface="Spectral"/>
              <a:ea typeface="Spectral"/>
              <a:cs typeface="Spectral"/>
              <a:sym typeface="Spectral"/>
            </a:endParaRPr>
          </a:p>
          <a:p>
            <a:pPr marL="0" lvl="0" indent="0" algn="l" rtl="0">
              <a:spcBef>
                <a:spcPts val="1600"/>
              </a:spcBef>
              <a:spcAft>
                <a:spcPts val="1600"/>
              </a:spcAft>
              <a:buNone/>
            </a:pPr>
            <a:endParaRPr>
              <a:solidFill>
                <a:srgbClr val="000000"/>
              </a:solidFill>
              <a:latin typeface="Spectral"/>
              <a:ea typeface="Spectral"/>
              <a:cs typeface="Spectral"/>
              <a:sym typeface="Spectral"/>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73"/>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Write csv ..</a:t>
            </a:r>
            <a:endParaRPr/>
          </a:p>
        </p:txBody>
      </p:sp>
      <p:sp>
        <p:nvSpPr>
          <p:cNvPr id="428" name="Google Shape;428;p73"/>
          <p:cNvSpPr txBox="1">
            <a:spLocks noGrp="1"/>
          </p:cNvSpPr>
          <p:nvPr>
            <p:ph type="body" idx="1"/>
          </p:nvPr>
        </p:nvSpPr>
        <p:spPr>
          <a:xfrm>
            <a:off x="311700" y="1064500"/>
            <a:ext cx="8520600" cy="33540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If you want to write your data frame  to a CSV file</a:t>
            </a:r>
            <a:br>
              <a:rPr lang="de-CH"/>
            </a:br>
            <a:r>
              <a:rPr lang="de-CH">
                <a:solidFill>
                  <a:srgbClr val="4A86E8"/>
                </a:solidFill>
                <a:latin typeface="Spectral"/>
                <a:ea typeface="Spectral"/>
                <a:cs typeface="Spectral"/>
                <a:sym typeface="Spectral"/>
              </a:rPr>
              <a:t>data.to_csv(r'C:\Users\mithu\Desktop\abcde.csv',index=False)</a:t>
            </a:r>
            <a:endParaRPr>
              <a:solidFill>
                <a:srgbClr val="4A86E8"/>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Write only specific columns</a:t>
            </a:r>
            <a:br>
              <a:rPr lang="de-CH">
                <a:solidFill>
                  <a:srgbClr val="000000"/>
                </a:solidFill>
                <a:latin typeface="Spectral"/>
                <a:ea typeface="Spectral"/>
                <a:cs typeface="Spectral"/>
                <a:sym typeface="Spectral"/>
              </a:rPr>
            </a:br>
            <a:r>
              <a:rPr lang="de-CH">
                <a:solidFill>
                  <a:srgbClr val="0000FF"/>
                </a:solidFill>
                <a:latin typeface="Spectral"/>
                <a:ea typeface="Spectral"/>
                <a:cs typeface="Spectral"/>
                <a:sym typeface="Spectral"/>
              </a:rPr>
              <a:t>data.to_csv(r'C:\Users\mithu\Desktop\abcde.csv',index=False,columns=['price','people'])</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Write Without Header</a:t>
            </a:r>
            <a:br>
              <a:rPr lang="de-CH">
                <a:solidFill>
                  <a:srgbClr val="000000"/>
                </a:solidFill>
                <a:latin typeface="Spectral"/>
                <a:ea typeface="Spectral"/>
                <a:cs typeface="Spectral"/>
                <a:sym typeface="Spectral"/>
              </a:rPr>
            </a:br>
            <a:r>
              <a:rPr lang="de-CH">
                <a:solidFill>
                  <a:srgbClr val="4A86E8"/>
                </a:solidFill>
                <a:latin typeface="Spectral"/>
                <a:ea typeface="Spectral"/>
                <a:cs typeface="Spectral"/>
                <a:sym typeface="Spectral"/>
              </a:rPr>
              <a:t>data.to_csv(r'C:\Users\mithu\Desktop\abcde.csv',index=False,header=False)</a:t>
            </a:r>
            <a:endParaRPr>
              <a:solidFill>
                <a:srgbClr val="4A86E8"/>
              </a:solidFill>
              <a:latin typeface="Spectral"/>
              <a:ea typeface="Spectral"/>
              <a:cs typeface="Spectral"/>
              <a:sym typeface="Spectral"/>
            </a:endParaRPr>
          </a:p>
          <a:p>
            <a:pPr marL="457200" lvl="0" indent="-342900" algn="l" rtl="0">
              <a:spcBef>
                <a:spcPts val="0"/>
              </a:spcBef>
              <a:spcAft>
                <a:spcPts val="0"/>
              </a:spcAft>
              <a:buClr>
                <a:srgbClr val="666666"/>
              </a:buClr>
              <a:buSzPts val="1800"/>
              <a:buFont typeface="Spectral"/>
              <a:buChar char="●"/>
            </a:pPr>
            <a:r>
              <a:rPr lang="de-CH">
                <a:solidFill>
                  <a:srgbClr val="666666"/>
                </a:solidFill>
                <a:latin typeface="Spectral"/>
                <a:ea typeface="Spectral"/>
                <a:cs typeface="Spectral"/>
                <a:sym typeface="Spectral"/>
              </a:rPr>
              <a:t>To append</a:t>
            </a:r>
            <a:br>
              <a:rPr lang="de-CH">
                <a:solidFill>
                  <a:srgbClr val="666666"/>
                </a:solidFill>
                <a:latin typeface="Spectral"/>
                <a:ea typeface="Spectral"/>
                <a:cs typeface="Spectral"/>
                <a:sym typeface="Spectral"/>
              </a:rPr>
            </a:br>
            <a:r>
              <a:rPr lang="de-CH">
                <a:solidFill>
                  <a:srgbClr val="4A86E8"/>
                </a:solidFill>
                <a:latin typeface="Spectral"/>
                <a:ea typeface="Spectral"/>
                <a:cs typeface="Spectral"/>
                <a:sym typeface="Spectral"/>
              </a:rPr>
              <a:t>data.to_csv(r'C:\Users\mithu\Desktop\abcde.csv',mode=’a’,index=False,header=False)</a:t>
            </a:r>
            <a:endParaRPr>
              <a:solidFill>
                <a:srgbClr val="4A86E8"/>
              </a:solidFill>
              <a:latin typeface="Spectral"/>
              <a:ea typeface="Spectral"/>
              <a:cs typeface="Spectral"/>
              <a:sym typeface="Spectral"/>
            </a:endParaRPr>
          </a:p>
          <a:p>
            <a:pPr marL="457200" lvl="0" indent="0" algn="l" rtl="0">
              <a:spcBef>
                <a:spcPts val="1600"/>
              </a:spcBef>
              <a:spcAft>
                <a:spcPts val="1600"/>
              </a:spcAft>
              <a:buNone/>
            </a:pPr>
            <a:endParaRPr>
              <a:solidFill>
                <a:srgbClr val="666666"/>
              </a:solidFill>
              <a:latin typeface="Spectral"/>
              <a:ea typeface="Spectral"/>
              <a:cs typeface="Spectral"/>
              <a:sym typeface="Spectr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sp>
        <p:nvSpPr>
          <p:cNvPr id="433" name="Google Shape;433;p74"/>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Read txt file</a:t>
            </a:r>
            <a:endParaRPr/>
          </a:p>
        </p:txBody>
      </p:sp>
      <p:sp>
        <p:nvSpPr>
          <p:cNvPr id="434" name="Google Shape;434;p74"/>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We can use the read_csv method to read a text file,with mentioning the delimiter</a:t>
            </a:r>
            <a:endParaRPr/>
          </a:p>
          <a:p>
            <a:pPr marL="457200" lvl="0" indent="-342900" algn="l" rtl="0">
              <a:spcBef>
                <a:spcPts val="0"/>
              </a:spcBef>
              <a:spcAft>
                <a:spcPts val="0"/>
              </a:spcAft>
              <a:buClr>
                <a:srgbClr val="0000FF"/>
              </a:buClr>
              <a:buSzPts val="1800"/>
              <a:buChar char="●"/>
            </a:pPr>
            <a:r>
              <a:rPr lang="de-CH">
                <a:solidFill>
                  <a:srgbClr val="0000FF"/>
                </a:solidFill>
              </a:rPr>
              <a:t>Import pandas as pd</a:t>
            </a:r>
            <a:br>
              <a:rPr lang="de-CH">
                <a:solidFill>
                  <a:srgbClr val="0000FF"/>
                </a:solidFill>
              </a:rPr>
            </a:br>
            <a:r>
              <a:rPr lang="de-CH">
                <a:solidFill>
                  <a:srgbClr val="0000FF"/>
                </a:solidFill>
              </a:rPr>
              <a:t>data=pd.read_csv('abc.txt',delimiter='/t')</a:t>
            </a:r>
            <a:endParaRPr>
              <a:solidFill>
                <a:srgbClr val="0000FF"/>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75"/>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Create dataframe using excel file</a:t>
            </a:r>
            <a:endParaRPr/>
          </a:p>
        </p:txBody>
      </p:sp>
      <p:sp>
        <p:nvSpPr>
          <p:cNvPr id="440" name="Google Shape;440;p75"/>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b="1"/>
              <a:t>read_excel()</a:t>
            </a:r>
            <a:br>
              <a:rPr lang="de-CH" b="1"/>
            </a:br>
            <a:r>
              <a:rPr lang="de-CH">
                <a:solidFill>
                  <a:srgbClr val="0000FF"/>
                </a:solidFill>
                <a:latin typeface="Spectral"/>
                <a:ea typeface="Spectral"/>
                <a:cs typeface="Spectral"/>
                <a:sym typeface="Spectral"/>
              </a:rPr>
              <a:t>import pandas as pd</a:t>
            </a:r>
            <a:br>
              <a:rPr lang="de-CH" b="1"/>
            </a:br>
            <a:r>
              <a:rPr lang="de-CH">
                <a:solidFill>
                  <a:srgbClr val="0000FF"/>
                </a:solidFill>
                <a:latin typeface="Spectral"/>
                <a:ea typeface="Spectral"/>
                <a:cs typeface="Spectral"/>
                <a:sym typeface="Spectral"/>
              </a:rPr>
              <a:t>df= pd.read_excel(r'C:\Users\mithu\Desktop\employee.xlsx','Sheet1')</a:t>
            </a:r>
            <a:br>
              <a:rPr lang="de-CH">
                <a:solidFill>
                  <a:srgbClr val="0000FF"/>
                </a:solidFill>
                <a:latin typeface="Spectral"/>
                <a:ea typeface="Spectral"/>
                <a:cs typeface="Spectral"/>
                <a:sym typeface="Spectral"/>
              </a:rPr>
            </a:b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read_excel() method contains 2 arguments first one the file path and the second one the sheet name in that excel file that we are looking to access.</a:t>
            </a:r>
            <a:endParaRPr>
              <a:solidFill>
                <a:srgbClr val="000000"/>
              </a:solidFill>
              <a:latin typeface="Spectral"/>
              <a:ea typeface="Spectral"/>
              <a:cs typeface="Spectral"/>
              <a:sym typeface="Spectr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76"/>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Read Excel...</a:t>
            </a:r>
            <a:endParaRPr/>
          </a:p>
        </p:txBody>
      </p:sp>
      <p:sp>
        <p:nvSpPr>
          <p:cNvPr id="446" name="Google Shape;446;p76"/>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4A86E8"/>
              </a:buClr>
              <a:buSzPts val="1800"/>
              <a:buFont typeface="Spectral"/>
              <a:buChar char="●"/>
            </a:pPr>
            <a:r>
              <a:rPr lang="de-CH">
                <a:solidFill>
                  <a:srgbClr val="4A86E8"/>
                </a:solidFill>
                <a:latin typeface="Spectral"/>
                <a:ea typeface="Spectral"/>
                <a:cs typeface="Spectral"/>
                <a:sym typeface="Spectral"/>
              </a:rPr>
              <a:t>data=pd.read_excel(r'C:\Users\mithu\Desktop\stock_data.xlsx','Sheet1')</a:t>
            </a:r>
            <a:endParaRPr>
              <a:solidFill>
                <a:srgbClr val="4A86E8"/>
              </a:solidFill>
              <a:latin typeface="Spectral"/>
              <a:ea typeface="Spectral"/>
              <a:cs typeface="Spectral"/>
              <a:sym typeface="Spectral"/>
            </a:endParaRPr>
          </a:p>
          <a:p>
            <a:pPr marL="457200" lvl="0" indent="-342900" algn="l" rtl="0">
              <a:spcBef>
                <a:spcPts val="0"/>
              </a:spcBef>
              <a:spcAft>
                <a:spcPts val="0"/>
              </a:spcAft>
              <a:buClr>
                <a:srgbClr val="4A86E8"/>
              </a:buClr>
              <a:buSzPts val="1800"/>
              <a:buFont typeface="Spectral"/>
              <a:buChar char="●"/>
            </a:pPr>
            <a:r>
              <a:rPr lang="de-CH">
                <a:solidFill>
                  <a:srgbClr val="4A86E8"/>
                </a:solidFill>
                <a:latin typeface="Spectral"/>
                <a:ea typeface="Spectral"/>
                <a:cs typeface="Spectral"/>
                <a:sym typeface="Spectral"/>
              </a:rPr>
              <a:t>data=pd.read_excel(r'C:\Users\mithu\Desktop\stock_data.xlsx','Sheet1',na_values=['n.a.','not available'])</a:t>
            </a:r>
            <a:endParaRPr>
              <a:solidFill>
                <a:srgbClr val="4A86E8"/>
              </a:solidFill>
              <a:latin typeface="Spectral"/>
              <a:ea typeface="Spectral"/>
              <a:cs typeface="Spectral"/>
              <a:sym typeface="Spectral"/>
            </a:endParaRPr>
          </a:p>
          <a:p>
            <a:pPr marL="457200" lvl="0" indent="-342900" algn="l" rtl="0">
              <a:spcBef>
                <a:spcPts val="0"/>
              </a:spcBef>
              <a:spcAft>
                <a:spcPts val="0"/>
              </a:spcAft>
              <a:buClr>
                <a:srgbClr val="4A86E8"/>
              </a:buClr>
              <a:buSzPts val="1800"/>
              <a:buFont typeface="Spectral"/>
              <a:buChar char="●"/>
            </a:pPr>
            <a:r>
              <a:rPr lang="de-CH">
                <a:solidFill>
                  <a:srgbClr val="4A86E8"/>
                </a:solidFill>
                <a:latin typeface="Spectral"/>
                <a:ea typeface="Spectral"/>
                <a:cs typeface="Spectral"/>
                <a:sym typeface="Spectral"/>
              </a:rPr>
              <a:t>data=pd.read_excel(r'C:\Users\mithu\Desktop\stock_data.xlsx','Sheet1',index=False)</a:t>
            </a:r>
            <a:endParaRPr>
              <a:solidFill>
                <a:srgbClr val="4A86E8"/>
              </a:solidFill>
              <a:latin typeface="Spectral"/>
              <a:ea typeface="Spectral"/>
              <a:cs typeface="Spectral"/>
              <a:sym typeface="Spectral"/>
            </a:endParaRPr>
          </a:p>
          <a:p>
            <a:pPr marL="457200" lvl="0" indent="-342900" algn="l" rtl="0">
              <a:spcBef>
                <a:spcPts val="0"/>
              </a:spcBef>
              <a:spcAft>
                <a:spcPts val="0"/>
              </a:spcAft>
              <a:buClr>
                <a:srgbClr val="4A86E8"/>
              </a:buClr>
              <a:buSzPts val="1800"/>
              <a:buFont typeface="Spectral"/>
              <a:buChar char="●"/>
            </a:pPr>
            <a:r>
              <a:rPr lang="de-CH">
                <a:solidFill>
                  <a:srgbClr val="4A86E8"/>
                </a:solidFill>
                <a:latin typeface="Spectral"/>
                <a:ea typeface="Spectral"/>
                <a:cs typeface="Spectral"/>
                <a:sym typeface="Spectral"/>
              </a:rPr>
              <a:t>data=pd.read_excel(r'C:\Users\mithu\Desktop\pandas\4_read_write_to_excel\stock_data.xlsx','Sheet1',header=None, names=['a','b','c','d','e'])</a:t>
            </a:r>
            <a:endParaRPr>
              <a:solidFill>
                <a:srgbClr val="4A86E8"/>
              </a:solidFill>
              <a:latin typeface="Spectral"/>
              <a:ea typeface="Spectral"/>
              <a:cs typeface="Spectral"/>
              <a:sym typeface="Spectr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77"/>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Using converters..</a:t>
            </a:r>
            <a:endParaRPr/>
          </a:p>
        </p:txBody>
      </p:sp>
      <p:sp>
        <p:nvSpPr>
          <p:cNvPr id="452" name="Google Shape;452;p77"/>
          <p:cNvSpPr txBox="1">
            <a:spLocks noGrp="1"/>
          </p:cNvSpPr>
          <p:nvPr>
            <p:ph type="body" idx="1"/>
          </p:nvPr>
        </p:nvSpPr>
        <p:spPr>
          <a:xfrm>
            <a:off x="235500" y="1225225"/>
            <a:ext cx="85206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t>Using converters to convert data using conditions</a:t>
            </a:r>
            <a:endParaRPr/>
          </a:p>
          <a:p>
            <a:pPr marL="457200" lvl="0" indent="-317500" algn="l" rtl="0">
              <a:spcBef>
                <a:spcPts val="1600"/>
              </a:spcBef>
              <a:spcAft>
                <a:spcPts val="0"/>
              </a:spcAft>
              <a:buSzPts val="1400"/>
              <a:buChar char="●"/>
            </a:pPr>
            <a:r>
              <a:rPr lang="de-CH" sz="1400"/>
              <a:t>STEP 1:create the converter method</a:t>
            </a:r>
            <a:br>
              <a:rPr lang="de-CH" sz="1400"/>
            </a:br>
            <a:r>
              <a:rPr lang="de-CH" sz="1400">
                <a:solidFill>
                  <a:srgbClr val="0000FF"/>
                </a:solidFill>
                <a:latin typeface="Spectral"/>
                <a:ea typeface="Spectral"/>
                <a:cs typeface="Spectral"/>
                <a:sym typeface="Spectral"/>
              </a:rPr>
              <a:t>def convert_people(co):</a:t>
            </a:r>
            <a:br>
              <a:rPr lang="de-CH" sz="1400">
                <a:solidFill>
                  <a:srgbClr val="0000FF"/>
                </a:solidFill>
                <a:latin typeface="Spectral"/>
                <a:ea typeface="Spectral"/>
                <a:cs typeface="Spectral"/>
                <a:sym typeface="Spectral"/>
              </a:rPr>
            </a:br>
            <a:r>
              <a:rPr lang="de-CH" sz="1600">
                <a:solidFill>
                  <a:srgbClr val="0000FF"/>
                </a:solidFill>
                <a:latin typeface="Spectral"/>
                <a:ea typeface="Spectral"/>
                <a:cs typeface="Spectral"/>
                <a:sym typeface="Spectral"/>
              </a:rPr>
              <a:t>if co=='larry page':</a:t>
            </a:r>
            <a:br>
              <a:rPr lang="de-CH" sz="1600">
                <a:solidFill>
                  <a:srgbClr val="0000FF"/>
                </a:solidFill>
                <a:latin typeface="Spectral"/>
                <a:ea typeface="Spectral"/>
                <a:cs typeface="Spectral"/>
                <a:sym typeface="Spectral"/>
              </a:rPr>
            </a:br>
            <a:r>
              <a:rPr lang="de-CH" sz="1600">
                <a:solidFill>
                  <a:srgbClr val="0000FF"/>
                </a:solidFill>
                <a:latin typeface="Spectral"/>
                <a:ea typeface="Spectral"/>
                <a:cs typeface="Spectral"/>
                <a:sym typeface="Spectral"/>
              </a:rPr>
              <a:t>      return 'Mithun'</a:t>
            </a:r>
            <a:br>
              <a:rPr lang="de-CH" sz="1600">
                <a:solidFill>
                  <a:srgbClr val="0000FF"/>
                </a:solidFill>
                <a:latin typeface="Spectral"/>
                <a:ea typeface="Spectral"/>
                <a:cs typeface="Spectral"/>
                <a:sym typeface="Spectral"/>
              </a:rPr>
            </a:br>
            <a:r>
              <a:rPr lang="de-CH" sz="1600">
                <a:solidFill>
                  <a:srgbClr val="0000FF"/>
                </a:solidFill>
                <a:latin typeface="Spectral"/>
                <a:ea typeface="Spectral"/>
                <a:cs typeface="Spectral"/>
                <a:sym typeface="Spectral"/>
              </a:rPr>
              <a:t>else:</a:t>
            </a:r>
            <a:br>
              <a:rPr lang="de-CH" sz="1600">
                <a:solidFill>
                  <a:srgbClr val="0000FF"/>
                </a:solidFill>
                <a:latin typeface="Spectral"/>
                <a:ea typeface="Spectral"/>
                <a:cs typeface="Spectral"/>
                <a:sym typeface="Spectral"/>
              </a:rPr>
            </a:br>
            <a:r>
              <a:rPr lang="de-CH" sz="1600">
                <a:solidFill>
                  <a:srgbClr val="0000FF"/>
                </a:solidFill>
                <a:latin typeface="Spectral"/>
                <a:ea typeface="Spectral"/>
                <a:cs typeface="Spectral"/>
                <a:sym typeface="Spectral"/>
              </a:rPr>
              <a:t>      return co</a:t>
            </a:r>
            <a:endParaRPr sz="1600">
              <a:solidFill>
                <a:srgbClr val="0000FF"/>
              </a:solidFill>
              <a:latin typeface="Spectral"/>
              <a:ea typeface="Spectral"/>
              <a:cs typeface="Spectral"/>
              <a:sym typeface="Spectral"/>
            </a:endParaRPr>
          </a:p>
          <a:p>
            <a:pPr marL="457200" lvl="0" indent="-330200" algn="l" rtl="0">
              <a:spcBef>
                <a:spcPts val="0"/>
              </a:spcBef>
              <a:spcAft>
                <a:spcPts val="0"/>
              </a:spcAft>
              <a:buClr>
                <a:srgbClr val="000000"/>
              </a:buClr>
              <a:buSzPts val="1600"/>
              <a:buFont typeface="Spectral"/>
              <a:buChar char="●"/>
            </a:pPr>
            <a:r>
              <a:rPr lang="de-CH" sz="1600">
                <a:solidFill>
                  <a:srgbClr val="000000"/>
                </a:solidFill>
                <a:latin typeface="Spectral"/>
                <a:ea typeface="Spectral"/>
                <a:cs typeface="Spectral"/>
                <a:sym typeface="Spectral"/>
              </a:rPr>
              <a:t>STEP2: use the converter</a:t>
            </a:r>
            <a:br>
              <a:rPr lang="de-CH" sz="1600">
                <a:solidFill>
                  <a:srgbClr val="000000"/>
                </a:solidFill>
                <a:latin typeface="Spectral"/>
                <a:ea typeface="Spectral"/>
                <a:cs typeface="Spectral"/>
                <a:sym typeface="Spectral"/>
              </a:rPr>
            </a:br>
            <a:r>
              <a:rPr lang="de-CH" sz="1600">
                <a:solidFill>
                  <a:srgbClr val="0000FF"/>
                </a:solidFill>
                <a:latin typeface="Spectral"/>
                <a:ea typeface="Spectral"/>
                <a:cs typeface="Spectral"/>
                <a:sym typeface="Spectral"/>
              </a:rPr>
              <a:t>data=pd.read_excel(r'C:\Users\mithu\Desktop\py-master\pandas\4_read_write_to_excel\stock_data.xlsx','Sheet1', converters={'people':convert_people})</a:t>
            </a:r>
            <a:endParaRPr sz="1600">
              <a:solidFill>
                <a:srgbClr val="0000FF"/>
              </a:solidFill>
              <a:latin typeface="Spectral"/>
              <a:ea typeface="Spectral"/>
              <a:cs typeface="Spectral"/>
              <a:sym typeface="Spectral"/>
            </a:endParaRPr>
          </a:p>
          <a:p>
            <a:pPr marL="0" lvl="0" indent="0" algn="l" rtl="0">
              <a:spcBef>
                <a:spcPts val="1600"/>
              </a:spcBef>
              <a:spcAft>
                <a:spcPts val="1600"/>
              </a:spcAft>
              <a:buNone/>
            </a:pPr>
            <a:br>
              <a:rPr lang="de-CH"/>
            </a:b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78"/>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Write EXCEL ...</a:t>
            </a:r>
            <a:endParaRPr/>
          </a:p>
        </p:txBody>
      </p:sp>
      <p:sp>
        <p:nvSpPr>
          <p:cNvPr id="458" name="Google Shape;458;p78"/>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data.to_excel(r'C:\Users\mithu\Desktop\new.xlsx')</a:t>
            </a:r>
            <a:endParaRPr>
              <a:solidFill>
                <a:srgbClr val="0000FF"/>
              </a:solidFill>
              <a:latin typeface="Spectral"/>
              <a:ea typeface="Spectral"/>
              <a:cs typeface="Spectral"/>
              <a:sym typeface="Spectr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79"/>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Write two data frames in a single excel file</a:t>
            </a:r>
            <a:endParaRPr/>
          </a:p>
        </p:txBody>
      </p:sp>
      <p:sp>
        <p:nvSpPr>
          <p:cNvPr id="464" name="Google Shape;464;p79"/>
          <p:cNvSpPr txBox="1">
            <a:spLocks noGrp="1"/>
          </p:cNvSpPr>
          <p:nvPr>
            <p:ph type="body" idx="1"/>
          </p:nvPr>
        </p:nvSpPr>
        <p:spPr>
          <a:xfrm>
            <a:off x="311700" y="1147225"/>
            <a:ext cx="85206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t>Using write ExcelWriter() method</a:t>
            </a:r>
            <a:endParaRPr/>
          </a:p>
          <a:p>
            <a:pPr marL="0" lvl="0" indent="0" algn="l" rtl="0">
              <a:spcBef>
                <a:spcPts val="1600"/>
              </a:spcBef>
              <a:spcAft>
                <a:spcPts val="0"/>
              </a:spcAft>
              <a:buClr>
                <a:schemeClr val="dk1"/>
              </a:buClr>
              <a:buSzPts val="1100"/>
              <a:buFont typeface="Arial"/>
              <a:buNone/>
            </a:pPr>
            <a:r>
              <a:rPr lang="de-CH">
                <a:solidFill>
                  <a:srgbClr val="0000FF"/>
                </a:solidFill>
                <a:latin typeface="Spectral"/>
                <a:ea typeface="Spectral"/>
                <a:cs typeface="Spectral"/>
                <a:sym typeface="Spectral"/>
              </a:rPr>
              <a:t>with pd.ExcelWriter(r'C:\Users\mithu\Desktop\new2.xlsx') as wr:</a:t>
            </a:r>
            <a:endParaRPr>
              <a:solidFill>
                <a:srgbClr val="0000FF"/>
              </a:solidFill>
              <a:latin typeface="Spectral"/>
              <a:ea typeface="Spectral"/>
              <a:cs typeface="Spectral"/>
              <a:sym typeface="Spectral"/>
            </a:endParaRPr>
          </a:p>
          <a:p>
            <a:pPr marL="0" lvl="0" indent="0" algn="l" rtl="0">
              <a:spcBef>
                <a:spcPts val="1600"/>
              </a:spcBef>
              <a:spcAft>
                <a:spcPts val="0"/>
              </a:spcAft>
              <a:buClr>
                <a:schemeClr val="dk1"/>
              </a:buClr>
              <a:buSzPts val="1100"/>
              <a:buFont typeface="Arial"/>
              <a:buNone/>
            </a:pPr>
            <a:r>
              <a:rPr lang="de-CH">
                <a:solidFill>
                  <a:srgbClr val="0000FF"/>
                </a:solidFill>
                <a:latin typeface="Spectral"/>
                <a:ea typeface="Spectral"/>
                <a:cs typeface="Spectral"/>
                <a:sym typeface="Spectral"/>
              </a:rPr>
              <a:t>    data1.to_excel(wr,sheet_name='Sheet1')</a:t>
            </a:r>
            <a:endParaRPr>
              <a:solidFill>
                <a:srgbClr val="0000FF"/>
              </a:solidFill>
              <a:latin typeface="Spectral"/>
              <a:ea typeface="Spectral"/>
              <a:cs typeface="Spectral"/>
              <a:sym typeface="Spectral"/>
            </a:endParaRPr>
          </a:p>
          <a:p>
            <a:pPr marL="0" lvl="0" indent="0" algn="l" rtl="0">
              <a:spcBef>
                <a:spcPts val="1600"/>
              </a:spcBef>
              <a:spcAft>
                <a:spcPts val="0"/>
              </a:spcAft>
              <a:buClr>
                <a:schemeClr val="dk1"/>
              </a:buClr>
              <a:buSzPts val="1100"/>
              <a:buFont typeface="Arial"/>
              <a:buNone/>
            </a:pPr>
            <a:r>
              <a:rPr lang="de-CH">
                <a:solidFill>
                  <a:srgbClr val="0000FF"/>
                </a:solidFill>
                <a:latin typeface="Spectral"/>
                <a:ea typeface="Spectral"/>
                <a:cs typeface="Spectral"/>
                <a:sym typeface="Spectral"/>
              </a:rPr>
              <a:t>    data2.to_excel(wr,sheet_name='Sheet2')</a:t>
            </a:r>
            <a:endParaRPr>
              <a:solidFill>
                <a:srgbClr val="0000FF"/>
              </a:solidFill>
              <a:latin typeface="Spectral"/>
              <a:ea typeface="Spectral"/>
              <a:cs typeface="Spectral"/>
              <a:sym typeface="Spectral"/>
            </a:endParaRPr>
          </a:p>
          <a:p>
            <a:pPr marL="0" lvl="0" indent="0" algn="l" rtl="0">
              <a:spcBef>
                <a:spcPts val="1600"/>
              </a:spcBef>
              <a:spcAft>
                <a:spcPts val="1600"/>
              </a:spcAft>
              <a:buNone/>
            </a:pP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80"/>
          <p:cNvSpPr txBox="1">
            <a:spLocks noGrp="1"/>
          </p:cNvSpPr>
          <p:nvPr>
            <p:ph type="title"/>
          </p:nvPr>
        </p:nvSpPr>
        <p:spPr>
          <a:xfrm>
            <a:off x="311700" y="135100"/>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Read SQL</a:t>
            </a:r>
            <a:endParaRPr/>
          </a:p>
        </p:txBody>
      </p:sp>
      <p:sp>
        <p:nvSpPr>
          <p:cNvPr id="470" name="Google Shape;470;p80"/>
          <p:cNvSpPr txBox="1">
            <a:spLocks noGrp="1"/>
          </p:cNvSpPr>
          <p:nvPr>
            <p:ph type="body" idx="1"/>
          </p:nvPr>
        </p:nvSpPr>
        <p:spPr>
          <a:xfrm>
            <a:off x="311700" y="966400"/>
            <a:ext cx="8520600" cy="39183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By connecting pandas with mysql you can read sql tables .queries and you can insert values </a:t>
            </a:r>
            <a:endParaRPr/>
          </a:p>
          <a:p>
            <a:pPr marL="457200" lvl="0" indent="-342900" algn="l" rtl="0">
              <a:spcBef>
                <a:spcPts val="0"/>
              </a:spcBef>
              <a:spcAft>
                <a:spcPts val="0"/>
              </a:spcAft>
              <a:buSzPts val="1800"/>
              <a:buChar char="●"/>
            </a:pPr>
            <a:r>
              <a:rPr lang="de-CH"/>
              <a:t>STEP 1:For connecting Sql with pandas you need to  install 2 modules</a:t>
            </a:r>
            <a:br>
              <a:rPr lang="de-CH"/>
            </a:br>
            <a:r>
              <a:rPr lang="de-CH">
                <a:solidFill>
                  <a:srgbClr val="0000FF"/>
                </a:solidFill>
                <a:latin typeface="Spectral"/>
                <a:ea typeface="Spectral"/>
                <a:cs typeface="Spectral"/>
                <a:sym typeface="Spectral"/>
              </a:rPr>
              <a:t>pip3 install PyMysql</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pip3 install sqlalchemy</a:t>
            </a:r>
            <a:endParaRPr>
              <a:solidFill>
                <a:srgbClr val="0000FF"/>
              </a:solidFill>
              <a:latin typeface="Spectral"/>
              <a:ea typeface="Spectral"/>
              <a:cs typeface="Spectral"/>
              <a:sym typeface="Spectral"/>
            </a:endParaRPr>
          </a:p>
          <a:p>
            <a:pPr marL="457200" lvl="0" indent="-342900" algn="l" rtl="0">
              <a:spcBef>
                <a:spcPts val="0"/>
              </a:spcBef>
              <a:spcAft>
                <a:spcPts val="0"/>
              </a:spcAft>
              <a:buSzPts val="1800"/>
              <a:buChar char="●"/>
            </a:pPr>
            <a:r>
              <a:rPr lang="de-CH"/>
              <a:t>STEP 2: Next need to create a connection by using create_engine() method of </a:t>
            </a:r>
            <a:r>
              <a:rPr lang="de-CH" b="1"/>
              <a:t>sqlalchemy </a:t>
            </a:r>
            <a:r>
              <a:rPr lang="de-CH"/>
              <a:t>module</a:t>
            </a:r>
            <a:br>
              <a:rPr lang="de-CH"/>
            </a:br>
            <a:r>
              <a:rPr lang="de-CH">
                <a:solidFill>
                  <a:srgbClr val="0000FF"/>
                </a:solidFill>
                <a:latin typeface="Spectral"/>
                <a:ea typeface="Spectral"/>
                <a:cs typeface="Spectral"/>
                <a:sym typeface="Spectral"/>
              </a:rPr>
              <a:t>conn=sqlalchemy.create_engine("mysql+pymysql://root:12345@localhost:3306/employee")</a:t>
            </a:r>
            <a:endParaRPr>
              <a:solidFill>
                <a:srgbClr val="0000FF"/>
              </a:solidFill>
              <a:latin typeface="Spectral"/>
              <a:ea typeface="Spectral"/>
              <a:cs typeface="Spectral"/>
              <a:sym typeface="Spectral"/>
            </a:endParaRPr>
          </a:p>
          <a:p>
            <a:pPr marL="457200" lvl="0" indent="-342900" algn="l" rtl="0">
              <a:spcBef>
                <a:spcPts val="0"/>
              </a:spcBef>
              <a:spcAft>
                <a:spcPts val="0"/>
              </a:spcAft>
              <a:buSzPts val="1800"/>
              <a:buChar char="●"/>
            </a:pPr>
            <a:r>
              <a:rPr lang="de-CH"/>
              <a:t>STEP 3: read sql table by using pandas read_sql_table() method</a:t>
            </a:r>
            <a:br>
              <a:rPr lang="de-CH"/>
            </a:br>
            <a:r>
              <a:rPr lang="de-CH">
                <a:solidFill>
                  <a:srgbClr val="0000FF"/>
                </a:solidFill>
                <a:latin typeface="Spectral"/>
                <a:ea typeface="Spectral"/>
                <a:cs typeface="Spectral"/>
                <a:sym typeface="Spectral"/>
              </a:rPr>
              <a:t>data=pd.read_sql_table('dept',conn)</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data=pd.read_sql_table('dept',conn,columns=['dloc','dname'])</a:t>
            </a:r>
            <a:br>
              <a:rPr lang="de-CH">
                <a:solidFill>
                  <a:srgbClr val="0000FF"/>
                </a:solidFill>
                <a:latin typeface="Spectral"/>
                <a:ea typeface="Spectral"/>
                <a:cs typeface="Spectral"/>
                <a:sym typeface="Spectral"/>
              </a:rPr>
            </a:br>
            <a:br>
              <a:rPr lang="de-CH"/>
            </a:b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81"/>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read_sql_query()</a:t>
            </a:r>
            <a:endParaRPr/>
          </a:p>
        </p:txBody>
      </p:sp>
      <p:sp>
        <p:nvSpPr>
          <p:cNvPr id="476" name="Google Shape;476;p81"/>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You can read the sql query by using read_sql_query()</a:t>
            </a:r>
            <a:br>
              <a:rPr lang="de-CH"/>
            </a:br>
            <a:r>
              <a:rPr lang="de-CH">
                <a:solidFill>
                  <a:srgbClr val="4A86E8"/>
                </a:solidFill>
                <a:latin typeface="Spectral"/>
                <a:ea typeface="Spectral"/>
                <a:cs typeface="Spectral"/>
                <a:sym typeface="Spectral"/>
              </a:rPr>
              <a:t>query='select * from dept'</a:t>
            </a:r>
            <a:br>
              <a:rPr lang="de-CH">
                <a:solidFill>
                  <a:srgbClr val="4A86E8"/>
                </a:solidFill>
                <a:latin typeface="Spectral"/>
                <a:ea typeface="Spectral"/>
                <a:cs typeface="Spectral"/>
                <a:sym typeface="Spectral"/>
              </a:rPr>
            </a:br>
            <a:r>
              <a:rPr lang="de-CH">
                <a:solidFill>
                  <a:srgbClr val="4A86E8"/>
                </a:solidFill>
                <a:latin typeface="Spectral"/>
                <a:ea typeface="Spectral"/>
                <a:cs typeface="Spectral"/>
                <a:sym typeface="Spectral"/>
              </a:rPr>
              <a:t>data=pd.read_sql_query(query,conn)</a:t>
            </a:r>
            <a:endParaRPr>
              <a:solidFill>
                <a:srgbClr val="4A86E8"/>
              </a:solidFill>
              <a:latin typeface="Spectral"/>
              <a:ea typeface="Spectral"/>
              <a:cs typeface="Spectral"/>
              <a:sym typeface="Spectral"/>
            </a:endParaRPr>
          </a:p>
          <a:p>
            <a:pPr marL="457200" lvl="0" indent="0" algn="l" rtl="0">
              <a:spcBef>
                <a:spcPts val="1600"/>
              </a:spcBef>
              <a:spcAft>
                <a:spcPts val="1600"/>
              </a:spcAft>
              <a:buNone/>
            </a:pP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82"/>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Write to sql table..</a:t>
            </a:r>
            <a:endParaRPr/>
          </a:p>
        </p:txBody>
      </p:sp>
      <p:sp>
        <p:nvSpPr>
          <p:cNvPr id="482" name="Google Shape;482;p82"/>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We can write dataframe directly to mysql table</a:t>
            </a:r>
            <a:endParaRPr/>
          </a:p>
          <a:p>
            <a:pPr marL="457200" lvl="0" indent="0" algn="l" rtl="0">
              <a:spcBef>
                <a:spcPts val="1600"/>
              </a:spcBef>
              <a:spcAft>
                <a:spcPts val="1600"/>
              </a:spcAft>
              <a:buNone/>
            </a:pPr>
            <a:r>
              <a:rPr lang="de-CH">
                <a:solidFill>
                  <a:srgbClr val="0000FF"/>
                </a:solidFill>
                <a:latin typeface="Spectral"/>
                <a:ea typeface="Spectral"/>
                <a:cs typeface="Spectral"/>
                <a:sym typeface="Spectral"/>
              </a:rPr>
              <a:t>data=pd.read_csv('weather_data.csv')</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data.to_sql(name='weather_table',con=conn,index=False)</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data.to_sql(name='weather_table',con=conn,index=False,if_exists='append')</a:t>
            </a:r>
            <a:endParaRPr>
              <a:solidFill>
                <a:srgbClr val="0000FF"/>
              </a:solidFill>
              <a:latin typeface="Spectral"/>
              <a:ea typeface="Spectral"/>
              <a:cs typeface="Spectral"/>
              <a:sym typeface="Spectr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83"/>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Basics..</a:t>
            </a:r>
            <a:endParaRPr/>
          </a:p>
        </p:txBody>
      </p:sp>
      <p:sp>
        <p:nvSpPr>
          <p:cNvPr id="488" name="Google Shape;488;p83"/>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b="1"/>
              <a:t>Shape</a:t>
            </a:r>
            <a:br>
              <a:rPr lang="de-CH"/>
            </a:br>
            <a:r>
              <a:rPr lang="de-CH">
                <a:solidFill>
                  <a:srgbClr val="0000FF"/>
                </a:solidFill>
                <a:latin typeface="Spectral"/>
                <a:ea typeface="Spectral"/>
                <a:cs typeface="Spectral"/>
                <a:sym typeface="Spectral"/>
              </a:rPr>
              <a:t>df.shape → </a:t>
            </a:r>
            <a:r>
              <a:rPr lang="de-CH">
                <a:solidFill>
                  <a:srgbClr val="000000"/>
                </a:solidFill>
                <a:latin typeface="Spectral"/>
                <a:ea typeface="Spectral"/>
                <a:cs typeface="Spectral"/>
                <a:sym typeface="Spectral"/>
              </a:rPr>
              <a:t>provides the shape of the Dataframe</a:t>
            </a:r>
            <a:endParaRPr>
              <a:solidFill>
                <a:srgbClr val="000000"/>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b="1">
                <a:solidFill>
                  <a:srgbClr val="000000"/>
                </a:solidFill>
                <a:latin typeface="Spectral"/>
                <a:ea typeface="Spectral"/>
                <a:cs typeface="Spectral"/>
                <a:sym typeface="Spectral"/>
              </a:rPr>
              <a:t>head()</a:t>
            </a:r>
            <a:br>
              <a:rPr lang="de-CH" b="1">
                <a:solidFill>
                  <a:srgbClr val="000000"/>
                </a:solidFill>
                <a:latin typeface="Spectral"/>
                <a:ea typeface="Spectral"/>
                <a:cs typeface="Spectral"/>
                <a:sym typeface="Spectral"/>
              </a:rPr>
            </a:br>
            <a:r>
              <a:rPr lang="de-CH">
                <a:solidFill>
                  <a:srgbClr val="0000FF"/>
                </a:solidFill>
                <a:latin typeface="Spectral"/>
                <a:ea typeface="Spectral"/>
                <a:cs typeface="Spectral"/>
                <a:sym typeface="Spectral"/>
              </a:rPr>
              <a:t>df.head() → </a:t>
            </a:r>
            <a:r>
              <a:rPr lang="de-CH">
                <a:solidFill>
                  <a:srgbClr val="000000"/>
                </a:solidFill>
                <a:latin typeface="Spectral"/>
                <a:ea typeface="Spectral"/>
                <a:cs typeface="Spectral"/>
                <a:sym typeface="Spectral"/>
              </a:rPr>
              <a:t>provides the first 5 rows of the DataFrame</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df.head(3) → </a:t>
            </a:r>
            <a:r>
              <a:rPr lang="de-CH">
                <a:solidFill>
                  <a:srgbClr val="000000"/>
                </a:solidFill>
                <a:latin typeface="Spectral"/>
                <a:ea typeface="Spectral"/>
                <a:cs typeface="Spectral"/>
                <a:sym typeface="Spectral"/>
              </a:rPr>
              <a:t>provides first 3</a:t>
            </a:r>
            <a:endParaRPr>
              <a:solidFill>
                <a:srgbClr val="000000"/>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b="1">
                <a:solidFill>
                  <a:srgbClr val="000000"/>
                </a:solidFill>
                <a:latin typeface="Spectral"/>
                <a:ea typeface="Spectral"/>
                <a:cs typeface="Spectral"/>
                <a:sym typeface="Spectral"/>
              </a:rPr>
              <a:t>tail()</a:t>
            </a:r>
            <a:br>
              <a:rPr lang="de-CH" b="1">
                <a:solidFill>
                  <a:srgbClr val="000000"/>
                </a:solidFill>
                <a:latin typeface="Spectral"/>
                <a:ea typeface="Spectral"/>
                <a:cs typeface="Spectral"/>
                <a:sym typeface="Spectral"/>
              </a:rPr>
            </a:br>
            <a:r>
              <a:rPr lang="de-CH" b="1">
                <a:solidFill>
                  <a:srgbClr val="4A86E8"/>
                </a:solidFill>
                <a:latin typeface="Spectral"/>
                <a:ea typeface="Spectral"/>
                <a:cs typeface="Spectral"/>
                <a:sym typeface="Spectral"/>
              </a:rPr>
              <a:t>df.tail()</a:t>
            </a:r>
            <a:r>
              <a:rPr lang="de-CH" b="1">
                <a:solidFill>
                  <a:srgbClr val="000000"/>
                </a:solidFill>
                <a:latin typeface="Spectral"/>
                <a:ea typeface="Spectral"/>
                <a:cs typeface="Spectral"/>
                <a:sym typeface="Spectral"/>
              </a:rPr>
              <a:t> → </a:t>
            </a:r>
            <a:r>
              <a:rPr lang="de-CH">
                <a:solidFill>
                  <a:srgbClr val="000000"/>
                </a:solidFill>
                <a:latin typeface="Spectral"/>
                <a:ea typeface="Spectral"/>
                <a:cs typeface="Spectral"/>
                <a:sym typeface="Spectral"/>
              </a:rPr>
              <a:t>provides the last 5 rows of the DataFrame</a:t>
            </a:r>
            <a:br>
              <a:rPr lang="de-CH">
                <a:solidFill>
                  <a:srgbClr val="000000"/>
                </a:solidFill>
                <a:latin typeface="Spectral"/>
                <a:ea typeface="Spectral"/>
                <a:cs typeface="Spectral"/>
                <a:sym typeface="Spectral"/>
              </a:rPr>
            </a:br>
            <a:r>
              <a:rPr lang="de-CH">
                <a:solidFill>
                  <a:srgbClr val="4A86E8"/>
                </a:solidFill>
                <a:latin typeface="Spectral"/>
                <a:ea typeface="Spectral"/>
                <a:cs typeface="Spectral"/>
                <a:sym typeface="Spectral"/>
              </a:rPr>
              <a:t>df.tail(2) → </a:t>
            </a:r>
            <a:r>
              <a:rPr lang="de-CH">
                <a:solidFill>
                  <a:srgbClr val="000000"/>
                </a:solidFill>
                <a:latin typeface="Spectral"/>
                <a:ea typeface="Spectral"/>
                <a:cs typeface="Spectral"/>
                <a:sym typeface="Spectral"/>
              </a:rPr>
              <a:t>Provides the last 2 rows of the dataframe</a:t>
            </a:r>
            <a:endParaRPr>
              <a:solidFill>
                <a:srgbClr val="000000"/>
              </a:solidFill>
              <a:latin typeface="Spectral"/>
              <a:ea typeface="Spectral"/>
              <a:cs typeface="Spectral"/>
              <a:sym typeface="Spectr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492"/>
        <p:cNvGrpSpPr/>
        <p:nvPr/>
      </p:nvGrpSpPr>
      <p:grpSpPr>
        <a:xfrm>
          <a:off x="0" y="0"/>
          <a:ext cx="0" cy="0"/>
          <a:chOff x="0" y="0"/>
          <a:chExt cx="0" cy="0"/>
        </a:xfrm>
      </p:grpSpPr>
      <p:sp>
        <p:nvSpPr>
          <p:cNvPr id="493" name="Google Shape;493;p84"/>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Basics continues..</a:t>
            </a:r>
            <a:endParaRPr/>
          </a:p>
        </p:txBody>
      </p:sp>
      <p:sp>
        <p:nvSpPr>
          <p:cNvPr id="494" name="Google Shape;494;p84"/>
          <p:cNvSpPr txBox="1">
            <a:spLocks noGrp="1"/>
          </p:cNvSpPr>
          <p:nvPr>
            <p:ph type="body" idx="1"/>
          </p:nvPr>
        </p:nvSpPr>
        <p:spPr>
          <a:xfrm>
            <a:off x="311700" y="1225225"/>
            <a:ext cx="8520600" cy="36435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b="1"/>
              <a:t>Columns</a:t>
            </a:r>
            <a:br>
              <a:rPr lang="de-CH" b="1"/>
            </a:br>
            <a:r>
              <a:rPr lang="de-CH">
                <a:solidFill>
                  <a:srgbClr val="0000FF"/>
                </a:solidFill>
                <a:latin typeface="Spectral"/>
                <a:ea typeface="Spectral"/>
                <a:cs typeface="Spectral"/>
                <a:sym typeface="Spectral"/>
              </a:rPr>
              <a:t>df.columns</a:t>
            </a:r>
            <a:endParaRPr>
              <a:solidFill>
                <a:srgbClr val="0000FF"/>
              </a:solidFill>
              <a:latin typeface="Spectral"/>
              <a:ea typeface="Spectral"/>
              <a:cs typeface="Spectral"/>
              <a:sym typeface="Spectral"/>
            </a:endParaRPr>
          </a:p>
          <a:p>
            <a:pPr marL="457200" lvl="0" indent="-342900" algn="l" rtl="0">
              <a:spcBef>
                <a:spcPts val="0"/>
              </a:spcBef>
              <a:spcAft>
                <a:spcPts val="0"/>
              </a:spcAft>
              <a:buSzPts val="1800"/>
              <a:buChar char="●"/>
            </a:pPr>
            <a:r>
              <a:rPr lang="de-CH" b="1"/>
              <a:t>To print a specific column data</a:t>
            </a:r>
            <a:br>
              <a:rPr lang="de-CH" b="1"/>
            </a:br>
            <a:r>
              <a:rPr lang="de-CH" b="1">
                <a:solidFill>
                  <a:srgbClr val="0000FF"/>
                </a:solidFill>
                <a:latin typeface="Spectral"/>
                <a:ea typeface="Spectral"/>
                <a:cs typeface="Spectral"/>
                <a:sym typeface="Spectral"/>
              </a:rPr>
              <a:t>df.name </a:t>
            </a:r>
            <a:r>
              <a:rPr lang="de-CH" b="1">
                <a:solidFill>
                  <a:srgbClr val="000000"/>
                </a:solidFill>
                <a:latin typeface="Spectral"/>
                <a:ea typeface="Spectral"/>
                <a:cs typeface="Spectral"/>
                <a:sym typeface="Spectral"/>
              </a:rPr>
              <a:t>or</a:t>
            </a:r>
            <a:r>
              <a:rPr lang="de-CH" b="1">
                <a:solidFill>
                  <a:srgbClr val="0000FF"/>
                </a:solidFill>
                <a:latin typeface="Spectral"/>
                <a:ea typeface="Spectral"/>
                <a:cs typeface="Spectral"/>
                <a:sym typeface="Spectral"/>
              </a:rPr>
              <a:t> df[‘name’]  → </a:t>
            </a:r>
            <a:r>
              <a:rPr lang="de-CH" b="1">
                <a:solidFill>
                  <a:srgbClr val="000000"/>
                </a:solidFill>
                <a:latin typeface="Spectral"/>
                <a:ea typeface="Spectral"/>
                <a:cs typeface="Spectral"/>
                <a:sym typeface="Spectral"/>
              </a:rPr>
              <a:t>where name is the column name in df dataframe</a:t>
            </a:r>
            <a:endParaRPr b="1">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b="1">
                <a:solidFill>
                  <a:srgbClr val="000000"/>
                </a:solidFill>
                <a:latin typeface="Spectral"/>
                <a:ea typeface="Spectral"/>
                <a:cs typeface="Spectral"/>
                <a:sym typeface="Spectral"/>
              </a:rPr>
              <a:t>To get some columns</a:t>
            </a:r>
            <a:br>
              <a:rPr lang="de-CH" b="1">
                <a:solidFill>
                  <a:srgbClr val="000000"/>
                </a:solidFill>
                <a:latin typeface="Spectral"/>
                <a:ea typeface="Spectral"/>
                <a:cs typeface="Spectral"/>
                <a:sym typeface="Spectral"/>
              </a:rPr>
            </a:br>
            <a:r>
              <a:rPr lang="de-CH" b="1">
                <a:solidFill>
                  <a:srgbClr val="0000FF"/>
                </a:solidFill>
                <a:latin typeface="Spectral"/>
                <a:ea typeface="Spectral"/>
                <a:cs typeface="Spectral"/>
                <a:sym typeface="Spectral"/>
              </a:rPr>
              <a:t>Df[['id','name','age']]</a:t>
            </a:r>
            <a:endParaRPr b="1">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b="1">
                <a:solidFill>
                  <a:srgbClr val="000000"/>
                </a:solidFill>
                <a:latin typeface="Spectral"/>
                <a:ea typeface="Spectral"/>
                <a:cs typeface="Spectral"/>
                <a:sym typeface="Spectral"/>
              </a:rPr>
              <a:t>Index</a:t>
            </a:r>
            <a:br>
              <a:rPr lang="de-CH" b="1">
                <a:solidFill>
                  <a:srgbClr val="000000"/>
                </a:solidFill>
                <a:latin typeface="Spectral"/>
                <a:ea typeface="Spectral"/>
                <a:cs typeface="Spectral"/>
                <a:sym typeface="Spectral"/>
              </a:rPr>
            </a:br>
            <a:r>
              <a:rPr lang="de-CH" b="1">
                <a:solidFill>
                  <a:srgbClr val="0000FF"/>
                </a:solidFill>
                <a:latin typeface="Spectral"/>
                <a:ea typeface="Spectral"/>
                <a:cs typeface="Spectral"/>
                <a:sym typeface="Spectral"/>
              </a:rPr>
              <a:t>df.index</a:t>
            </a:r>
            <a:r>
              <a:rPr lang="de-CH" b="1">
                <a:solidFill>
                  <a:srgbClr val="000000"/>
                </a:solidFill>
                <a:latin typeface="Spectral"/>
                <a:ea typeface="Spectral"/>
                <a:cs typeface="Spectral"/>
                <a:sym typeface="Spectral"/>
              </a:rPr>
              <a:t> → to view the index assigned to the data frame</a:t>
            </a:r>
            <a:br>
              <a:rPr lang="de-CH" b="1">
                <a:solidFill>
                  <a:srgbClr val="000000"/>
                </a:solidFill>
                <a:latin typeface="Spectral"/>
                <a:ea typeface="Spectral"/>
                <a:cs typeface="Spectral"/>
                <a:sym typeface="Spectral"/>
              </a:rPr>
            </a:br>
            <a:r>
              <a:rPr lang="de-CH" b="1">
                <a:solidFill>
                  <a:srgbClr val="0000FF"/>
                </a:solidFill>
                <a:latin typeface="Spectral"/>
                <a:ea typeface="Spectral"/>
                <a:cs typeface="Spectral"/>
                <a:sym typeface="Spectral"/>
              </a:rPr>
              <a:t>df.set_index('id') → </a:t>
            </a:r>
            <a:r>
              <a:rPr lang="de-CH" b="1">
                <a:solidFill>
                  <a:srgbClr val="000000"/>
                </a:solidFill>
                <a:latin typeface="Spectral"/>
                <a:ea typeface="Spectral"/>
                <a:cs typeface="Spectral"/>
                <a:sym typeface="Spectral"/>
              </a:rPr>
              <a:t>To change the index to some other column value</a:t>
            </a:r>
            <a:br>
              <a:rPr lang="de-CH" b="1">
                <a:solidFill>
                  <a:srgbClr val="0000FF"/>
                </a:solidFill>
                <a:latin typeface="Spectral"/>
                <a:ea typeface="Spectral"/>
                <a:cs typeface="Spectral"/>
                <a:sym typeface="Spectral"/>
              </a:rPr>
            </a:br>
            <a:r>
              <a:rPr lang="de-CH" b="1">
                <a:solidFill>
                  <a:srgbClr val="0000FF"/>
                </a:solidFill>
                <a:latin typeface="Spectral"/>
                <a:ea typeface="Spectral"/>
                <a:cs typeface="Spectral"/>
                <a:sym typeface="Spectral"/>
              </a:rPr>
              <a:t>df.reset_index()  → </a:t>
            </a:r>
            <a:r>
              <a:rPr lang="de-CH">
                <a:solidFill>
                  <a:srgbClr val="000000"/>
                </a:solidFill>
                <a:latin typeface="Spectral"/>
                <a:ea typeface="Spectral"/>
                <a:cs typeface="Spectral"/>
                <a:sym typeface="Spectral"/>
              </a:rPr>
              <a:t>Reset index to previous stage</a:t>
            </a:r>
            <a:endParaRPr>
              <a:solidFill>
                <a:srgbClr val="000000"/>
              </a:solidFill>
              <a:latin typeface="Spectral"/>
              <a:ea typeface="Spectral"/>
              <a:cs typeface="Spectral"/>
              <a:sym typeface="Spectr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498"/>
        <p:cNvGrpSpPr/>
        <p:nvPr/>
      </p:nvGrpSpPr>
      <p:grpSpPr>
        <a:xfrm>
          <a:off x="0" y="0"/>
          <a:ext cx="0" cy="0"/>
          <a:chOff x="0" y="0"/>
          <a:chExt cx="0" cy="0"/>
        </a:xfrm>
      </p:grpSpPr>
      <p:sp>
        <p:nvSpPr>
          <p:cNvPr id="499" name="Google Shape;499;p85"/>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Basics continues..</a:t>
            </a:r>
            <a:endParaRPr/>
          </a:p>
        </p:txBody>
      </p:sp>
      <p:sp>
        <p:nvSpPr>
          <p:cNvPr id="500" name="Google Shape;500;p85"/>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b="1"/>
              <a:t>Adding new column to a dataframe</a:t>
            </a:r>
            <a:endParaRPr b="1"/>
          </a:p>
          <a:p>
            <a:pPr marL="457200" lvl="0" indent="0" algn="l" rtl="0">
              <a:spcBef>
                <a:spcPts val="1600"/>
              </a:spcBef>
              <a:spcAft>
                <a:spcPts val="0"/>
              </a:spcAft>
              <a:buNone/>
            </a:pPr>
            <a:r>
              <a:rPr lang="de-CH">
                <a:solidFill>
                  <a:srgbClr val="0000FF"/>
                </a:solidFill>
              </a:rPr>
              <a:t>data[‘new_column_name’] = column_values</a:t>
            </a:r>
            <a:endParaRPr>
              <a:solidFill>
                <a:srgbClr val="0000FF"/>
              </a:solidFill>
            </a:endParaRPr>
          </a:p>
          <a:p>
            <a:pPr marL="457200" lvl="0" indent="-342900" algn="l" rtl="0">
              <a:spcBef>
                <a:spcPts val="1600"/>
              </a:spcBef>
              <a:spcAft>
                <a:spcPts val="0"/>
              </a:spcAft>
              <a:buSzPts val="1800"/>
              <a:buChar char="●"/>
            </a:pPr>
            <a:r>
              <a:rPr lang="de-CH" b="1"/>
              <a:t>sort_values()</a:t>
            </a:r>
            <a:br>
              <a:rPr lang="de-CH" b="1"/>
            </a:br>
            <a:r>
              <a:rPr lang="de-CH">
                <a:solidFill>
                  <a:srgbClr val="0000FF"/>
                </a:solidFill>
              </a:rPr>
              <a:t>data.sort_values('Name',ascending=True)</a:t>
            </a:r>
            <a:endParaRPr>
              <a:solidFill>
                <a:srgbClr val="0000FF"/>
              </a:solidFill>
            </a:endParaRPr>
          </a:p>
          <a:p>
            <a:pPr marL="457200" lvl="0" indent="0" algn="l" rtl="0">
              <a:spcBef>
                <a:spcPts val="1600"/>
              </a:spcBef>
              <a:spcAft>
                <a:spcPts val="1600"/>
              </a:spcAft>
              <a:buNone/>
            </a:pP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86"/>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Basics continues..</a:t>
            </a:r>
            <a:endParaRPr/>
          </a:p>
        </p:txBody>
      </p:sp>
      <p:sp>
        <p:nvSpPr>
          <p:cNvPr id="506" name="Google Shape;506;p86"/>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b="1"/>
              <a:t>loc </a:t>
            </a:r>
            <a:endParaRPr b="1"/>
          </a:p>
          <a:p>
            <a:pPr marL="457200" lvl="0" indent="0" algn="l" rtl="0">
              <a:spcBef>
                <a:spcPts val="1600"/>
              </a:spcBef>
              <a:spcAft>
                <a:spcPts val="0"/>
              </a:spcAft>
              <a:buNone/>
            </a:pPr>
            <a:r>
              <a:rPr lang="de-CH" b="1">
                <a:solidFill>
                  <a:srgbClr val="273239"/>
                </a:solidFill>
                <a:highlight>
                  <a:srgbClr val="FFFFFF"/>
                </a:highlight>
                <a:latin typeface="Arial"/>
                <a:ea typeface="Arial"/>
                <a:cs typeface="Arial"/>
                <a:sym typeface="Arial"/>
              </a:rPr>
              <a:t>.loc()</a:t>
            </a:r>
            <a:r>
              <a:rPr lang="de-CH">
                <a:solidFill>
                  <a:srgbClr val="273239"/>
                </a:solidFill>
                <a:highlight>
                  <a:srgbClr val="FFFFFF"/>
                </a:highlight>
                <a:latin typeface="Arial"/>
                <a:ea typeface="Arial"/>
                <a:cs typeface="Arial"/>
                <a:sym typeface="Arial"/>
              </a:rPr>
              <a:t> is a label based data selecting method which means that we have to pass the name of the row or column which we want to select. It can accept boolean data.</a:t>
            </a:r>
            <a:endParaRPr sz="2300"/>
          </a:p>
          <a:p>
            <a:pPr marL="457200" lvl="0" indent="-342900" algn="l" rtl="0">
              <a:spcBef>
                <a:spcPts val="1600"/>
              </a:spcBef>
              <a:spcAft>
                <a:spcPts val="0"/>
              </a:spcAft>
              <a:buSzPts val="1800"/>
              <a:buChar char="●"/>
            </a:pPr>
            <a:r>
              <a:rPr lang="de-CH" b="1"/>
              <a:t>iloc</a:t>
            </a:r>
            <a:endParaRPr b="1"/>
          </a:p>
          <a:p>
            <a:pPr marL="457200" lvl="0" indent="0" algn="l" rtl="0">
              <a:spcBef>
                <a:spcPts val="1600"/>
              </a:spcBef>
              <a:spcAft>
                <a:spcPts val="0"/>
              </a:spcAft>
              <a:buNone/>
            </a:pPr>
            <a:r>
              <a:rPr lang="de-CH" b="1">
                <a:solidFill>
                  <a:srgbClr val="273239"/>
                </a:solidFill>
                <a:highlight>
                  <a:srgbClr val="FFFFFF"/>
                </a:highlight>
                <a:latin typeface="Arial"/>
                <a:ea typeface="Arial"/>
                <a:cs typeface="Arial"/>
                <a:sym typeface="Arial"/>
              </a:rPr>
              <a:t>iloc()</a:t>
            </a:r>
            <a:r>
              <a:rPr lang="de-CH">
                <a:solidFill>
                  <a:srgbClr val="273239"/>
                </a:solidFill>
                <a:highlight>
                  <a:srgbClr val="FFFFFF"/>
                </a:highlight>
                <a:latin typeface="Arial"/>
                <a:ea typeface="Arial"/>
                <a:cs typeface="Arial"/>
                <a:sym typeface="Arial"/>
              </a:rPr>
              <a:t> is a indexed based selecting method which means that we have to pass integer index in the method to select specific row/column.</a:t>
            </a:r>
            <a:endParaRPr>
              <a:solidFill>
                <a:srgbClr val="273239"/>
              </a:solidFill>
              <a:highlight>
                <a:srgbClr val="FFFFFF"/>
              </a:highlight>
              <a:latin typeface="Arial"/>
              <a:ea typeface="Arial"/>
              <a:cs typeface="Arial"/>
              <a:sym typeface="Arial"/>
            </a:endParaRPr>
          </a:p>
          <a:p>
            <a:pPr marL="457200" lvl="0" indent="0" algn="l" rtl="0">
              <a:spcBef>
                <a:spcPts val="1600"/>
              </a:spcBef>
              <a:spcAft>
                <a:spcPts val="0"/>
              </a:spcAft>
              <a:buNone/>
            </a:pPr>
            <a:endParaRPr sz="1300">
              <a:solidFill>
                <a:srgbClr val="273239"/>
              </a:solidFill>
              <a:highlight>
                <a:srgbClr val="FFFFFF"/>
              </a:highlight>
              <a:latin typeface="Arial"/>
              <a:ea typeface="Arial"/>
              <a:cs typeface="Arial"/>
              <a:sym typeface="Arial"/>
            </a:endParaRPr>
          </a:p>
          <a:p>
            <a:pPr marL="0" lvl="0" indent="0" algn="l" rtl="0">
              <a:spcBef>
                <a:spcPts val="1600"/>
              </a:spcBef>
              <a:spcAft>
                <a:spcPts val="0"/>
              </a:spcAft>
              <a:buNone/>
            </a:pPr>
            <a:endParaRPr sz="1300">
              <a:solidFill>
                <a:srgbClr val="273239"/>
              </a:solidFill>
              <a:highlight>
                <a:srgbClr val="FFFFFF"/>
              </a:highlight>
              <a:latin typeface="Arial"/>
              <a:ea typeface="Arial"/>
              <a:cs typeface="Arial"/>
              <a:sym typeface="Arial"/>
            </a:endParaRPr>
          </a:p>
          <a:p>
            <a:pPr marL="457200" lvl="0" indent="0" algn="l" rtl="0">
              <a:spcBef>
                <a:spcPts val="1600"/>
              </a:spcBef>
              <a:spcAft>
                <a:spcPts val="1600"/>
              </a:spcAft>
              <a:buNone/>
            </a:pPr>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510"/>
        <p:cNvGrpSpPr/>
        <p:nvPr/>
      </p:nvGrpSpPr>
      <p:grpSpPr>
        <a:xfrm>
          <a:off x="0" y="0"/>
          <a:ext cx="0" cy="0"/>
          <a:chOff x="0" y="0"/>
          <a:chExt cx="0" cy="0"/>
        </a:xfrm>
      </p:grpSpPr>
      <p:sp>
        <p:nvSpPr>
          <p:cNvPr id="511" name="Google Shape;511;p87"/>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Basics continues..</a:t>
            </a:r>
            <a:endParaRPr/>
          </a:p>
        </p:txBody>
      </p:sp>
      <p:sp>
        <p:nvSpPr>
          <p:cNvPr id="512" name="Google Shape;512;p87"/>
          <p:cNvSpPr txBox="1">
            <a:spLocks noGrp="1"/>
          </p:cNvSpPr>
          <p:nvPr>
            <p:ph type="body" idx="1"/>
          </p:nvPr>
        </p:nvSpPr>
        <p:spPr>
          <a:xfrm>
            <a:off x="311700" y="1044775"/>
            <a:ext cx="8520600" cy="37170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b="1"/>
              <a:t>dtypes</a:t>
            </a:r>
            <a:endParaRPr b="1"/>
          </a:p>
          <a:p>
            <a:pPr marL="457200" lvl="0" indent="0" algn="l" rtl="0">
              <a:lnSpc>
                <a:spcPct val="100000"/>
              </a:lnSpc>
              <a:spcBef>
                <a:spcPts val="0"/>
              </a:spcBef>
              <a:spcAft>
                <a:spcPts val="0"/>
              </a:spcAft>
              <a:buNone/>
            </a:pPr>
            <a:r>
              <a:rPr lang="de-CH">
                <a:solidFill>
                  <a:srgbClr val="202124"/>
                </a:solidFill>
                <a:highlight>
                  <a:srgbClr val="FFFFFF"/>
                </a:highlight>
                <a:latin typeface="Arial"/>
                <a:ea typeface="Arial"/>
                <a:cs typeface="Arial"/>
                <a:sym typeface="Arial"/>
              </a:rPr>
              <a:t>It returns a Series with the data type of each column</a:t>
            </a:r>
            <a:endParaRPr>
              <a:solidFill>
                <a:srgbClr val="202124"/>
              </a:solidFill>
              <a:highlight>
                <a:srgbClr val="FFFFFF"/>
              </a:highlight>
              <a:latin typeface="Arial"/>
              <a:ea typeface="Arial"/>
              <a:cs typeface="Arial"/>
              <a:sym typeface="Arial"/>
            </a:endParaRPr>
          </a:p>
          <a:p>
            <a:pPr marL="457200" lvl="0" indent="0" algn="l" rtl="0">
              <a:lnSpc>
                <a:spcPct val="100000"/>
              </a:lnSpc>
              <a:spcBef>
                <a:spcPts val="0"/>
              </a:spcBef>
              <a:spcAft>
                <a:spcPts val="0"/>
              </a:spcAft>
              <a:buNone/>
            </a:pPr>
            <a:r>
              <a:rPr lang="de-CH">
                <a:solidFill>
                  <a:srgbClr val="0000FF"/>
                </a:solidFill>
                <a:highlight>
                  <a:srgbClr val="FFFFFF"/>
                </a:highlight>
                <a:latin typeface="Arial"/>
                <a:ea typeface="Arial"/>
                <a:cs typeface="Arial"/>
                <a:sym typeface="Arial"/>
              </a:rPr>
              <a:t>data = pd.read_csv(‘weather_data.csv’)</a:t>
            </a:r>
            <a:endParaRPr>
              <a:solidFill>
                <a:srgbClr val="0000FF"/>
              </a:solidFill>
              <a:highlight>
                <a:srgbClr val="FFFFFF"/>
              </a:highlight>
              <a:latin typeface="Arial"/>
              <a:ea typeface="Arial"/>
              <a:cs typeface="Arial"/>
              <a:sym typeface="Arial"/>
            </a:endParaRPr>
          </a:p>
          <a:p>
            <a:pPr marL="457200" lvl="0" indent="0" algn="l" rtl="0">
              <a:lnSpc>
                <a:spcPct val="100000"/>
              </a:lnSpc>
              <a:spcBef>
                <a:spcPts val="0"/>
              </a:spcBef>
              <a:spcAft>
                <a:spcPts val="0"/>
              </a:spcAft>
              <a:buNone/>
            </a:pPr>
            <a:r>
              <a:rPr lang="de-CH">
                <a:solidFill>
                  <a:srgbClr val="0000FF"/>
                </a:solidFill>
                <a:highlight>
                  <a:srgbClr val="FFFFFF"/>
                </a:highlight>
                <a:latin typeface="Arial"/>
                <a:ea typeface="Arial"/>
                <a:cs typeface="Arial"/>
                <a:sym typeface="Arial"/>
              </a:rPr>
              <a:t>data.dtypes</a:t>
            </a:r>
            <a:endParaRPr>
              <a:solidFill>
                <a:srgbClr val="0000FF"/>
              </a:solidFill>
              <a:highlight>
                <a:srgbClr val="FFFFFF"/>
              </a:highlight>
              <a:latin typeface="Arial"/>
              <a:ea typeface="Arial"/>
              <a:cs typeface="Arial"/>
              <a:sym typeface="Arial"/>
            </a:endParaRPr>
          </a:p>
          <a:p>
            <a:pPr marL="457200" lvl="0" indent="0" algn="l" rtl="0">
              <a:lnSpc>
                <a:spcPct val="100000"/>
              </a:lnSpc>
              <a:spcBef>
                <a:spcPts val="0"/>
              </a:spcBef>
              <a:spcAft>
                <a:spcPts val="0"/>
              </a:spcAft>
              <a:buNone/>
            </a:pPr>
            <a:endParaRPr b="1">
              <a:solidFill>
                <a:srgbClr val="202124"/>
              </a:solidFill>
              <a:highlight>
                <a:srgbClr val="FFFFFF"/>
              </a:highlight>
              <a:latin typeface="Arial"/>
              <a:ea typeface="Arial"/>
              <a:cs typeface="Arial"/>
              <a:sym typeface="Arial"/>
            </a:endParaRPr>
          </a:p>
          <a:p>
            <a:pPr marL="457200" lvl="0" indent="-342900" algn="l" rtl="0">
              <a:spcBef>
                <a:spcPts val="0"/>
              </a:spcBef>
              <a:spcAft>
                <a:spcPts val="0"/>
              </a:spcAft>
              <a:buSzPts val="1800"/>
              <a:buChar char="●"/>
            </a:pPr>
            <a:r>
              <a:rPr lang="de-CH" b="1"/>
              <a:t>unique</a:t>
            </a:r>
            <a:endParaRPr b="1"/>
          </a:p>
          <a:p>
            <a:pPr marL="457200" lvl="0" indent="0" algn="l" rtl="0">
              <a:spcBef>
                <a:spcPts val="0"/>
              </a:spcBef>
              <a:spcAft>
                <a:spcPts val="0"/>
              </a:spcAft>
              <a:buNone/>
            </a:pPr>
            <a:r>
              <a:rPr lang="de-CH"/>
              <a:t>To return the unique elements of each column of a dataframe</a:t>
            </a:r>
            <a:endParaRPr/>
          </a:p>
          <a:p>
            <a:pPr marL="457200" lvl="0" indent="0" algn="l" rtl="0">
              <a:spcBef>
                <a:spcPts val="0"/>
              </a:spcBef>
              <a:spcAft>
                <a:spcPts val="0"/>
              </a:spcAft>
              <a:buNone/>
            </a:pPr>
            <a:r>
              <a:rPr lang="de-CH">
                <a:solidFill>
                  <a:srgbClr val="0000FF"/>
                </a:solidFill>
              </a:rPr>
              <a:t>data.city.unique()</a:t>
            </a:r>
            <a:endParaRPr>
              <a:solidFill>
                <a:srgbClr val="0000FF"/>
              </a:solidFill>
            </a:endParaRPr>
          </a:p>
          <a:p>
            <a:pPr marL="457200" lvl="0" indent="0" algn="l" rtl="0">
              <a:spcBef>
                <a:spcPts val="0"/>
              </a:spcBef>
              <a:spcAft>
                <a:spcPts val="0"/>
              </a:spcAft>
              <a:buNone/>
            </a:pPr>
            <a:endParaRPr/>
          </a:p>
          <a:p>
            <a:pPr marL="457200" lvl="0" indent="-342900" algn="l" rtl="0">
              <a:spcBef>
                <a:spcPts val="0"/>
              </a:spcBef>
              <a:spcAft>
                <a:spcPts val="0"/>
              </a:spcAft>
              <a:buSzPts val="1800"/>
              <a:buChar char="●"/>
            </a:pPr>
            <a:r>
              <a:rPr lang="de-CH" b="1"/>
              <a:t>value_counts</a:t>
            </a:r>
            <a:endParaRPr b="1"/>
          </a:p>
          <a:p>
            <a:pPr marL="457200" lvl="0" indent="0" algn="l" rtl="0">
              <a:spcBef>
                <a:spcPts val="0"/>
              </a:spcBef>
              <a:spcAft>
                <a:spcPts val="0"/>
              </a:spcAft>
              <a:buNone/>
            </a:pPr>
            <a:r>
              <a:rPr lang="de-CH"/>
              <a:t>returns counts of unique rows</a:t>
            </a:r>
            <a:endParaRPr/>
          </a:p>
          <a:p>
            <a:pPr marL="457200" lvl="0" indent="0" algn="l" rtl="0">
              <a:spcBef>
                <a:spcPts val="0"/>
              </a:spcBef>
              <a:spcAft>
                <a:spcPts val="0"/>
              </a:spcAft>
              <a:buNone/>
            </a:pPr>
            <a:r>
              <a:rPr lang="de-CH">
                <a:solidFill>
                  <a:srgbClr val="0000FF"/>
                </a:solidFill>
              </a:rPr>
              <a:t>data.city.value_counts()</a:t>
            </a:r>
            <a:endParaRPr>
              <a:solidFill>
                <a:srgbClr val="0000FF"/>
              </a:solidFill>
            </a:endParaRPr>
          </a:p>
          <a:p>
            <a:pPr marL="457200" lvl="0" indent="0" algn="l" rtl="0">
              <a:spcBef>
                <a:spcPts val="0"/>
              </a:spcBef>
              <a:spcAft>
                <a:spcPts val="0"/>
              </a:spcAft>
              <a:buNone/>
            </a:pPr>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sp>
        <p:nvSpPr>
          <p:cNvPr id="517" name="Google Shape;517;p88"/>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Iterate over pandas dataframes..</a:t>
            </a:r>
            <a:endParaRPr/>
          </a:p>
        </p:txBody>
      </p:sp>
      <p:sp>
        <p:nvSpPr>
          <p:cNvPr id="518" name="Google Shape;518;p88"/>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To print all column names in the dataframe</a:t>
            </a:r>
            <a:br>
              <a:rPr lang="de-CH"/>
            </a:br>
            <a:r>
              <a:rPr lang="de-CH">
                <a:solidFill>
                  <a:srgbClr val="0000FF"/>
                </a:solidFill>
                <a:latin typeface="Spectral"/>
                <a:ea typeface="Spectral"/>
                <a:cs typeface="Spectral"/>
                <a:sym typeface="Spectral"/>
              </a:rPr>
              <a:t>for i in data:</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 print(i)</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By using iteritems()</a:t>
            </a:r>
            <a:br>
              <a:rPr lang="de-CH">
                <a:solidFill>
                  <a:srgbClr val="000000"/>
                </a:solidFill>
                <a:latin typeface="Spectral"/>
                <a:ea typeface="Spectral"/>
                <a:cs typeface="Spectral"/>
                <a:sym typeface="Spectral"/>
              </a:rPr>
            </a:br>
            <a:r>
              <a:rPr lang="de-CH">
                <a:solidFill>
                  <a:srgbClr val="0000FF"/>
                </a:solidFill>
                <a:latin typeface="Spectral"/>
                <a:ea typeface="Spectral"/>
                <a:cs typeface="Spectral"/>
                <a:sym typeface="Spectral"/>
              </a:rPr>
              <a:t>for column,values in data.iteritems():</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    print (column)</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    print(values)</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By using iterrows()</a:t>
            </a:r>
            <a:br>
              <a:rPr lang="de-CH">
                <a:solidFill>
                  <a:srgbClr val="000000"/>
                </a:solidFill>
                <a:latin typeface="Spectral"/>
                <a:ea typeface="Spectral"/>
                <a:cs typeface="Spectral"/>
                <a:sym typeface="Spectral"/>
              </a:rPr>
            </a:br>
            <a:r>
              <a:rPr lang="de-CH">
                <a:solidFill>
                  <a:srgbClr val="0000FF"/>
                </a:solidFill>
                <a:latin typeface="Spectral"/>
                <a:ea typeface="Spectral"/>
                <a:cs typeface="Spectral"/>
                <a:sym typeface="Spectral"/>
              </a:rPr>
              <a:t>for index,row in data.iterrows():</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     print('row',index)</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     print(row)</a:t>
            </a:r>
            <a:endParaRPr>
              <a:solidFill>
                <a:srgbClr val="0000FF"/>
              </a:solidFill>
              <a:latin typeface="Spectral"/>
              <a:ea typeface="Spectral"/>
              <a:cs typeface="Spectral"/>
              <a:sym typeface="Spectral"/>
            </a:endParaRPr>
          </a:p>
          <a:p>
            <a:pPr marL="457200" lvl="0" indent="0" algn="l" rtl="0">
              <a:spcBef>
                <a:spcPts val="1600"/>
              </a:spcBef>
              <a:spcAft>
                <a:spcPts val="0"/>
              </a:spcAft>
              <a:buNone/>
            </a:pPr>
            <a:endParaRPr>
              <a:solidFill>
                <a:srgbClr val="000000"/>
              </a:solidFill>
              <a:latin typeface="Spectral"/>
              <a:ea typeface="Spectral"/>
              <a:cs typeface="Spectral"/>
              <a:sym typeface="Spectral"/>
            </a:endParaRPr>
          </a:p>
          <a:p>
            <a:pPr marL="0" lvl="0" indent="0" algn="l" rtl="0">
              <a:spcBef>
                <a:spcPts val="1600"/>
              </a:spcBef>
              <a:spcAft>
                <a:spcPts val="1600"/>
              </a:spcAft>
              <a:buNone/>
            </a:pPr>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89"/>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Slicing and indexing</a:t>
            </a:r>
            <a:endParaRPr/>
          </a:p>
        </p:txBody>
      </p:sp>
      <p:sp>
        <p:nvSpPr>
          <p:cNvPr id="524" name="Google Shape;524;p89"/>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solidFill>
                  <a:srgbClr val="0000FF"/>
                </a:solidFill>
                <a:latin typeface="Spectral"/>
                <a:ea typeface="Spectral"/>
                <a:cs typeface="Spectral"/>
                <a:sym typeface="Spectral"/>
              </a:rPr>
              <a:t>df[2:5]</a:t>
            </a:r>
            <a:r>
              <a:rPr lang="de-CH"/>
              <a:t> → Provides all rows from 2 to 4</a:t>
            </a:r>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df[:] →</a:t>
            </a:r>
            <a:r>
              <a:rPr lang="de-CH">
                <a:solidFill>
                  <a:srgbClr val="000000"/>
                </a:solidFill>
                <a:latin typeface="Spectral"/>
                <a:ea typeface="Spectral"/>
                <a:cs typeface="Spectral"/>
                <a:sym typeface="Spectral"/>
              </a:rPr>
              <a:t> Provides all rows</a:t>
            </a:r>
            <a:endParaRPr>
              <a:solidFill>
                <a:srgbClr val="000000"/>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df[['name','age']][2:5] →</a:t>
            </a:r>
            <a:r>
              <a:rPr lang="de-CH">
                <a:solidFill>
                  <a:srgbClr val="000000"/>
                </a:solidFill>
                <a:latin typeface="Spectral"/>
                <a:ea typeface="Spectral"/>
                <a:cs typeface="Spectral"/>
                <a:sym typeface="Spectral"/>
              </a:rPr>
              <a:t> will provide all rows from 2 to 4 with columns name and age</a:t>
            </a:r>
            <a:endParaRPr>
              <a:solidFill>
                <a:srgbClr val="000000"/>
              </a:solidFill>
              <a:latin typeface="Spectral"/>
              <a:ea typeface="Spectral"/>
              <a:cs typeface="Spectral"/>
              <a:sym typeface="Spectral"/>
            </a:endParaRPr>
          </a:p>
          <a:p>
            <a:pPr marL="457200" lvl="0" indent="0" algn="l" rtl="0">
              <a:spcBef>
                <a:spcPts val="1600"/>
              </a:spcBef>
              <a:spcAft>
                <a:spcPts val="1600"/>
              </a:spcAft>
              <a:buNone/>
            </a:pPr>
            <a:endParaRPr>
              <a:solidFill>
                <a:srgbClr val="0000FF"/>
              </a:solidFill>
              <a:latin typeface="Spectral"/>
              <a:ea typeface="Spectral"/>
              <a:cs typeface="Spectral"/>
              <a:sym typeface="Spectral"/>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90"/>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Basic Operations..</a:t>
            </a:r>
            <a:endParaRPr/>
          </a:p>
        </p:txBody>
      </p:sp>
      <p:sp>
        <p:nvSpPr>
          <p:cNvPr id="530" name="Google Shape;530;p90"/>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b="1"/>
              <a:t>max() </a:t>
            </a:r>
            <a:br>
              <a:rPr lang="de-CH"/>
            </a:br>
            <a:r>
              <a:rPr lang="de-CH">
                <a:solidFill>
                  <a:srgbClr val="0000FF"/>
                </a:solidFill>
                <a:latin typeface="Spectral"/>
                <a:ea typeface="Spectral"/>
                <a:cs typeface="Spectral"/>
                <a:sym typeface="Spectral"/>
              </a:rPr>
              <a:t>df['age'].max() → </a:t>
            </a:r>
            <a:r>
              <a:rPr lang="de-CH">
                <a:solidFill>
                  <a:srgbClr val="000000"/>
                </a:solidFill>
                <a:latin typeface="Spectral"/>
                <a:ea typeface="Spectral"/>
                <a:cs typeface="Spectral"/>
                <a:sym typeface="Spectral"/>
              </a:rPr>
              <a:t>Provides the maximum age in the age column</a:t>
            </a:r>
            <a:endParaRPr>
              <a:solidFill>
                <a:srgbClr val="000000"/>
              </a:solidFill>
              <a:latin typeface="Spectral"/>
              <a:ea typeface="Spectral"/>
              <a:cs typeface="Spectral"/>
              <a:sym typeface="Spectral"/>
            </a:endParaRPr>
          </a:p>
          <a:p>
            <a:pPr marL="457200" lvl="0" indent="-342900" algn="l" rtl="0">
              <a:spcBef>
                <a:spcPts val="0"/>
              </a:spcBef>
              <a:spcAft>
                <a:spcPts val="0"/>
              </a:spcAft>
              <a:buSzPts val="1800"/>
              <a:buChar char="●"/>
            </a:pPr>
            <a:r>
              <a:rPr lang="de-CH" b="1"/>
              <a:t>min()</a:t>
            </a:r>
            <a:br>
              <a:rPr lang="de-CH" b="1"/>
            </a:br>
            <a:r>
              <a:rPr lang="de-CH">
                <a:solidFill>
                  <a:srgbClr val="0000FF"/>
                </a:solidFill>
                <a:latin typeface="Spectral"/>
                <a:ea typeface="Spectral"/>
                <a:cs typeface="Spectral"/>
                <a:sym typeface="Spectral"/>
              </a:rPr>
              <a:t>df['age'].min() </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b="1">
                <a:solidFill>
                  <a:srgbClr val="000000"/>
                </a:solidFill>
                <a:latin typeface="Spectral"/>
                <a:ea typeface="Spectral"/>
                <a:cs typeface="Spectral"/>
                <a:sym typeface="Spectral"/>
              </a:rPr>
              <a:t>mean()</a:t>
            </a:r>
            <a:br>
              <a:rPr lang="de-CH" b="1">
                <a:solidFill>
                  <a:srgbClr val="000000"/>
                </a:solidFill>
                <a:latin typeface="Spectral"/>
                <a:ea typeface="Spectral"/>
                <a:cs typeface="Spectral"/>
                <a:sym typeface="Spectral"/>
              </a:rPr>
            </a:br>
            <a:r>
              <a:rPr lang="de-CH" b="1">
                <a:solidFill>
                  <a:srgbClr val="0000FF"/>
                </a:solidFill>
                <a:latin typeface="Spectral"/>
                <a:ea typeface="Spectral"/>
                <a:cs typeface="Spectral"/>
                <a:sym typeface="Spectral"/>
              </a:rPr>
              <a:t>df.salary.mean() → </a:t>
            </a:r>
            <a:r>
              <a:rPr lang="de-CH">
                <a:solidFill>
                  <a:srgbClr val="000000"/>
                </a:solidFill>
                <a:latin typeface="Spectral"/>
                <a:ea typeface="Spectral"/>
                <a:cs typeface="Spectral"/>
                <a:sym typeface="Spectral"/>
              </a:rPr>
              <a:t>provides the average salary of the dataframe</a:t>
            </a:r>
            <a:endParaRPr>
              <a:solidFill>
                <a:srgbClr val="000000"/>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b="1">
                <a:solidFill>
                  <a:srgbClr val="000000"/>
                </a:solidFill>
                <a:latin typeface="Spectral"/>
                <a:ea typeface="Spectral"/>
                <a:cs typeface="Spectral"/>
                <a:sym typeface="Spectral"/>
              </a:rPr>
              <a:t>std()</a:t>
            </a:r>
            <a:br>
              <a:rPr lang="de-CH" b="1">
                <a:solidFill>
                  <a:srgbClr val="000000"/>
                </a:solidFill>
                <a:latin typeface="Spectral"/>
                <a:ea typeface="Spectral"/>
                <a:cs typeface="Spectral"/>
                <a:sym typeface="Spectral"/>
              </a:rPr>
            </a:br>
            <a:r>
              <a:rPr lang="de-CH" b="1">
                <a:solidFill>
                  <a:srgbClr val="0000FF"/>
                </a:solidFill>
                <a:latin typeface="Spectral"/>
                <a:ea typeface="Spectral"/>
                <a:cs typeface="Spectral"/>
                <a:sym typeface="Spectral"/>
              </a:rPr>
              <a:t>df.age.std()</a:t>
            </a:r>
            <a:r>
              <a:rPr lang="de-CH" b="1">
                <a:solidFill>
                  <a:srgbClr val="000000"/>
                </a:solidFill>
                <a:latin typeface="Spectral"/>
                <a:ea typeface="Spectral"/>
                <a:cs typeface="Spectral"/>
                <a:sym typeface="Spectral"/>
              </a:rPr>
              <a:t> → provides the standard deviation </a:t>
            </a:r>
            <a:endParaRPr b="1">
              <a:solidFill>
                <a:srgbClr val="000000"/>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b="1">
                <a:solidFill>
                  <a:srgbClr val="000000"/>
                </a:solidFill>
                <a:latin typeface="Spectral"/>
                <a:ea typeface="Spectral"/>
                <a:cs typeface="Spectral"/>
                <a:sym typeface="Spectral"/>
              </a:rPr>
              <a:t>describe()</a:t>
            </a:r>
            <a:br>
              <a:rPr lang="de-CH" b="1">
                <a:solidFill>
                  <a:srgbClr val="000000"/>
                </a:solidFill>
                <a:latin typeface="Spectral"/>
                <a:ea typeface="Spectral"/>
                <a:cs typeface="Spectral"/>
                <a:sym typeface="Spectral"/>
              </a:rPr>
            </a:br>
            <a:r>
              <a:rPr lang="de-CH" b="1">
                <a:solidFill>
                  <a:srgbClr val="0000FF"/>
                </a:solidFill>
                <a:latin typeface="Spectral"/>
                <a:ea typeface="Spectral"/>
                <a:cs typeface="Spectral"/>
                <a:sym typeface="Spectral"/>
              </a:rPr>
              <a:t>df.describe() → </a:t>
            </a:r>
            <a:r>
              <a:rPr lang="de-CH" b="1">
                <a:solidFill>
                  <a:srgbClr val="000000"/>
                </a:solidFill>
                <a:latin typeface="Spectral"/>
                <a:ea typeface="Spectral"/>
                <a:cs typeface="Spectral"/>
                <a:sym typeface="Spectral"/>
              </a:rPr>
              <a:t>provides all the status</a:t>
            </a:r>
            <a:endParaRPr b="1">
              <a:solidFill>
                <a:srgbClr val="000000"/>
              </a:solidFill>
              <a:latin typeface="Spectral"/>
              <a:ea typeface="Spectral"/>
              <a:cs typeface="Spectral"/>
              <a:sym typeface="Spectra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91"/>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Conditional Selecting..</a:t>
            </a:r>
            <a:endParaRPr/>
          </a:p>
        </p:txBody>
      </p:sp>
      <p:sp>
        <p:nvSpPr>
          <p:cNvPr id="536" name="Google Shape;536;p91"/>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To select rows from the Dataframe with conditions</a:t>
            </a:r>
            <a:br>
              <a:rPr lang="de-CH"/>
            </a:br>
            <a:r>
              <a:rPr lang="de-CH">
                <a:solidFill>
                  <a:srgbClr val="0000FF"/>
                </a:solidFill>
                <a:latin typeface="Spectral"/>
                <a:ea typeface="Spectral"/>
                <a:cs typeface="Spectral"/>
                <a:sym typeface="Spectral"/>
              </a:rPr>
              <a:t>df[df.age&gt;23] → Will provide all rows where age&gt;23</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Find the name and salary of the person who is having highest age??</a:t>
            </a:r>
            <a:endParaRPr>
              <a:solidFill>
                <a:srgbClr val="000000"/>
              </a:solidFill>
              <a:latin typeface="Spectral"/>
              <a:ea typeface="Spectral"/>
              <a:cs typeface="Spectral"/>
              <a:sym typeface="Spectra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p92"/>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Date as the index</a:t>
            </a:r>
            <a:endParaRPr/>
          </a:p>
        </p:txBody>
      </p:sp>
      <p:sp>
        <p:nvSpPr>
          <p:cNvPr id="542" name="Google Shape;542;p92"/>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data=pd.read_csv(r'C:\Users\mithu\Desktop\datas\weather_data.csv')</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data.set_index('day')</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type(data['day'][0])</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data=pd.read_csv(r'C:\Users\mithu\Desktop\datas\weather_data.csv',parse_dates=['day'])</a:t>
            </a:r>
            <a:endParaRPr>
              <a:solidFill>
                <a:srgbClr val="0000FF"/>
              </a:solidFill>
              <a:latin typeface="Spectral"/>
              <a:ea typeface="Spectral"/>
              <a:cs typeface="Spectral"/>
              <a:sym typeface="Spectral"/>
            </a:endParaRPr>
          </a:p>
          <a:p>
            <a:pPr marL="0" lvl="0" indent="0" algn="l" rtl="0">
              <a:spcBef>
                <a:spcPts val="1600"/>
              </a:spcBef>
              <a:spcAft>
                <a:spcPts val="1600"/>
              </a:spcAft>
              <a:buNone/>
            </a:pPr>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546"/>
        <p:cNvGrpSpPr/>
        <p:nvPr/>
      </p:nvGrpSpPr>
      <p:grpSpPr>
        <a:xfrm>
          <a:off x="0" y="0"/>
          <a:ext cx="0" cy="0"/>
          <a:chOff x="0" y="0"/>
          <a:chExt cx="0" cy="0"/>
        </a:xfrm>
      </p:grpSpPr>
      <p:sp>
        <p:nvSpPr>
          <p:cNvPr id="547" name="Google Shape;547;p93"/>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date_range() ..</a:t>
            </a:r>
            <a:endParaRPr/>
          </a:p>
        </p:txBody>
      </p:sp>
      <p:sp>
        <p:nvSpPr>
          <p:cNvPr id="548" name="Google Shape;548;p93"/>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de-CH"/>
              <a:t>date_range() function is used to create a range of data from a start date and end date</a:t>
            </a:r>
            <a:br>
              <a:rPr lang="de-CH"/>
            </a:br>
            <a:r>
              <a:rPr lang="de-CH">
                <a:solidFill>
                  <a:srgbClr val="0000FF"/>
                </a:solidFill>
                <a:latin typeface="Spectral"/>
                <a:ea typeface="Spectral"/>
                <a:cs typeface="Spectral"/>
                <a:sym typeface="Spectral"/>
              </a:rPr>
              <a:t>drng=pd.date_range(start='1/1/2017',end='1/22/2017',freq='D')</a:t>
            </a:r>
            <a:r>
              <a:rPr lang="de-CH"/>
              <a:t> → freq: it means the frequency of generating date range it have various options</a:t>
            </a:r>
            <a:br>
              <a:rPr lang="de-CH"/>
            </a:br>
            <a:r>
              <a:rPr lang="de-CH" sz="1400" u="sng">
                <a:solidFill>
                  <a:schemeClr val="hlink"/>
                </a:solidFill>
                <a:latin typeface="Arial"/>
                <a:ea typeface="Arial"/>
                <a:cs typeface="Arial"/>
                <a:sym typeface="Arial"/>
                <a:hlinkClick r:id="rId3"/>
              </a:rPr>
              <a:t>https://pandas.pydata.org/pandas-docs/stable/user_guide/timeseries.html#timeseries-offset-aliases</a:t>
            </a:r>
            <a:endParaRPr>
              <a:solidFill>
                <a:srgbClr val="0000FF"/>
              </a:solidFill>
              <a:latin typeface="Spectral"/>
              <a:ea typeface="Spectral"/>
              <a:cs typeface="Spectral"/>
              <a:sym typeface="Spectral"/>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552"/>
        <p:cNvGrpSpPr/>
        <p:nvPr/>
      </p:nvGrpSpPr>
      <p:grpSpPr>
        <a:xfrm>
          <a:off x="0" y="0"/>
          <a:ext cx="0" cy="0"/>
          <a:chOff x="0" y="0"/>
          <a:chExt cx="0" cy="0"/>
        </a:xfrm>
      </p:grpSpPr>
      <p:sp>
        <p:nvSpPr>
          <p:cNvPr id="553" name="Google Shape;553;p94"/>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to_datetime()</a:t>
            </a:r>
            <a:endParaRPr/>
          </a:p>
        </p:txBody>
      </p:sp>
      <p:sp>
        <p:nvSpPr>
          <p:cNvPr id="554" name="Google Shape;554;p94"/>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To_datetime function  is very useful in pandas to convert any String date to type datetime</a:t>
            </a:r>
            <a:br>
              <a:rPr lang="de-CH"/>
            </a:br>
            <a:r>
              <a:rPr lang="de-CH">
                <a:solidFill>
                  <a:srgbClr val="0000FF"/>
                </a:solidFill>
                <a:latin typeface="Spectral"/>
                <a:ea typeface="Spectral"/>
                <a:cs typeface="Spectral"/>
                <a:sym typeface="Spectral"/>
              </a:rPr>
              <a:t>dates = ['2017-12-05', 'Jan 5, 2017', '01/05/2017', '2017.01.05', '2017/01/05','20170105','Jan 5 2017','5 jan 2017','6 january 2019']</a:t>
            </a:r>
            <a:endParaRPr>
              <a:solidFill>
                <a:srgbClr val="0000FF"/>
              </a:solidFill>
              <a:latin typeface="Spectral"/>
              <a:ea typeface="Spectral"/>
              <a:cs typeface="Spectral"/>
              <a:sym typeface="Spectral"/>
            </a:endParaRPr>
          </a:p>
          <a:p>
            <a:pPr marL="457200" lvl="0" indent="0" algn="l" rtl="0">
              <a:spcBef>
                <a:spcPts val="1600"/>
              </a:spcBef>
              <a:spcAft>
                <a:spcPts val="1600"/>
              </a:spcAft>
              <a:buNone/>
            </a:pPr>
            <a:r>
              <a:rPr lang="de-CH">
                <a:solidFill>
                  <a:srgbClr val="0000FF"/>
                </a:solidFill>
                <a:latin typeface="Spectral"/>
                <a:ea typeface="Spectral"/>
                <a:cs typeface="Spectral"/>
                <a:sym typeface="Spectral"/>
              </a:rPr>
              <a:t>pd.to_datetime(dates)</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pd.to_datetime('01/2/15',yearfirst=True)</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pd.to_datetime('05/2/2015',dayfirst=True)</a:t>
            </a:r>
            <a:endParaRPr>
              <a:solidFill>
                <a:srgbClr val="0000FF"/>
              </a:solidFill>
              <a:latin typeface="Spectral"/>
              <a:ea typeface="Spectral"/>
              <a:cs typeface="Spectral"/>
              <a:sym typeface="Spectral"/>
            </a:endParaRP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558"/>
        <p:cNvGrpSpPr/>
        <p:nvPr/>
      </p:nvGrpSpPr>
      <p:grpSpPr>
        <a:xfrm>
          <a:off x="0" y="0"/>
          <a:ext cx="0" cy="0"/>
          <a:chOff x="0" y="0"/>
          <a:chExt cx="0" cy="0"/>
        </a:xfrm>
      </p:grpSpPr>
      <p:sp>
        <p:nvSpPr>
          <p:cNvPr id="559" name="Google Shape;559;p95"/>
          <p:cNvSpPr txBox="1">
            <a:spLocks noGrp="1"/>
          </p:cNvSpPr>
          <p:nvPr>
            <p:ph type="title"/>
          </p:nvPr>
        </p:nvSpPr>
        <p:spPr>
          <a:xfrm>
            <a:off x="311700" y="145150"/>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Replace missing  values in a dataframe..</a:t>
            </a:r>
            <a:endParaRPr/>
          </a:p>
        </p:txBody>
      </p:sp>
      <p:sp>
        <p:nvSpPr>
          <p:cNvPr id="560" name="Google Shape;560;p95"/>
          <p:cNvSpPr txBox="1">
            <a:spLocks noGrp="1"/>
          </p:cNvSpPr>
          <p:nvPr>
            <p:ph type="body" idx="1"/>
          </p:nvPr>
        </p:nvSpPr>
        <p:spPr>
          <a:xfrm>
            <a:off x="311700" y="976450"/>
            <a:ext cx="8520600" cy="38130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isna()-&gt; check whether null values are present</a:t>
            </a:r>
            <a:endParaRPr/>
          </a:p>
          <a:p>
            <a:pPr marL="457200" lvl="0" indent="0" algn="l" rtl="0">
              <a:spcBef>
                <a:spcPts val="0"/>
              </a:spcBef>
              <a:spcAft>
                <a:spcPts val="0"/>
              </a:spcAft>
              <a:buNone/>
            </a:pPr>
            <a:r>
              <a:rPr lang="de-CH">
                <a:solidFill>
                  <a:srgbClr val="0000FF"/>
                </a:solidFill>
                <a:latin typeface="Spectral"/>
                <a:ea typeface="Spectral"/>
                <a:cs typeface="Spectral"/>
                <a:sym typeface="Spectral"/>
              </a:rPr>
              <a:t>data.isna()</a:t>
            </a:r>
            <a:endParaRPr>
              <a:solidFill>
                <a:srgbClr val="0000FF"/>
              </a:solidFill>
              <a:latin typeface="Spectral"/>
              <a:ea typeface="Spectral"/>
              <a:cs typeface="Spectral"/>
              <a:sym typeface="Spectral"/>
            </a:endParaRPr>
          </a:p>
          <a:p>
            <a:pPr marL="457200" lvl="0" indent="0" algn="l" rtl="0">
              <a:spcBef>
                <a:spcPts val="0"/>
              </a:spcBef>
              <a:spcAft>
                <a:spcPts val="0"/>
              </a:spcAft>
              <a:buNone/>
            </a:pPr>
            <a:r>
              <a:rPr lang="de-CH">
                <a:solidFill>
                  <a:srgbClr val="0000FF"/>
                </a:solidFill>
                <a:latin typeface="Spectral"/>
                <a:ea typeface="Spectral"/>
                <a:cs typeface="Spectral"/>
                <a:sym typeface="Spectral"/>
              </a:rPr>
              <a:t>data.isna().sum()</a:t>
            </a:r>
            <a:endParaRPr>
              <a:solidFill>
                <a:srgbClr val="0000FF"/>
              </a:solidFill>
              <a:latin typeface="Spectral"/>
              <a:ea typeface="Spectral"/>
              <a:cs typeface="Spectral"/>
              <a:sym typeface="Spectral"/>
            </a:endParaRPr>
          </a:p>
          <a:p>
            <a:pPr marL="457200" lvl="0" indent="0" algn="l" rtl="0">
              <a:spcBef>
                <a:spcPts val="0"/>
              </a:spcBef>
              <a:spcAft>
                <a:spcPts val="0"/>
              </a:spcAft>
              <a:buNone/>
            </a:pPr>
            <a:r>
              <a:rPr lang="de-CH">
                <a:solidFill>
                  <a:srgbClr val="0000FF"/>
                </a:solidFill>
                <a:latin typeface="Spectral"/>
                <a:ea typeface="Spectral"/>
                <a:cs typeface="Spectral"/>
                <a:sym typeface="Spectral"/>
              </a:rPr>
              <a:t>data.isnull().sum()</a:t>
            </a:r>
            <a:endParaRPr>
              <a:solidFill>
                <a:srgbClr val="0000FF"/>
              </a:solidFill>
              <a:latin typeface="Spectral"/>
              <a:ea typeface="Spectral"/>
              <a:cs typeface="Spectral"/>
              <a:sym typeface="Spectral"/>
            </a:endParaRPr>
          </a:p>
          <a:p>
            <a:pPr marL="457200" lvl="0" indent="-342900" algn="l" rtl="0">
              <a:spcBef>
                <a:spcPts val="0"/>
              </a:spcBef>
              <a:spcAft>
                <a:spcPts val="0"/>
              </a:spcAft>
              <a:buSzPts val="1800"/>
              <a:buChar char="●"/>
            </a:pPr>
            <a:r>
              <a:rPr lang="de-CH"/>
              <a:t>fillna()</a:t>
            </a:r>
            <a:br>
              <a:rPr lang="de-CH"/>
            </a:br>
            <a:r>
              <a:rPr lang="de-CH">
                <a:solidFill>
                  <a:srgbClr val="0000FF"/>
                </a:solidFill>
                <a:latin typeface="Spectral"/>
                <a:ea typeface="Spectral"/>
                <a:cs typeface="Spectral"/>
                <a:sym typeface="Spectral"/>
              </a:rPr>
              <a:t>new_df=data.fillna(0)</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new_df=data.fillna({'temperature':0,'windspeed':0,'event':'unknown'})</a:t>
            </a:r>
            <a:endParaRPr>
              <a:solidFill>
                <a:srgbClr val="0000FF"/>
              </a:solidFill>
              <a:latin typeface="Spectral"/>
              <a:ea typeface="Spectral"/>
              <a:cs typeface="Spectral"/>
              <a:sym typeface="Spectral"/>
            </a:endParaRPr>
          </a:p>
          <a:p>
            <a:pPr marL="457200" lvl="0" indent="-342900" algn="l" rtl="0">
              <a:spcBef>
                <a:spcPts val="0"/>
              </a:spcBef>
              <a:spcAft>
                <a:spcPts val="0"/>
              </a:spcAft>
              <a:buSzPts val="1800"/>
              <a:buChar char="●"/>
            </a:pPr>
            <a:r>
              <a:rPr lang="de-CH"/>
              <a:t>fillna() -&gt; forward fill</a:t>
            </a:r>
            <a:br>
              <a:rPr lang="de-CH"/>
            </a:br>
            <a:r>
              <a:rPr lang="de-CH">
                <a:solidFill>
                  <a:srgbClr val="4A86E8"/>
                </a:solidFill>
                <a:latin typeface="Spectral"/>
                <a:ea typeface="Spectral"/>
                <a:cs typeface="Spectral"/>
                <a:sym typeface="Spectral"/>
              </a:rPr>
              <a:t>new_df=data.fillna(method='ffill') </a:t>
            </a:r>
            <a:r>
              <a:rPr lang="de-CH"/>
              <a:t>—&gt;It fill with previous row value</a:t>
            </a:r>
            <a:endParaRPr/>
          </a:p>
          <a:p>
            <a:pPr marL="457200" lvl="0" indent="-342900" algn="l" rtl="0">
              <a:spcBef>
                <a:spcPts val="0"/>
              </a:spcBef>
              <a:spcAft>
                <a:spcPts val="0"/>
              </a:spcAft>
              <a:buSzPts val="1800"/>
              <a:buChar char="●"/>
            </a:pPr>
            <a:r>
              <a:rPr lang="de-CH"/>
              <a:t>fillna() -&gt;backward fill</a:t>
            </a:r>
            <a:br>
              <a:rPr lang="de-CH"/>
            </a:br>
            <a:r>
              <a:rPr lang="de-CH">
                <a:solidFill>
                  <a:srgbClr val="0000FF"/>
                </a:solidFill>
                <a:latin typeface="Spectral"/>
                <a:ea typeface="Spectral"/>
                <a:cs typeface="Spectral"/>
                <a:sym typeface="Spectral"/>
              </a:rPr>
              <a:t>new_df=data.fillna(method='bfill')</a:t>
            </a:r>
            <a:r>
              <a:rPr lang="de-CH"/>
              <a:t> —&gt;It fill with next row data</a:t>
            </a:r>
            <a:br>
              <a:rPr lang="de-CH"/>
            </a:br>
            <a:r>
              <a:rPr lang="de-CH">
                <a:solidFill>
                  <a:srgbClr val="0000FF"/>
                </a:solidFill>
                <a:latin typeface="Spectral"/>
                <a:ea typeface="Spectral"/>
                <a:cs typeface="Spectral"/>
                <a:sym typeface="Spectral"/>
              </a:rPr>
              <a:t>new_df=data.fillna(method='ffill',limit=1)</a:t>
            </a:r>
            <a:endParaRPr>
              <a:solidFill>
                <a:srgbClr val="0000FF"/>
              </a:solidFill>
              <a:latin typeface="Spectral"/>
              <a:ea typeface="Spectral"/>
              <a:cs typeface="Spectral"/>
              <a:sym typeface="Spectral"/>
            </a:endParaRPr>
          </a:p>
          <a:p>
            <a:pPr marL="457200" lvl="0" indent="0" algn="l" rtl="0">
              <a:spcBef>
                <a:spcPts val="1600"/>
              </a:spcBef>
              <a:spcAft>
                <a:spcPts val="1600"/>
              </a:spcAft>
              <a:buNone/>
            </a:pPr>
            <a:endParaRPr>
              <a:solidFill>
                <a:srgbClr val="4A86E8"/>
              </a:solidFill>
              <a:latin typeface="Spectral"/>
              <a:ea typeface="Spectral"/>
              <a:cs typeface="Spectral"/>
              <a:sym typeface="Spectral"/>
            </a:endParaRP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564"/>
        <p:cNvGrpSpPr/>
        <p:nvPr/>
      </p:nvGrpSpPr>
      <p:grpSpPr>
        <a:xfrm>
          <a:off x="0" y="0"/>
          <a:ext cx="0" cy="0"/>
          <a:chOff x="0" y="0"/>
          <a:chExt cx="0" cy="0"/>
        </a:xfrm>
      </p:grpSpPr>
      <p:sp>
        <p:nvSpPr>
          <p:cNvPr id="565" name="Google Shape;565;p96"/>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Linear Interpolation</a:t>
            </a:r>
            <a:endParaRPr/>
          </a:p>
        </p:txBody>
      </p:sp>
      <p:sp>
        <p:nvSpPr>
          <p:cNvPr id="566" name="Google Shape;566;p96"/>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sz="1400" b="1">
                <a:solidFill>
                  <a:srgbClr val="222222"/>
                </a:solidFill>
                <a:highlight>
                  <a:srgbClr val="FFFFFF"/>
                </a:highlight>
                <a:latin typeface="Arial"/>
                <a:ea typeface="Arial"/>
                <a:cs typeface="Arial"/>
                <a:sym typeface="Arial"/>
              </a:rPr>
              <a:t>Linear interpolation is often used to approximate a value of some </a:t>
            </a:r>
            <a:r>
              <a:rPr lang="de-CH" sz="1400" b="1">
                <a:solidFill>
                  <a:srgbClr val="0B0080"/>
                </a:solidFill>
                <a:highlight>
                  <a:srgbClr val="FFFFFF"/>
                </a:highlight>
                <a:uFill>
                  <a:noFill/>
                </a:uFill>
                <a:latin typeface="Arial"/>
                <a:ea typeface="Arial"/>
                <a:cs typeface="Arial"/>
                <a:sym typeface="Arial"/>
                <a:hlinkClick r:id="rId3">
                  <a:extLst>
                    <a:ext uri="{A12FA001-AC4F-418D-AE19-62706E023703}">
                      <ahyp:hlinkClr xmlns:ahyp="http://schemas.microsoft.com/office/drawing/2018/hyperlinkcolor" val="tx"/>
                    </a:ext>
                  </a:extLst>
                </a:hlinkClick>
              </a:rPr>
              <a:t>function</a:t>
            </a:r>
            <a:r>
              <a:rPr lang="de-CH" sz="1400" b="1">
                <a:solidFill>
                  <a:srgbClr val="222222"/>
                </a:solidFill>
                <a:highlight>
                  <a:srgbClr val="FFFFFF"/>
                </a:highlight>
                <a:latin typeface="Arial"/>
                <a:ea typeface="Arial"/>
                <a:cs typeface="Arial"/>
                <a:sym typeface="Arial"/>
              </a:rPr>
              <a:t> </a:t>
            </a:r>
            <a:r>
              <a:rPr lang="de-CH" sz="1400" b="1" i="1">
                <a:solidFill>
                  <a:srgbClr val="222222"/>
                </a:solidFill>
                <a:highlight>
                  <a:srgbClr val="FFFFFF"/>
                </a:highlight>
                <a:latin typeface="Arial"/>
                <a:ea typeface="Arial"/>
                <a:cs typeface="Arial"/>
                <a:sym typeface="Arial"/>
              </a:rPr>
              <a:t>f</a:t>
            </a:r>
            <a:r>
              <a:rPr lang="de-CH" sz="1400" b="1">
                <a:solidFill>
                  <a:srgbClr val="222222"/>
                </a:solidFill>
                <a:highlight>
                  <a:srgbClr val="FFFFFF"/>
                </a:highlight>
                <a:latin typeface="Arial"/>
                <a:ea typeface="Arial"/>
                <a:cs typeface="Arial"/>
                <a:sym typeface="Arial"/>
              </a:rPr>
              <a:t> using two known values of that function at other points</a:t>
            </a:r>
            <a:endParaRPr sz="1400" b="1">
              <a:solidFill>
                <a:srgbClr val="222222"/>
              </a:solidFill>
              <a:highlight>
                <a:srgbClr val="FFFFFF"/>
              </a:highlight>
              <a:latin typeface="Arial"/>
              <a:ea typeface="Arial"/>
              <a:cs typeface="Arial"/>
              <a:sym typeface="Arial"/>
            </a:endParaRPr>
          </a:p>
          <a:p>
            <a:pPr marL="0" lvl="0" indent="0" algn="l" rtl="0">
              <a:spcBef>
                <a:spcPts val="1600"/>
              </a:spcBef>
              <a:spcAft>
                <a:spcPts val="1600"/>
              </a:spcAft>
              <a:buNone/>
            </a:pPr>
            <a:r>
              <a:rPr lang="de-CH"/>
              <a:t>interpolate()</a:t>
            </a:r>
            <a:br>
              <a:rPr lang="de-CH"/>
            </a:br>
            <a:r>
              <a:rPr lang="de-CH">
                <a:solidFill>
                  <a:srgbClr val="4A86E8"/>
                </a:solidFill>
                <a:latin typeface="Spectral"/>
                <a:ea typeface="Spectral"/>
                <a:cs typeface="Spectral"/>
                <a:sym typeface="Spectral"/>
              </a:rPr>
              <a:t>new_df=data.interpolate()</a:t>
            </a:r>
            <a:endParaRPr sz="1400" b="1">
              <a:solidFill>
                <a:srgbClr val="222222"/>
              </a:solidFill>
              <a:highlight>
                <a:srgbClr val="FFFFFF"/>
              </a:highlight>
              <a:latin typeface="Arial"/>
              <a:ea typeface="Arial"/>
              <a:cs typeface="Arial"/>
              <a:sym typeface="Arial"/>
            </a:endParaRP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97"/>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DROP rows having NaN values</a:t>
            </a:r>
            <a:endParaRPr/>
          </a:p>
        </p:txBody>
      </p:sp>
      <p:sp>
        <p:nvSpPr>
          <p:cNvPr id="572" name="Google Shape;572;p97"/>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dropna()</a:t>
            </a:r>
            <a:br>
              <a:rPr lang="de-CH"/>
            </a:br>
            <a:r>
              <a:rPr lang="de-CH"/>
              <a:t>new_df=data.dropna() —&gt; drop row having any NaN value </a:t>
            </a:r>
            <a:br>
              <a:rPr lang="de-CH"/>
            </a:br>
            <a:r>
              <a:rPr lang="de-CH">
                <a:solidFill>
                  <a:srgbClr val="4A86E8"/>
                </a:solidFill>
                <a:latin typeface="Spectral"/>
                <a:ea typeface="Spectral"/>
                <a:cs typeface="Spectral"/>
                <a:sym typeface="Spectral"/>
              </a:rPr>
              <a:t>new_df=data.dropna(how='all')</a:t>
            </a:r>
            <a:r>
              <a:rPr lang="de-CH"/>
              <a:t> —&gt; drop row having all column value NaN</a:t>
            </a:r>
            <a:endParaRPr/>
          </a:p>
          <a:p>
            <a:pPr marL="457200" lvl="0" indent="-342900" algn="l" rtl="0">
              <a:spcBef>
                <a:spcPts val="0"/>
              </a:spcBef>
              <a:spcAft>
                <a:spcPts val="0"/>
              </a:spcAft>
              <a:buSzPts val="1800"/>
              <a:buChar char="●"/>
            </a:pPr>
            <a:r>
              <a:rPr lang="de-CH"/>
              <a:t>dropna() with threshold value</a:t>
            </a:r>
            <a:br>
              <a:rPr lang="de-CH"/>
            </a:br>
            <a:r>
              <a:rPr lang="de-CH">
                <a:solidFill>
                  <a:srgbClr val="4A86E8"/>
                </a:solidFill>
                <a:latin typeface="Spectral"/>
                <a:ea typeface="Spectral"/>
                <a:cs typeface="Spectral"/>
                <a:sym typeface="Spectral"/>
              </a:rPr>
              <a:t>new_df=data.dropna(thresh=2) </a:t>
            </a:r>
            <a:r>
              <a:rPr lang="de-CH"/>
              <a:t>—&gt; maintain all rows having at least 2 non                               NaN values</a:t>
            </a:r>
            <a:endParaRP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sp>
        <p:nvSpPr>
          <p:cNvPr id="577" name="Google Shape;577;p98"/>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replace()..</a:t>
            </a:r>
            <a:endParaRPr/>
          </a:p>
        </p:txBody>
      </p:sp>
      <p:sp>
        <p:nvSpPr>
          <p:cNvPr id="578" name="Google Shape;578;p98"/>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replace()  is a function to replace some special values to another value in data frame</a:t>
            </a:r>
            <a:endParaRPr/>
          </a:p>
          <a:p>
            <a:pPr marL="457200" lvl="0" indent="-342900" algn="l" rtl="0">
              <a:spcBef>
                <a:spcPts val="0"/>
              </a:spcBef>
              <a:spcAft>
                <a:spcPts val="0"/>
              </a:spcAft>
              <a:buSzPts val="1800"/>
              <a:buChar char="●"/>
            </a:pPr>
            <a:r>
              <a:rPr lang="de-CH"/>
              <a:t>It can use in different ways</a:t>
            </a:r>
            <a:endParaRP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sp>
        <p:nvSpPr>
          <p:cNvPr id="583" name="Google Shape;583;p99"/>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replace() continues..</a:t>
            </a:r>
            <a:endParaRPr/>
          </a:p>
        </p:txBody>
      </p:sp>
      <p:sp>
        <p:nvSpPr>
          <p:cNvPr id="584" name="Google Shape;584;p99"/>
          <p:cNvSpPr txBox="1">
            <a:spLocks noGrp="1"/>
          </p:cNvSpPr>
          <p:nvPr>
            <p:ph type="body" idx="1"/>
          </p:nvPr>
        </p:nvSpPr>
        <p:spPr>
          <a:xfrm>
            <a:off x="311700" y="1256850"/>
            <a:ext cx="8520600" cy="37179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00"/>
              </a:buClr>
              <a:buSzPts val="1800"/>
              <a:buFont typeface="Spectral"/>
              <a:buChar char="●"/>
            </a:pPr>
            <a:r>
              <a:rPr lang="de-CH">
                <a:solidFill>
                  <a:srgbClr val="0000FF"/>
                </a:solidFill>
                <a:latin typeface="Spectral"/>
                <a:ea typeface="Spectral"/>
                <a:cs typeface="Spectral"/>
                <a:sym typeface="Spectral"/>
              </a:rPr>
              <a:t>data=pd.read_csv(r'C:\Users\mithu\Desktop\datas\weather_data_replace.csv')</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data.replace(-99999,np.NaN) </a:t>
            </a:r>
            <a:r>
              <a:rPr lang="de-CH">
                <a:solidFill>
                  <a:srgbClr val="000000"/>
                </a:solidFill>
                <a:latin typeface="Spectral"/>
                <a:ea typeface="Spectral"/>
                <a:cs typeface="Spectral"/>
                <a:sym typeface="Spectral"/>
              </a:rPr>
              <a:t>—&gt; replace the value with NaN</a:t>
            </a:r>
            <a:endParaRPr>
              <a:solidFill>
                <a:srgbClr val="000000"/>
              </a:solidFill>
              <a:latin typeface="Spectral"/>
              <a:ea typeface="Spectral"/>
              <a:cs typeface="Spectral"/>
              <a:sym typeface="Spectral"/>
            </a:endParaRPr>
          </a:p>
          <a:p>
            <a:pPr marL="457200" lvl="0" indent="-342900" algn="l" rtl="0">
              <a:spcBef>
                <a:spcPts val="0"/>
              </a:spcBef>
              <a:spcAft>
                <a:spcPts val="0"/>
              </a:spcAft>
              <a:buClr>
                <a:srgbClr val="000000"/>
              </a:buClr>
              <a:buSzPts val="1800"/>
              <a:buChar char="●"/>
            </a:pPr>
            <a:r>
              <a:rPr lang="de-CH">
                <a:solidFill>
                  <a:srgbClr val="0000FF"/>
                </a:solidFill>
                <a:latin typeface="Spectral"/>
                <a:ea typeface="Spectral"/>
                <a:cs typeface="Spectral"/>
                <a:sym typeface="Spectral"/>
              </a:rPr>
              <a:t>data.replace([-99999,-88888],np.NaN)</a:t>
            </a:r>
            <a:r>
              <a:rPr lang="de-CH"/>
              <a:t>—&gt; Replace multiple values with NaN</a:t>
            </a:r>
            <a:endParaRPr/>
          </a:p>
          <a:p>
            <a:pPr marL="457200" lvl="0" indent="-342900" algn="l" rtl="0">
              <a:spcBef>
                <a:spcPts val="0"/>
              </a:spcBef>
              <a:spcAft>
                <a:spcPts val="0"/>
              </a:spcAft>
              <a:buClr>
                <a:srgbClr val="000000"/>
              </a:buClr>
              <a:buSzPts val="1800"/>
              <a:buChar char="●"/>
            </a:pPr>
            <a:r>
              <a:rPr lang="de-CH"/>
              <a:t>Replace values with specific to columns</a:t>
            </a:r>
            <a:br>
              <a:rPr lang="de-CH"/>
            </a:br>
            <a:r>
              <a:rPr lang="de-CH">
                <a:solidFill>
                  <a:srgbClr val="0000FF"/>
                </a:solidFill>
                <a:latin typeface="Spectral"/>
                <a:ea typeface="Spectral"/>
                <a:cs typeface="Spectral"/>
                <a:sym typeface="Spectral"/>
              </a:rPr>
              <a:t>data.replace({'temperature':-88888,'windspeed':-99999,'event':'0'},np.NaN)</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data.replace({'temperature':[-88888,-99999],'windspeed':[-99999,-88888],'event':'0'},np.NaN)</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Arial"/>
                <a:ea typeface="Arial"/>
                <a:cs typeface="Arial"/>
                <a:sym typeface="Arial"/>
              </a:rPr>
              <a:t>Map data with replace()</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data.replace({-99999:np.NaN,</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                        -88888:np.NaN,</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                                '0':'sunny'})</a:t>
            </a:r>
            <a:endParaRPr>
              <a:solidFill>
                <a:srgbClr val="0000FF"/>
              </a:solidFill>
              <a:latin typeface="Spectral"/>
              <a:ea typeface="Spectral"/>
              <a:cs typeface="Spectral"/>
              <a:sym typeface="Spectr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84"/>
                                        </p:tgtEl>
                                        <p:attrNameLst>
                                          <p:attrName>style.visibility</p:attrName>
                                        </p:attrNameLst>
                                      </p:cBhvr>
                                      <p:to>
                                        <p:strVal val="visible"/>
                                      </p:to>
                                    </p:set>
                                    <p:animEffect transition="in" filter="fade">
                                      <p:cBhvr>
                                        <p:cTn id="7" dur="1000"/>
                                        <p:tgtEl>
                                          <p:spTgt spid="5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Shape 588"/>
        <p:cNvGrpSpPr/>
        <p:nvPr/>
      </p:nvGrpSpPr>
      <p:grpSpPr>
        <a:xfrm>
          <a:off x="0" y="0"/>
          <a:ext cx="0" cy="0"/>
          <a:chOff x="0" y="0"/>
          <a:chExt cx="0" cy="0"/>
        </a:xfrm>
      </p:grpSpPr>
      <p:sp>
        <p:nvSpPr>
          <p:cNvPr id="589" name="Google Shape;589;p100"/>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replace() continues..</a:t>
            </a:r>
            <a:endParaRPr/>
          </a:p>
        </p:txBody>
      </p:sp>
      <p:sp>
        <p:nvSpPr>
          <p:cNvPr id="590" name="Google Shape;590;p100"/>
          <p:cNvSpPr txBox="1">
            <a:spLocks noGrp="1"/>
          </p:cNvSpPr>
          <p:nvPr>
            <p:ph type="body" idx="1"/>
          </p:nvPr>
        </p:nvSpPr>
        <p:spPr>
          <a:xfrm>
            <a:off x="311700" y="1212825"/>
            <a:ext cx="8520600" cy="33540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Replace value with regex</a:t>
            </a:r>
            <a:br>
              <a:rPr lang="de-CH"/>
            </a:br>
            <a:r>
              <a:rPr lang="de-CH">
                <a:solidFill>
                  <a:srgbClr val="0000FF"/>
                </a:solidFill>
                <a:latin typeface="Spectral"/>
                <a:ea typeface="Spectral"/>
                <a:cs typeface="Spectral"/>
                <a:sym typeface="Spectral"/>
              </a:rPr>
              <a:t>data.replace({'temperature':'[A-Za-z]','windspeed':'[A-Za-z]'},'',regex=True)</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Replace list of values with another list of values</a:t>
            </a:r>
            <a:br>
              <a:rPr lang="de-CH">
                <a:solidFill>
                  <a:srgbClr val="000000"/>
                </a:solidFill>
                <a:latin typeface="Spectral"/>
                <a:ea typeface="Spectral"/>
                <a:cs typeface="Spectral"/>
                <a:sym typeface="Spectral"/>
              </a:rPr>
            </a:br>
            <a:r>
              <a:rPr lang="de-CH">
                <a:solidFill>
                  <a:srgbClr val="0000FF"/>
                </a:solidFill>
                <a:latin typeface="Spectral"/>
                <a:ea typeface="Spectral"/>
                <a:cs typeface="Spectral"/>
                <a:sym typeface="Spectral"/>
              </a:rPr>
              <a:t>data.replace(['Rain','Sunny','Snow'],[101,102,103])</a:t>
            </a:r>
            <a:endParaRPr>
              <a:solidFill>
                <a:srgbClr val="0000FF"/>
              </a:solidFill>
              <a:latin typeface="Spectral"/>
              <a:ea typeface="Spectral"/>
              <a:cs typeface="Spectral"/>
              <a:sym typeface="Spectral"/>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101"/>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Group By..</a:t>
            </a:r>
            <a:endParaRPr/>
          </a:p>
        </p:txBody>
      </p:sp>
      <p:sp>
        <p:nvSpPr>
          <p:cNvPr id="596" name="Google Shape;596;p101"/>
          <p:cNvSpPr txBox="1">
            <a:spLocks noGrp="1"/>
          </p:cNvSpPr>
          <p:nvPr>
            <p:ph type="body" idx="1"/>
          </p:nvPr>
        </p:nvSpPr>
        <p:spPr>
          <a:xfrm>
            <a:off x="311700" y="1225225"/>
            <a:ext cx="8520600" cy="39183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Group by is the operation in pandas that create groups of rows  by a column or set of columns</a:t>
            </a:r>
            <a:endParaRPr/>
          </a:p>
          <a:p>
            <a:pPr marL="457200" lvl="0" indent="-342900" algn="l" rtl="0">
              <a:spcBef>
                <a:spcPts val="0"/>
              </a:spcBef>
              <a:spcAft>
                <a:spcPts val="0"/>
              </a:spcAft>
              <a:buSzPts val="1800"/>
              <a:buChar char="●"/>
            </a:pPr>
            <a:r>
              <a:rPr lang="de-CH"/>
              <a:t>Group by creates sub dataframes,that means it's actually split the main dataframe into sub dataframes based on a single column value or combination of multiple column value</a:t>
            </a:r>
            <a:endParaRPr/>
          </a:p>
          <a:p>
            <a:pPr marL="457200" lvl="0" indent="-342900" algn="l" rtl="0">
              <a:spcBef>
                <a:spcPts val="0"/>
              </a:spcBef>
              <a:spcAft>
                <a:spcPts val="0"/>
              </a:spcAft>
              <a:buSzPts val="1800"/>
              <a:buChar char="●"/>
            </a:pPr>
            <a:r>
              <a:rPr lang="de-CH"/>
              <a:t>groupby() is the method used to do this ,We can pass a single column name or a list of column names as the argument of this method</a:t>
            </a:r>
            <a:endParaRPr/>
          </a:p>
          <a:p>
            <a:pPr marL="0" lvl="0" indent="0" algn="l" rtl="0">
              <a:spcBef>
                <a:spcPts val="1600"/>
              </a:spcBef>
              <a:spcAft>
                <a:spcPts val="1600"/>
              </a:spcAft>
              <a:buNone/>
            </a:pPr>
            <a:r>
              <a:rPr lang="de-CH">
                <a:solidFill>
                  <a:srgbClr val="0000FF"/>
                </a:solidFill>
                <a:latin typeface="Spectral"/>
                <a:ea typeface="Spectral"/>
                <a:cs typeface="Spectral"/>
                <a:sym typeface="Spectral"/>
              </a:rPr>
              <a:t>data=pd.read_csv('weather_by_cities.csv')</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grp_result=data.groupby('city')</a:t>
            </a:r>
            <a:endParaRPr>
              <a:solidFill>
                <a:srgbClr val="0000FF"/>
              </a:solidFill>
              <a:latin typeface="Spectral"/>
              <a:ea typeface="Spectral"/>
              <a:cs typeface="Spectral"/>
              <a:sym typeface="Spectral"/>
            </a:endParaRP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600"/>
        <p:cNvGrpSpPr/>
        <p:nvPr/>
      </p:nvGrpSpPr>
      <p:grpSpPr>
        <a:xfrm>
          <a:off x="0" y="0"/>
          <a:ext cx="0" cy="0"/>
          <a:chOff x="0" y="0"/>
          <a:chExt cx="0" cy="0"/>
        </a:xfrm>
      </p:grpSpPr>
      <p:sp>
        <p:nvSpPr>
          <p:cNvPr id="601" name="Google Shape;601;p102"/>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Pictorial representation..</a:t>
            </a:r>
            <a:endParaRPr/>
          </a:p>
        </p:txBody>
      </p:sp>
      <p:sp>
        <p:nvSpPr>
          <p:cNvPr id="602" name="Google Shape;602;p102"/>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603" name="Google Shape;603;p102"/>
          <p:cNvPicPr preferRelativeResize="0"/>
          <p:nvPr/>
        </p:nvPicPr>
        <p:blipFill>
          <a:blip r:embed="rId3">
            <a:alphaModFix/>
          </a:blip>
          <a:stretch>
            <a:fillRect/>
          </a:stretch>
        </p:blipFill>
        <p:spPr>
          <a:xfrm>
            <a:off x="0" y="970600"/>
            <a:ext cx="9144000" cy="4226525"/>
          </a:xfrm>
          <a:prstGeom prst="rect">
            <a:avLst/>
          </a:prstGeom>
          <a:noFill/>
          <a:ln>
            <a:noFill/>
          </a:ln>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607"/>
        <p:cNvGrpSpPr/>
        <p:nvPr/>
      </p:nvGrpSpPr>
      <p:grpSpPr>
        <a:xfrm>
          <a:off x="0" y="0"/>
          <a:ext cx="0" cy="0"/>
          <a:chOff x="0" y="0"/>
          <a:chExt cx="0" cy="0"/>
        </a:xfrm>
      </p:grpSpPr>
      <p:sp>
        <p:nvSpPr>
          <p:cNvPr id="608" name="Google Shape;608;p103"/>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Group by continues..</a:t>
            </a:r>
            <a:endParaRPr/>
          </a:p>
        </p:txBody>
      </p:sp>
      <p:sp>
        <p:nvSpPr>
          <p:cNvPr id="609" name="Google Shape;609;p103"/>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How to fetch the group that creates??</a:t>
            </a:r>
            <a:br>
              <a:rPr lang="de-CH"/>
            </a:br>
            <a:r>
              <a:rPr lang="de-CH">
                <a:solidFill>
                  <a:srgbClr val="0000FF"/>
                </a:solidFill>
                <a:latin typeface="Spectral"/>
                <a:ea typeface="Spectral"/>
                <a:cs typeface="Spectral"/>
                <a:sym typeface="Spectral"/>
              </a:rPr>
              <a:t>grp_result.get_group('paris') —&gt; will provide the group (data frame ) by specific to ‘paris’ city</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Fetch all groups..  	By using for loop..</a:t>
            </a:r>
            <a:br>
              <a:rPr lang="de-CH">
                <a:solidFill>
                  <a:srgbClr val="000000"/>
                </a:solidFill>
                <a:latin typeface="Spectral"/>
                <a:ea typeface="Spectral"/>
                <a:cs typeface="Spectral"/>
                <a:sym typeface="Spectral"/>
              </a:rPr>
            </a:br>
            <a:r>
              <a:rPr lang="de-CH">
                <a:solidFill>
                  <a:srgbClr val="0000FF"/>
                </a:solidFill>
                <a:latin typeface="Spectral"/>
                <a:ea typeface="Spectral"/>
                <a:cs typeface="Spectral"/>
                <a:sym typeface="Spectral"/>
              </a:rPr>
              <a:t>for city ,city_df in grp_result:</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    print(city)</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    print(city_df)</a:t>
            </a:r>
            <a:br>
              <a:rPr lang="de-CH">
                <a:solidFill>
                  <a:srgbClr val="000000"/>
                </a:solidFill>
                <a:latin typeface="Spectral"/>
                <a:ea typeface="Spectral"/>
                <a:cs typeface="Spectral"/>
                <a:sym typeface="Spectral"/>
              </a:rPr>
            </a:br>
            <a:endParaRPr>
              <a:solidFill>
                <a:srgbClr val="000000"/>
              </a:solidFill>
              <a:latin typeface="Spectral"/>
              <a:ea typeface="Spectral"/>
              <a:cs typeface="Spectral"/>
              <a:sym typeface="Spectral"/>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613"/>
        <p:cNvGrpSpPr/>
        <p:nvPr/>
      </p:nvGrpSpPr>
      <p:grpSpPr>
        <a:xfrm>
          <a:off x="0" y="0"/>
          <a:ext cx="0" cy="0"/>
          <a:chOff x="0" y="0"/>
          <a:chExt cx="0" cy="0"/>
        </a:xfrm>
      </p:grpSpPr>
      <p:sp>
        <p:nvSpPr>
          <p:cNvPr id="614" name="Google Shape;614;p104"/>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Group operations..</a:t>
            </a:r>
            <a:endParaRPr/>
          </a:p>
        </p:txBody>
      </p:sp>
      <p:sp>
        <p:nvSpPr>
          <p:cNvPr id="615" name="Google Shape;615;p104"/>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Aggregate functions on group objects</a:t>
            </a:r>
            <a:br>
              <a:rPr lang="de-CH"/>
            </a:br>
            <a:r>
              <a:rPr lang="de-CH">
                <a:solidFill>
                  <a:srgbClr val="0000FF"/>
                </a:solidFill>
                <a:latin typeface="Spectral"/>
                <a:ea typeface="Spectral"/>
                <a:cs typeface="Spectral"/>
                <a:sym typeface="Spectral"/>
              </a:rPr>
              <a:t>grp_result.max()</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grp_result.mean()</a:t>
            </a:r>
            <a:endParaRPr>
              <a:solidFill>
                <a:srgbClr val="0000FF"/>
              </a:solidFill>
              <a:latin typeface="Spectral"/>
              <a:ea typeface="Spectral"/>
              <a:cs typeface="Spectral"/>
              <a:sym typeface="Spectral"/>
            </a:endParaRPr>
          </a:p>
          <a:p>
            <a:pPr marL="457200" lvl="0" indent="-342900" algn="l" rtl="0">
              <a:spcBef>
                <a:spcPts val="0"/>
              </a:spcBef>
              <a:spcAft>
                <a:spcPts val="0"/>
              </a:spcAft>
              <a:buSzPts val="1800"/>
              <a:buChar char="●"/>
            </a:pPr>
            <a:r>
              <a:rPr lang="de-CH"/>
              <a:t>Analytics on specified group columns</a:t>
            </a:r>
            <a:br>
              <a:rPr lang="de-CH"/>
            </a:br>
            <a:r>
              <a:rPr lang="de-CH">
                <a:solidFill>
                  <a:srgbClr val="0000FF"/>
                </a:solidFill>
                <a:latin typeface="Spectral"/>
                <a:ea typeface="Spectral"/>
                <a:cs typeface="Spectral"/>
                <a:sym typeface="Spectral"/>
              </a:rPr>
              <a:t>grp_result.get_group('mumbai').max()</a:t>
            </a:r>
            <a:endParaRPr>
              <a:solidFill>
                <a:srgbClr val="0000FF"/>
              </a:solidFill>
              <a:latin typeface="Spectral"/>
              <a:ea typeface="Spectral"/>
              <a:cs typeface="Spectral"/>
              <a:sym typeface="Spectral"/>
            </a:endParaRPr>
          </a:p>
          <a:p>
            <a:pPr marL="457200" lvl="0" indent="0" algn="l" rtl="0">
              <a:spcBef>
                <a:spcPts val="1600"/>
              </a:spcBef>
              <a:spcAft>
                <a:spcPts val="1600"/>
              </a:spcAft>
              <a:buNone/>
            </a:pPr>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619"/>
        <p:cNvGrpSpPr/>
        <p:nvPr/>
      </p:nvGrpSpPr>
      <p:grpSpPr>
        <a:xfrm>
          <a:off x="0" y="0"/>
          <a:ext cx="0" cy="0"/>
          <a:chOff x="0" y="0"/>
          <a:chExt cx="0" cy="0"/>
        </a:xfrm>
      </p:grpSpPr>
      <p:sp>
        <p:nvSpPr>
          <p:cNvPr id="620" name="Google Shape;620;p105"/>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Group by multiple columns..</a:t>
            </a:r>
            <a:endParaRPr/>
          </a:p>
        </p:txBody>
      </p:sp>
      <p:sp>
        <p:nvSpPr>
          <p:cNvPr id="621" name="Google Shape;621;p105"/>
          <p:cNvSpPr txBox="1">
            <a:spLocks noGrp="1"/>
          </p:cNvSpPr>
          <p:nvPr>
            <p:ph type="body" idx="1"/>
          </p:nvPr>
        </p:nvSpPr>
        <p:spPr>
          <a:xfrm>
            <a:off x="311700" y="1215200"/>
            <a:ext cx="8520600" cy="33540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We can pass a list of columns</a:t>
            </a:r>
            <a:br>
              <a:rPr lang="de-CH"/>
            </a:br>
            <a:r>
              <a:rPr lang="de-CH">
                <a:solidFill>
                  <a:srgbClr val="0000FF"/>
                </a:solidFill>
                <a:latin typeface="Spectral"/>
                <a:ea typeface="Spectral"/>
                <a:cs typeface="Spectral"/>
                <a:sym typeface="Spectral"/>
              </a:rPr>
              <a:t>grp=data.groupby(['city','event'])</a:t>
            </a:r>
            <a:endParaRPr>
              <a:solidFill>
                <a:srgbClr val="0000FF"/>
              </a:solidFill>
              <a:latin typeface="Spectral"/>
              <a:ea typeface="Spectral"/>
              <a:cs typeface="Spectral"/>
              <a:sym typeface="Spectral"/>
            </a:endParaRPr>
          </a:p>
          <a:p>
            <a:pPr marL="457200" lvl="0" indent="-342900" algn="l" rtl="0">
              <a:spcBef>
                <a:spcPts val="0"/>
              </a:spcBef>
              <a:spcAft>
                <a:spcPts val="0"/>
              </a:spcAft>
              <a:buSzPts val="1800"/>
              <a:buChar char="●"/>
            </a:pPr>
            <a:r>
              <a:rPr lang="de-CH"/>
              <a:t>While fetching you should pass a tuple to get the group</a:t>
            </a:r>
            <a:br>
              <a:rPr lang="de-CH"/>
            </a:br>
            <a:r>
              <a:rPr lang="de-CH">
                <a:solidFill>
                  <a:srgbClr val="0000FF"/>
                </a:solidFill>
                <a:latin typeface="Spectral"/>
                <a:ea typeface="Spectral"/>
                <a:cs typeface="Spectral"/>
                <a:sym typeface="Spectral"/>
              </a:rPr>
              <a:t>grp.get_group(('new york','Sunny'))</a:t>
            </a:r>
            <a:endParaRPr>
              <a:solidFill>
                <a:srgbClr val="0000FF"/>
              </a:solidFill>
              <a:latin typeface="Spectral"/>
              <a:ea typeface="Spectral"/>
              <a:cs typeface="Spectral"/>
              <a:sym typeface="Spectral"/>
            </a:endParaRPr>
          </a:p>
          <a:p>
            <a:pPr marL="457200" lvl="0" indent="-342900" algn="l" rtl="0">
              <a:spcBef>
                <a:spcPts val="0"/>
              </a:spcBef>
              <a:spcAft>
                <a:spcPts val="0"/>
              </a:spcAft>
              <a:buSzPts val="1800"/>
              <a:buChar char="●"/>
            </a:pPr>
            <a:r>
              <a:rPr lang="de-CH"/>
              <a:t>Fetch all using for loop</a:t>
            </a:r>
            <a:br>
              <a:rPr lang="de-CH"/>
            </a:br>
            <a:r>
              <a:rPr lang="de-CH">
                <a:solidFill>
                  <a:srgbClr val="0000FF"/>
                </a:solidFill>
                <a:latin typeface="Spectral"/>
                <a:ea typeface="Spectral"/>
                <a:cs typeface="Spectral"/>
                <a:sym typeface="Spectral"/>
              </a:rPr>
              <a:t>for city ,city_df in grp:</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    print(city)</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    print(city_df)</a:t>
            </a:r>
            <a:endParaRPr>
              <a:solidFill>
                <a:srgbClr val="0000FF"/>
              </a:solidFill>
              <a:latin typeface="Spectral"/>
              <a:ea typeface="Spectral"/>
              <a:cs typeface="Spectral"/>
              <a:sym typeface="Spectral"/>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106"/>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concat..</a:t>
            </a:r>
            <a:endParaRPr/>
          </a:p>
        </p:txBody>
      </p:sp>
      <p:sp>
        <p:nvSpPr>
          <p:cNvPr id="627" name="Google Shape;627;p106"/>
          <p:cNvSpPr txBox="1">
            <a:spLocks noGrp="1"/>
          </p:cNvSpPr>
          <p:nvPr>
            <p:ph type="body" idx="1"/>
          </p:nvPr>
        </p:nvSpPr>
        <p:spPr>
          <a:xfrm>
            <a:off x="311700" y="960050"/>
            <a:ext cx="8520600" cy="47010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b="1"/>
              <a:t>concat()</a:t>
            </a:r>
            <a:r>
              <a:rPr lang="de-CH"/>
              <a:t> function is used to concatenate two or more DataFrames</a:t>
            </a:r>
            <a:endParaRPr/>
          </a:p>
          <a:p>
            <a:pPr marL="457200" lvl="0" indent="-342900" algn="l" rtl="0">
              <a:spcBef>
                <a:spcPts val="0"/>
              </a:spcBef>
              <a:spcAft>
                <a:spcPts val="0"/>
              </a:spcAft>
              <a:buSzPts val="1800"/>
              <a:buChar char="●"/>
            </a:pPr>
            <a:r>
              <a:rPr lang="de-CH"/>
              <a:t>Concat can do both vertically( axis=0) as well as horizontal (axis=1)</a:t>
            </a:r>
            <a:endParaRPr/>
          </a:p>
          <a:p>
            <a:pPr marL="457200" lvl="0" indent="0" algn="l" rtl="0">
              <a:spcBef>
                <a:spcPts val="1600"/>
              </a:spcBef>
              <a:spcAft>
                <a:spcPts val="0"/>
              </a:spcAft>
              <a:buNone/>
            </a:pPr>
            <a:r>
              <a:rPr lang="de-CH">
                <a:solidFill>
                  <a:srgbClr val="0000FF"/>
                </a:solidFill>
                <a:latin typeface="Spectral"/>
                <a:ea typeface="Spectral"/>
                <a:cs typeface="Spectral"/>
                <a:sym typeface="Spectral"/>
              </a:rPr>
              <a:t>tcs={'id':[101,102,103,104],</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'name':['Mithun','Dipin','jose','Rahul'],</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 'Age':[25,26,27,29]}</a:t>
            </a:r>
            <a:endParaRPr>
              <a:solidFill>
                <a:srgbClr val="0000FF"/>
              </a:solidFill>
              <a:latin typeface="Spectral"/>
              <a:ea typeface="Spectral"/>
              <a:cs typeface="Spectral"/>
              <a:sym typeface="Spectral"/>
            </a:endParaRPr>
          </a:p>
          <a:p>
            <a:pPr marL="457200" lvl="0" indent="0" algn="l" rtl="0">
              <a:spcBef>
                <a:spcPts val="1600"/>
              </a:spcBef>
              <a:spcAft>
                <a:spcPts val="0"/>
              </a:spcAft>
              <a:buNone/>
            </a:pPr>
            <a:r>
              <a:rPr lang="de-CH">
                <a:solidFill>
                  <a:srgbClr val="0000FF"/>
                </a:solidFill>
                <a:latin typeface="Spectral"/>
                <a:ea typeface="Spectral"/>
                <a:cs typeface="Spectral"/>
                <a:sym typeface="Spectral"/>
              </a:rPr>
              <a:t>wipro={'id':[101,102,103,104],</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'Name':['dev','sreenath','sreerag','shafeel'],</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'Age':[24,24,27,26]}</a:t>
            </a:r>
            <a:endParaRPr>
              <a:solidFill>
                <a:srgbClr val="0000FF"/>
              </a:solidFill>
              <a:latin typeface="Spectral"/>
              <a:ea typeface="Spectral"/>
              <a:cs typeface="Spectral"/>
              <a:sym typeface="Spectral"/>
            </a:endParaRPr>
          </a:p>
          <a:p>
            <a:pPr marL="457200" lvl="0" indent="0" algn="l" rtl="0">
              <a:spcBef>
                <a:spcPts val="1600"/>
              </a:spcBef>
              <a:spcAft>
                <a:spcPts val="0"/>
              </a:spcAft>
              <a:buClr>
                <a:schemeClr val="dk1"/>
              </a:buClr>
              <a:buSzPts val="1100"/>
              <a:buFont typeface="Arial"/>
              <a:buNone/>
            </a:pPr>
            <a:r>
              <a:rPr lang="de-CH">
                <a:solidFill>
                  <a:srgbClr val="0000FF"/>
                </a:solidFill>
                <a:latin typeface="Spectral"/>
                <a:ea typeface="Spectral"/>
                <a:cs typeface="Spectral"/>
                <a:sym typeface="Spectral"/>
              </a:rPr>
              <a:t>tcs_emp=pd.DataFrame(tcs)</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wipro_emp=pd.DataFrame(wipro)</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pd.concat([tcs_emp,wipro_emp])</a:t>
            </a:r>
            <a:endParaRPr>
              <a:solidFill>
                <a:srgbClr val="0000FF"/>
              </a:solidFill>
              <a:latin typeface="Spectral"/>
              <a:ea typeface="Spectral"/>
              <a:cs typeface="Spectral"/>
              <a:sym typeface="Spectral"/>
            </a:endParaRPr>
          </a:p>
          <a:p>
            <a:pPr marL="457200" lvl="0" indent="0" algn="l" rtl="0">
              <a:spcBef>
                <a:spcPts val="1600"/>
              </a:spcBef>
              <a:spcAft>
                <a:spcPts val="0"/>
              </a:spcAft>
              <a:buNone/>
            </a:pPr>
            <a:endParaRPr>
              <a:solidFill>
                <a:srgbClr val="0000FF"/>
              </a:solidFill>
              <a:latin typeface="Spectral"/>
              <a:ea typeface="Spectral"/>
              <a:cs typeface="Spectral"/>
              <a:sym typeface="Spectral"/>
            </a:endParaRPr>
          </a:p>
          <a:p>
            <a:pPr marL="0" lvl="0" indent="0" algn="l" rtl="0">
              <a:spcBef>
                <a:spcPts val="1600"/>
              </a:spcBef>
              <a:spcAft>
                <a:spcPts val="1600"/>
              </a:spcAft>
              <a:buNone/>
            </a:pPr>
            <a:endParaRP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107"/>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concat..</a:t>
            </a:r>
            <a:endParaRPr/>
          </a:p>
        </p:txBody>
      </p:sp>
      <p:sp>
        <p:nvSpPr>
          <p:cNvPr id="633" name="Google Shape;633;p107"/>
          <p:cNvSpPr txBox="1">
            <a:spLocks noGrp="1"/>
          </p:cNvSpPr>
          <p:nvPr>
            <p:ph type="body" idx="1"/>
          </p:nvPr>
        </p:nvSpPr>
        <p:spPr>
          <a:xfrm>
            <a:off x="311700" y="1054900"/>
            <a:ext cx="8520600" cy="39627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Ignore index —&gt; TO get common index after concatenation</a:t>
            </a:r>
            <a:br>
              <a:rPr lang="de-CH"/>
            </a:br>
            <a:r>
              <a:rPr lang="de-CH">
                <a:solidFill>
                  <a:srgbClr val="0000FF"/>
                </a:solidFill>
                <a:latin typeface="Spectral"/>
                <a:ea typeface="Spectral"/>
                <a:cs typeface="Spectral"/>
                <a:sym typeface="Spectral"/>
              </a:rPr>
              <a:t>pd.concat([tcs_emp,wipro_emp],ignore_index=True)</a:t>
            </a:r>
            <a:endParaRPr>
              <a:solidFill>
                <a:srgbClr val="0000FF"/>
              </a:solidFill>
              <a:latin typeface="Spectral"/>
              <a:ea typeface="Spectral"/>
              <a:cs typeface="Spectral"/>
              <a:sym typeface="Spectral"/>
            </a:endParaRPr>
          </a:p>
          <a:p>
            <a:pPr marL="457200" lvl="0" indent="-342900" algn="l" rtl="0">
              <a:spcBef>
                <a:spcPts val="0"/>
              </a:spcBef>
              <a:spcAft>
                <a:spcPts val="0"/>
              </a:spcAft>
              <a:buSzPts val="1800"/>
              <a:buChar char="●"/>
            </a:pPr>
            <a:r>
              <a:rPr lang="de-CH"/>
              <a:t>keys—&gt; To provide separate keys for each concatenate data frames</a:t>
            </a:r>
            <a:br>
              <a:rPr lang="de-CH"/>
            </a:br>
            <a:r>
              <a:rPr lang="de-CH">
                <a:solidFill>
                  <a:srgbClr val="0000FF"/>
                </a:solidFill>
                <a:latin typeface="Spectral"/>
                <a:ea typeface="Spectral"/>
                <a:cs typeface="Spectral"/>
                <a:sym typeface="Spectral"/>
              </a:rPr>
              <a:t>data=pd.concat([tcs_emp,wipro_emp],keys=['TCS','WIPRO'])</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Concatenating vertically</a:t>
            </a:r>
            <a:br>
              <a:rPr lang="de-CH">
                <a:solidFill>
                  <a:srgbClr val="000000"/>
                </a:solidFill>
                <a:latin typeface="Spectral"/>
                <a:ea typeface="Spectral"/>
                <a:cs typeface="Spectral"/>
                <a:sym typeface="Spectral"/>
              </a:rPr>
            </a:br>
            <a:r>
              <a:rPr lang="de-CH">
                <a:solidFill>
                  <a:srgbClr val="0000FF"/>
                </a:solidFill>
                <a:latin typeface="Spectral"/>
                <a:ea typeface="Spectral"/>
                <a:cs typeface="Spectral"/>
                <a:sym typeface="Spectral"/>
              </a:rPr>
              <a:t>data=pd.concat([tcs_emp,wipro_emp],axis=1)</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Concatenating a dataframe with a series</a:t>
            </a:r>
            <a:br>
              <a:rPr lang="de-CH">
                <a:solidFill>
                  <a:srgbClr val="000000"/>
                </a:solidFill>
                <a:latin typeface="Spectral"/>
                <a:ea typeface="Spectral"/>
                <a:cs typeface="Spectral"/>
                <a:sym typeface="Spectral"/>
              </a:rPr>
            </a:br>
            <a:r>
              <a:rPr lang="de-CH">
                <a:solidFill>
                  <a:srgbClr val="0000FF"/>
                </a:solidFill>
                <a:latin typeface="Spectral"/>
                <a:ea typeface="Spectral"/>
                <a:cs typeface="Spectral"/>
                <a:sym typeface="Spectral"/>
              </a:rPr>
              <a:t>salary=pd.Series([65000,75000,15000,25000],name='salary')</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pd.concat([tcs_emp,salary],axis=1)</a:t>
            </a:r>
            <a:endParaRPr>
              <a:solidFill>
                <a:srgbClr val="0000FF"/>
              </a:solidFill>
              <a:latin typeface="Spectral"/>
              <a:ea typeface="Spectral"/>
              <a:cs typeface="Spectral"/>
              <a:sym typeface="Spectral"/>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sp>
        <p:nvSpPr>
          <p:cNvPr id="638" name="Google Shape;638;p108"/>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merge...</a:t>
            </a:r>
            <a:endParaRPr/>
          </a:p>
        </p:txBody>
      </p:sp>
      <p:sp>
        <p:nvSpPr>
          <p:cNvPr id="639" name="Google Shape;639;p108"/>
          <p:cNvSpPr txBox="1">
            <a:spLocks noGrp="1"/>
          </p:cNvSpPr>
          <p:nvPr>
            <p:ph type="body" idx="1"/>
          </p:nvPr>
        </p:nvSpPr>
        <p:spPr>
          <a:xfrm>
            <a:off x="256050" y="1147225"/>
            <a:ext cx="8520600" cy="39963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Merge is a process to merge two tables horizontally</a:t>
            </a:r>
            <a:endParaRPr/>
          </a:p>
          <a:p>
            <a:pPr marL="0" lvl="0" indent="0" algn="l" rtl="0">
              <a:lnSpc>
                <a:spcPct val="50000"/>
              </a:lnSpc>
              <a:spcBef>
                <a:spcPts val="1600"/>
              </a:spcBef>
              <a:spcAft>
                <a:spcPts val="0"/>
              </a:spcAft>
              <a:buNone/>
            </a:pPr>
            <a:r>
              <a:rPr lang="de-CH">
                <a:solidFill>
                  <a:srgbClr val="0000FF"/>
                </a:solidFill>
                <a:latin typeface="Spectral"/>
                <a:ea typeface="Spectral"/>
                <a:cs typeface="Spectral"/>
                <a:sym typeface="Spectral"/>
              </a:rPr>
              <a:t>tcs={'id':[101,102,103,106],</a:t>
            </a:r>
            <a:endParaRPr>
              <a:solidFill>
                <a:srgbClr val="0000FF"/>
              </a:solidFill>
              <a:latin typeface="Spectral"/>
              <a:ea typeface="Spectral"/>
              <a:cs typeface="Spectral"/>
              <a:sym typeface="Spectral"/>
            </a:endParaRPr>
          </a:p>
          <a:p>
            <a:pPr marL="0" lvl="0" indent="0" algn="l" rtl="0">
              <a:lnSpc>
                <a:spcPct val="50000"/>
              </a:lnSpc>
              <a:spcBef>
                <a:spcPts val="1600"/>
              </a:spcBef>
              <a:spcAft>
                <a:spcPts val="0"/>
              </a:spcAft>
              <a:buNone/>
            </a:pPr>
            <a:r>
              <a:rPr lang="de-CH">
                <a:solidFill>
                  <a:srgbClr val="0000FF"/>
                </a:solidFill>
                <a:latin typeface="Spectral"/>
                <a:ea typeface="Spectral"/>
                <a:cs typeface="Spectral"/>
                <a:sym typeface="Spectral"/>
              </a:rPr>
              <a:t>      'name':['Mithun','Dipin','jose','maneesh'],</a:t>
            </a:r>
            <a:endParaRPr>
              <a:solidFill>
                <a:srgbClr val="0000FF"/>
              </a:solidFill>
              <a:latin typeface="Spectral"/>
              <a:ea typeface="Spectral"/>
              <a:cs typeface="Spectral"/>
              <a:sym typeface="Spectral"/>
            </a:endParaRPr>
          </a:p>
          <a:p>
            <a:pPr marL="0" lvl="0" indent="0" algn="l" rtl="0">
              <a:lnSpc>
                <a:spcPct val="50000"/>
              </a:lnSpc>
              <a:spcBef>
                <a:spcPts val="1600"/>
              </a:spcBef>
              <a:spcAft>
                <a:spcPts val="0"/>
              </a:spcAft>
              <a:buNone/>
            </a:pPr>
            <a:r>
              <a:rPr lang="de-CH">
                <a:solidFill>
                  <a:srgbClr val="0000FF"/>
                </a:solidFill>
                <a:latin typeface="Spectral"/>
                <a:ea typeface="Spectral"/>
                <a:cs typeface="Spectral"/>
                <a:sym typeface="Spectral"/>
              </a:rPr>
              <a:t>      'age':[25,26,27,29]}</a:t>
            </a:r>
            <a:endParaRPr>
              <a:solidFill>
                <a:srgbClr val="0000FF"/>
              </a:solidFill>
              <a:latin typeface="Spectral"/>
              <a:ea typeface="Spectral"/>
              <a:cs typeface="Spectral"/>
              <a:sym typeface="Spectral"/>
            </a:endParaRPr>
          </a:p>
          <a:p>
            <a:pPr marL="0" lvl="0" indent="0" algn="l" rtl="0">
              <a:lnSpc>
                <a:spcPct val="50000"/>
              </a:lnSpc>
              <a:spcBef>
                <a:spcPts val="1600"/>
              </a:spcBef>
              <a:spcAft>
                <a:spcPts val="0"/>
              </a:spcAft>
              <a:buNone/>
            </a:pPr>
            <a:r>
              <a:rPr lang="de-CH">
                <a:solidFill>
                  <a:srgbClr val="0000FF"/>
                </a:solidFill>
                <a:latin typeface="Spectral"/>
                <a:ea typeface="Spectral"/>
                <a:cs typeface="Spectral"/>
                <a:sym typeface="Spectral"/>
              </a:rPr>
              <a:t>wipro={'id':[101,102,103,105],</a:t>
            </a:r>
            <a:endParaRPr>
              <a:solidFill>
                <a:srgbClr val="0000FF"/>
              </a:solidFill>
              <a:latin typeface="Spectral"/>
              <a:ea typeface="Spectral"/>
              <a:cs typeface="Spectral"/>
              <a:sym typeface="Spectral"/>
            </a:endParaRPr>
          </a:p>
          <a:p>
            <a:pPr marL="0" lvl="0" indent="0" algn="l" rtl="0">
              <a:lnSpc>
                <a:spcPct val="50000"/>
              </a:lnSpc>
              <a:spcBef>
                <a:spcPts val="1600"/>
              </a:spcBef>
              <a:spcAft>
                <a:spcPts val="0"/>
              </a:spcAft>
              <a:buNone/>
            </a:pPr>
            <a:r>
              <a:rPr lang="de-CH">
                <a:solidFill>
                  <a:srgbClr val="0000FF"/>
                </a:solidFill>
                <a:latin typeface="Spectral"/>
                <a:ea typeface="Spectral"/>
                <a:cs typeface="Spectral"/>
                <a:sym typeface="Spectral"/>
              </a:rPr>
              <a:t>      'name':['dev','sreenath','sreerag','varun'],</a:t>
            </a:r>
            <a:endParaRPr>
              <a:solidFill>
                <a:srgbClr val="0000FF"/>
              </a:solidFill>
              <a:latin typeface="Spectral"/>
              <a:ea typeface="Spectral"/>
              <a:cs typeface="Spectral"/>
              <a:sym typeface="Spectral"/>
            </a:endParaRPr>
          </a:p>
          <a:p>
            <a:pPr marL="0" lvl="0" indent="0" algn="l" rtl="0">
              <a:lnSpc>
                <a:spcPct val="50000"/>
              </a:lnSpc>
              <a:spcBef>
                <a:spcPts val="1600"/>
              </a:spcBef>
              <a:spcAft>
                <a:spcPts val="0"/>
              </a:spcAft>
              <a:buNone/>
            </a:pPr>
            <a:r>
              <a:rPr lang="de-CH">
                <a:solidFill>
                  <a:srgbClr val="0000FF"/>
                </a:solidFill>
                <a:latin typeface="Spectral"/>
                <a:ea typeface="Spectral"/>
                <a:cs typeface="Spectral"/>
                <a:sym typeface="Spectral"/>
              </a:rPr>
              <a:t>      'salary':[25000,34000,37000,20000]}</a:t>
            </a:r>
            <a:endParaRPr>
              <a:solidFill>
                <a:srgbClr val="0000FF"/>
              </a:solidFill>
              <a:latin typeface="Spectral"/>
              <a:ea typeface="Spectral"/>
              <a:cs typeface="Spectral"/>
              <a:sym typeface="Spectral"/>
            </a:endParaRPr>
          </a:p>
          <a:p>
            <a:pPr marL="0" lvl="0" indent="0" algn="l" rtl="0">
              <a:lnSpc>
                <a:spcPct val="50000"/>
              </a:lnSpc>
              <a:spcBef>
                <a:spcPts val="1600"/>
              </a:spcBef>
              <a:spcAft>
                <a:spcPts val="0"/>
              </a:spcAft>
              <a:buNone/>
            </a:pPr>
            <a:r>
              <a:rPr lang="de-CH">
                <a:solidFill>
                  <a:srgbClr val="0000FF"/>
                </a:solidFill>
                <a:latin typeface="Spectral"/>
                <a:ea typeface="Spectral"/>
                <a:cs typeface="Spectral"/>
                <a:sym typeface="Spectral"/>
              </a:rPr>
              <a:t>tcs_emp=pd.DataFrame(tcs)</a:t>
            </a:r>
            <a:endParaRPr>
              <a:solidFill>
                <a:srgbClr val="0000FF"/>
              </a:solidFill>
              <a:latin typeface="Spectral"/>
              <a:ea typeface="Spectral"/>
              <a:cs typeface="Spectral"/>
              <a:sym typeface="Spectral"/>
            </a:endParaRPr>
          </a:p>
          <a:p>
            <a:pPr marL="0" lvl="0" indent="0" algn="l" rtl="0">
              <a:lnSpc>
                <a:spcPct val="50000"/>
              </a:lnSpc>
              <a:spcBef>
                <a:spcPts val="1600"/>
              </a:spcBef>
              <a:spcAft>
                <a:spcPts val="0"/>
              </a:spcAft>
              <a:buNone/>
            </a:pPr>
            <a:r>
              <a:rPr lang="de-CH">
                <a:solidFill>
                  <a:srgbClr val="0000FF"/>
                </a:solidFill>
                <a:latin typeface="Spectral"/>
                <a:ea typeface="Spectral"/>
                <a:cs typeface="Spectral"/>
                <a:sym typeface="Spectral"/>
              </a:rPr>
              <a:t>wipro_emp=pd.DataFrame(wipro)</a:t>
            </a:r>
            <a:endParaRPr>
              <a:solidFill>
                <a:srgbClr val="0000FF"/>
              </a:solidFill>
              <a:latin typeface="Spectral"/>
              <a:ea typeface="Spectral"/>
              <a:cs typeface="Spectral"/>
              <a:sym typeface="Spectral"/>
            </a:endParaRPr>
          </a:p>
          <a:p>
            <a:pPr marL="0" lvl="0" indent="0" algn="l" rtl="0">
              <a:lnSpc>
                <a:spcPct val="50000"/>
              </a:lnSpc>
              <a:spcBef>
                <a:spcPts val="1600"/>
              </a:spcBef>
              <a:spcAft>
                <a:spcPts val="0"/>
              </a:spcAft>
              <a:buNone/>
            </a:pPr>
            <a:r>
              <a:rPr lang="de-CH">
                <a:solidFill>
                  <a:srgbClr val="0000FF"/>
                </a:solidFill>
                <a:latin typeface="Spectral"/>
                <a:ea typeface="Spectral"/>
                <a:cs typeface="Spectral"/>
                <a:sym typeface="Spectral"/>
              </a:rPr>
              <a:t>pd.merge(tcs_emp,wipro_emp,on='id')</a:t>
            </a:r>
            <a:endParaRPr>
              <a:solidFill>
                <a:srgbClr val="0000FF"/>
              </a:solidFill>
              <a:latin typeface="Spectral"/>
              <a:ea typeface="Spectral"/>
              <a:cs typeface="Spectral"/>
              <a:sym typeface="Spectral"/>
            </a:endParaRPr>
          </a:p>
          <a:p>
            <a:pPr marL="0" lvl="0" indent="0" algn="l" rtl="0">
              <a:lnSpc>
                <a:spcPct val="50000"/>
              </a:lnSpc>
              <a:spcBef>
                <a:spcPts val="1600"/>
              </a:spcBef>
              <a:spcAft>
                <a:spcPts val="0"/>
              </a:spcAft>
              <a:buNone/>
            </a:pPr>
            <a:r>
              <a:rPr lang="de-CH">
                <a:solidFill>
                  <a:srgbClr val="0000FF"/>
                </a:solidFill>
                <a:latin typeface="Spectral"/>
                <a:ea typeface="Spectral"/>
                <a:cs typeface="Spectral"/>
                <a:sym typeface="Spectral"/>
              </a:rPr>
              <a:t>pd.merge(tcs_emp,wipro_emp,on='id',suffixes=['_left','_right'])</a:t>
            </a:r>
            <a:endParaRPr>
              <a:solidFill>
                <a:srgbClr val="0000FF"/>
              </a:solidFill>
              <a:latin typeface="Spectral"/>
              <a:ea typeface="Spectral"/>
              <a:cs typeface="Spectral"/>
              <a:sym typeface="Spectral"/>
            </a:endParaRPr>
          </a:p>
          <a:p>
            <a:pPr marL="0" lvl="0" indent="0" algn="l" rtl="0">
              <a:spcBef>
                <a:spcPts val="1600"/>
              </a:spcBef>
              <a:spcAft>
                <a:spcPts val="1600"/>
              </a:spcAft>
              <a:buNone/>
            </a:pPr>
            <a:endParaRP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643"/>
        <p:cNvGrpSpPr/>
        <p:nvPr/>
      </p:nvGrpSpPr>
      <p:grpSpPr>
        <a:xfrm>
          <a:off x="0" y="0"/>
          <a:ext cx="0" cy="0"/>
          <a:chOff x="0" y="0"/>
          <a:chExt cx="0" cy="0"/>
        </a:xfrm>
      </p:grpSpPr>
      <p:sp>
        <p:nvSpPr>
          <p:cNvPr id="644" name="Google Shape;644;p109"/>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merge..</a:t>
            </a:r>
            <a:endParaRPr/>
          </a:p>
        </p:txBody>
      </p:sp>
      <p:sp>
        <p:nvSpPr>
          <p:cNvPr id="645" name="Google Shape;645;p109"/>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pd.merge(tcs_emp,wipro_emp,on='id',how='outer')</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pd.merge(tcs_emp,wipro_emp,on='id',how='outer',indicator=True)</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pd.merge(tcs_emp,wipro_emp,on='id',how='left')</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pd.merge(tcs_emp,wipro_emp,on='id',how=right)</a:t>
            </a:r>
            <a:endParaRPr>
              <a:solidFill>
                <a:srgbClr val="0000FF"/>
              </a:solidFill>
              <a:latin typeface="Spectral"/>
              <a:ea typeface="Spectral"/>
              <a:cs typeface="Spectral"/>
              <a:sym typeface="Spectral"/>
            </a:endParaRP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649"/>
        <p:cNvGrpSpPr/>
        <p:nvPr/>
      </p:nvGrpSpPr>
      <p:grpSpPr>
        <a:xfrm>
          <a:off x="0" y="0"/>
          <a:ext cx="0" cy="0"/>
          <a:chOff x="0" y="0"/>
          <a:chExt cx="0" cy="0"/>
        </a:xfrm>
      </p:grpSpPr>
      <p:sp>
        <p:nvSpPr>
          <p:cNvPr id="650" name="Google Shape;650;p110"/>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Pivot and pivot tables...</a:t>
            </a:r>
            <a:endParaRPr/>
          </a:p>
        </p:txBody>
      </p:sp>
      <p:sp>
        <p:nvSpPr>
          <p:cNvPr id="651" name="Google Shape;651;p110"/>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Pivot allows to reshape the data frame</a:t>
            </a:r>
            <a:br>
              <a:rPr lang="de-CH"/>
            </a:br>
            <a:r>
              <a:rPr lang="de-CH">
                <a:solidFill>
                  <a:srgbClr val="0000FF"/>
                </a:solidFill>
                <a:latin typeface="Spectral"/>
                <a:ea typeface="Spectral"/>
                <a:cs typeface="Spectral"/>
                <a:sym typeface="Spectral"/>
              </a:rPr>
              <a:t>datas=pd.read_csv('weather.csv')</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datas.pivot(index='date',columns='city')</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datas.pivot(index='date',columns='city',values='temperature')</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Pivot Table is used to summarize or aggregate data with in a dataframe</a:t>
            </a:r>
            <a:br>
              <a:rPr lang="de-CH">
                <a:solidFill>
                  <a:srgbClr val="000000"/>
                </a:solidFill>
                <a:latin typeface="Spectral"/>
                <a:ea typeface="Spectral"/>
                <a:cs typeface="Spectral"/>
                <a:sym typeface="Spectral"/>
              </a:rPr>
            </a:br>
            <a:r>
              <a:rPr lang="de-CH">
                <a:solidFill>
                  <a:srgbClr val="0000FF"/>
                </a:solidFill>
                <a:latin typeface="Spectral"/>
                <a:ea typeface="Spectral"/>
                <a:cs typeface="Spectral"/>
                <a:sym typeface="Spectral"/>
              </a:rPr>
              <a:t>datas=pd.read_csv('weather2.csv')</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datas.pivot_table(index='city',columns='date')</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datas.pivot_table(index='city',columns='date',aggfunc='sum')</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datas.pivot_table(index='city',columns='date',aggfunc='sum',margins=True)</a:t>
            </a:r>
            <a:endParaRPr>
              <a:solidFill>
                <a:srgbClr val="0000FF"/>
              </a:solidFill>
              <a:latin typeface="Spectral"/>
              <a:ea typeface="Spectral"/>
              <a:cs typeface="Spectral"/>
              <a:sym typeface="Spectral"/>
            </a:endParaRP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111"/>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melt..</a:t>
            </a:r>
            <a:endParaRPr/>
          </a:p>
        </p:txBody>
      </p:sp>
      <p:sp>
        <p:nvSpPr>
          <p:cNvPr id="657" name="Google Shape;657;p111"/>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Melt allows to transform or  reshape the data frame</a:t>
            </a:r>
            <a:br>
              <a:rPr lang="de-CH"/>
            </a:br>
            <a:r>
              <a:rPr lang="de-CH">
                <a:solidFill>
                  <a:srgbClr val="0000FF"/>
                </a:solidFill>
                <a:latin typeface="Spectral"/>
                <a:ea typeface="Spectral"/>
                <a:cs typeface="Spectral"/>
                <a:sym typeface="Spectral"/>
              </a:rPr>
              <a:t>datas=pd.read_csv('weather.csv')</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pd.melt(datas,id_vars=['day'])</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pd.melt(datas,id_vars=['day'],value_name='temperature',var_name='city')</a:t>
            </a:r>
            <a:endParaRPr>
              <a:solidFill>
                <a:srgbClr val="0000FF"/>
              </a:solidFill>
              <a:latin typeface="Spectral"/>
              <a:ea typeface="Spectral"/>
              <a:cs typeface="Spectral"/>
              <a:sym typeface="Spectral"/>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661"/>
        <p:cNvGrpSpPr/>
        <p:nvPr/>
      </p:nvGrpSpPr>
      <p:grpSpPr>
        <a:xfrm>
          <a:off x="0" y="0"/>
          <a:ext cx="0" cy="0"/>
          <a:chOff x="0" y="0"/>
          <a:chExt cx="0" cy="0"/>
        </a:xfrm>
      </p:grpSpPr>
      <p:sp>
        <p:nvSpPr>
          <p:cNvPr id="662" name="Google Shape;662;p112"/>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Cross tab or contingency table..</a:t>
            </a:r>
            <a:endParaRPr/>
          </a:p>
        </p:txBody>
      </p:sp>
      <p:sp>
        <p:nvSpPr>
          <p:cNvPr id="663" name="Google Shape;663;p112"/>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a:t>Contingency table</a:t>
            </a:r>
            <a:r>
              <a:rPr lang="de-CH"/>
              <a:t>: </a:t>
            </a:r>
            <a:r>
              <a:rPr lang="de-CH">
                <a:solidFill>
                  <a:srgbClr val="222222"/>
                </a:solidFill>
                <a:highlight>
                  <a:srgbClr val="FFFFFF"/>
                </a:highlight>
                <a:latin typeface="Arial"/>
                <a:ea typeface="Arial"/>
                <a:cs typeface="Arial"/>
                <a:sym typeface="Arial"/>
              </a:rPr>
              <a:t>a table showing the distribution of one variable in rows and another in columns, used to study the correlation between the two variables.</a:t>
            </a:r>
            <a:endParaRPr>
              <a:solidFill>
                <a:srgbClr val="222222"/>
              </a:solidFill>
              <a:highlight>
                <a:srgbClr val="FFFFFF"/>
              </a:highlight>
              <a:latin typeface="Arial"/>
              <a:ea typeface="Arial"/>
              <a:cs typeface="Arial"/>
              <a:sym typeface="Arial"/>
            </a:endParaRPr>
          </a:p>
          <a:p>
            <a:pPr marL="0" lvl="0" indent="0" algn="l" rtl="0">
              <a:spcBef>
                <a:spcPts val="1600"/>
              </a:spcBef>
              <a:spcAft>
                <a:spcPts val="1600"/>
              </a:spcAft>
              <a:buNone/>
            </a:pPr>
            <a:br>
              <a:rPr lang="de-CH">
                <a:solidFill>
                  <a:srgbClr val="222222"/>
                </a:solidFill>
                <a:highlight>
                  <a:srgbClr val="FFFFFF"/>
                </a:highlight>
                <a:latin typeface="Arial"/>
                <a:ea typeface="Arial"/>
                <a:cs typeface="Arial"/>
                <a:sym typeface="Arial"/>
              </a:rPr>
            </a:br>
            <a:r>
              <a:rPr lang="de-CH">
                <a:solidFill>
                  <a:srgbClr val="0000FF"/>
                </a:solidFill>
                <a:highlight>
                  <a:srgbClr val="FFFFFF"/>
                </a:highlight>
                <a:latin typeface="Spectral"/>
                <a:ea typeface="Spectral"/>
                <a:cs typeface="Spectral"/>
                <a:sym typeface="Spectral"/>
              </a:rPr>
              <a:t>data=pd.read_excel('survey.xls')</a:t>
            </a:r>
            <a:br>
              <a:rPr lang="de-CH">
                <a:solidFill>
                  <a:srgbClr val="0000FF"/>
                </a:solidFill>
                <a:highlight>
                  <a:srgbClr val="FFFFFF"/>
                </a:highlight>
                <a:latin typeface="Spectral"/>
                <a:ea typeface="Spectral"/>
                <a:cs typeface="Spectral"/>
                <a:sym typeface="Spectral"/>
              </a:rPr>
            </a:br>
            <a:r>
              <a:rPr lang="de-CH">
                <a:solidFill>
                  <a:srgbClr val="0000FF"/>
                </a:solidFill>
                <a:highlight>
                  <a:srgbClr val="FFFFFF"/>
                </a:highlight>
                <a:latin typeface="Spectral"/>
                <a:ea typeface="Spectral"/>
                <a:cs typeface="Spectral"/>
                <a:sym typeface="Spectral"/>
              </a:rPr>
              <a:t>pd.crosstab(data.Nationality,data.Handedness)</a:t>
            </a:r>
            <a:br>
              <a:rPr lang="de-CH">
                <a:solidFill>
                  <a:srgbClr val="0000FF"/>
                </a:solidFill>
                <a:highlight>
                  <a:srgbClr val="FFFFFF"/>
                </a:highlight>
                <a:latin typeface="Spectral"/>
                <a:ea typeface="Spectral"/>
                <a:cs typeface="Spectral"/>
                <a:sym typeface="Spectral"/>
              </a:rPr>
            </a:br>
            <a:r>
              <a:rPr lang="de-CH">
                <a:solidFill>
                  <a:srgbClr val="0000FF"/>
                </a:solidFill>
                <a:highlight>
                  <a:srgbClr val="FFFFFF"/>
                </a:highlight>
                <a:latin typeface="Spectral"/>
                <a:ea typeface="Spectral"/>
                <a:cs typeface="Spectral"/>
                <a:sym typeface="Spectral"/>
              </a:rPr>
              <a:t>pd.crosstab(data.Nationality,data.Handedness,margins=True)</a:t>
            </a:r>
            <a:br>
              <a:rPr lang="de-CH">
                <a:solidFill>
                  <a:srgbClr val="0000FF"/>
                </a:solidFill>
                <a:highlight>
                  <a:srgbClr val="FFFFFF"/>
                </a:highlight>
                <a:latin typeface="Spectral"/>
                <a:ea typeface="Spectral"/>
                <a:cs typeface="Spectral"/>
                <a:sym typeface="Spectral"/>
              </a:rPr>
            </a:br>
            <a:r>
              <a:rPr lang="de-CH">
                <a:solidFill>
                  <a:srgbClr val="0000FF"/>
                </a:solidFill>
                <a:highlight>
                  <a:srgbClr val="FFFFFF"/>
                </a:highlight>
                <a:latin typeface="Spectral"/>
                <a:ea typeface="Spectral"/>
                <a:cs typeface="Spectral"/>
                <a:sym typeface="Spectral"/>
              </a:rPr>
              <a:t>pd.crosstab(data.Nationality,[data.Sex,data.Handedness],margins=True)</a:t>
            </a:r>
            <a:br>
              <a:rPr lang="de-CH">
                <a:solidFill>
                  <a:srgbClr val="0000FF"/>
                </a:solidFill>
                <a:highlight>
                  <a:srgbClr val="FFFFFF"/>
                </a:highlight>
                <a:latin typeface="Spectral"/>
                <a:ea typeface="Spectral"/>
                <a:cs typeface="Spectral"/>
                <a:sym typeface="Spectral"/>
              </a:rPr>
            </a:br>
            <a:r>
              <a:rPr lang="de-CH">
                <a:solidFill>
                  <a:srgbClr val="0000FF"/>
                </a:solidFill>
                <a:highlight>
                  <a:srgbClr val="FFFFFF"/>
                </a:highlight>
                <a:latin typeface="Spectral"/>
                <a:ea typeface="Spectral"/>
                <a:cs typeface="Spectral"/>
                <a:sym typeface="Spectral"/>
              </a:rPr>
              <a:t>pd.crosstab(data.Nationality,data.Sex,values=data.Age,aggfunc=np.average)</a:t>
            </a:r>
            <a:br>
              <a:rPr lang="de-CH">
                <a:solidFill>
                  <a:srgbClr val="0000FF"/>
                </a:solidFill>
                <a:highlight>
                  <a:srgbClr val="FFFFFF"/>
                </a:highlight>
                <a:latin typeface="Spectral"/>
                <a:ea typeface="Spectral"/>
                <a:cs typeface="Spectral"/>
                <a:sym typeface="Spectral"/>
              </a:rPr>
            </a:br>
            <a:endParaRPr>
              <a:solidFill>
                <a:srgbClr val="0000FF"/>
              </a:solidFill>
              <a:latin typeface="Spectral"/>
              <a:ea typeface="Spectral"/>
              <a:cs typeface="Spectral"/>
              <a:sym typeface="Spectral"/>
            </a:endParaRP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p113"/>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map..</a:t>
            </a:r>
            <a:endParaRPr/>
          </a:p>
        </p:txBody>
      </p:sp>
      <p:sp>
        <p:nvSpPr>
          <p:cNvPr id="669" name="Google Shape;669;p113"/>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Map is a python built in function</a:t>
            </a:r>
            <a:endParaRPr/>
          </a:p>
          <a:p>
            <a:pPr marL="457200" lvl="0" indent="-342900" algn="l" rtl="0">
              <a:spcBef>
                <a:spcPts val="0"/>
              </a:spcBef>
              <a:spcAft>
                <a:spcPts val="0"/>
              </a:spcAft>
              <a:buSzPts val="1800"/>
              <a:buChar char="●"/>
            </a:pPr>
            <a:r>
              <a:rPr lang="de-CH"/>
              <a:t>It is used to apply some functions on each element of a sequence or collection item</a:t>
            </a:r>
            <a:endParaRPr/>
          </a:p>
          <a:p>
            <a:pPr marL="457200" lvl="0" indent="-342900" algn="l" rtl="0">
              <a:spcBef>
                <a:spcPts val="0"/>
              </a:spcBef>
              <a:spcAft>
                <a:spcPts val="0"/>
              </a:spcAft>
              <a:buSzPts val="1800"/>
              <a:buChar char="●"/>
            </a:pPr>
            <a:r>
              <a:rPr lang="de-CH"/>
              <a:t>It can be used in the pandas dataframe as well</a:t>
            </a:r>
            <a:br>
              <a:rPr lang="de-CH"/>
            </a:br>
            <a:r>
              <a:rPr lang="de-CH">
                <a:solidFill>
                  <a:srgbClr val="0000FF"/>
                </a:solidFill>
                <a:latin typeface="Spectral"/>
                <a:ea typeface="Spectral"/>
                <a:cs typeface="Spectral"/>
                <a:sym typeface="Spectral"/>
              </a:rPr>
              <a:t>def square(x):</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    return x*x</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abc=[1,2,3,4,5]</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out=list(map(square,abc))</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out</a:t>
            </a:r>
            <a:endParaRPr>
              <a:solidFill>
                <a:srgbClr val="0000FF"/>
              </a:solidFill>
              <a:latin typeface="Spectral"/>
              <a:ea typeface="Spectral"/>
              <a:cs typeface="Spectral"/>
              <a:sym typeface="Spectral"/>
            </a:endParaRP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Shape 673"/>
        <p:cNvGrpSpPr/>
        <p:nvPr/>
      </p:nvGrpSpPr>
      <p:grpSpPr>
        <a:xfrm>
          <a:off x="0" y="0"/>
          <a:ext cx="0" cy="0"/>
          <a:chOff x="0" y="0"/>
          <a:chExt cx="0" cy="0"/>
        </a:xfrm>
      </p:grpSpPr>
      <p:sp>
        <p:nvSpPr>
          <p:cNvPr id="674" name="Google Shape;674;p114"/>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Map on dataframe → applymap()</a:t>
            </a:r>
            <a:endParaRPr/>
          </a:p>
        </p:txBody>
      </p:sp>
      <p:sp>
        <p:nvSpPr>
          <p:cNvPr id="675" name="Google Shape;675;p114"/>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We have a built in function applymap() to use this map concept in pandas</a:t>
            </a:r>
            <a:br>
              <a:rPr lang="de-CH"/>
            </a:br>
            <a:r>
              <a:rPr lang="de-CH">
                <a:solidFill>
                  <a:srgbClr val="0000FF"/>
                </a:solidFill>
                <a:latin typeface="Spectral"/>
                <a:ea typeface="Spectral"/>
                <a:cs typeface="Spectral"/>
                <a:sym typeface="Spectral"/>
              </a:rPr>
              <a:t>import pandas as pd</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data=pd.read_csv('weather.csv')</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data[['chennai','chicago']].applymap(square)</a:t>
            </a:r>
            <a:endParaRPr>
              <a:solidFill>
                <a:srgbClr val="0000FF"/>
              </a:solidFill>
              <a:latin typeface="Spectral"/>
              <a:ea typeface="Spectral"/>
              <a:cs typeface="Spectral"/>
              <a:sym typeface="Spectral"/>
            </a:endParaRPr>
          </a:p>
          <a:p>
            <a:pPr marL="457200" lvl="0" indent="-342900" algn="l" rtl="0">
              <a:spcBef>
                <a:spcPts val="0"/>
              </a:spcBef>
              <a:spcAft>
                <a:spcPts val="0"/>
              </a:spcAft>
              <a:buSzPts val="1800"/>
              <a:buChar char="●"/>
            </a:pPr>
            <a:r>
              <a:rPr lang="de-CH"/>
              <a:t>Apply with lambda function</a:t>
            </a:r>
            <a:br>
              <a:rPr lang="de-CH"/>
            </a:br>
            <a:r>
              <a:rPr lang="de-CH">
                <a:solidFill>
                  <a:srgbClr val="0000FF"/>
                </a:solidFill>
                <a:latin typeface="Spectral"/>
                <a:ea typeface="Spectral"/>
                <a:cs typeface="Spectral"/>
                <a:sym typeface="Spectral"/>
              </a:rPr>
              <a:t>data[['chennai','chicago']].applymap(lambda x: x*x)</a:t>
            </a:r>
            <a:endParaRPr>
              <a:solidFill>
                <a:srgbClr val="0000FF"/>
              </a:solidFill>
              <a:latin typeface="Spectral"/>
              <a:ea typeface="Spectral"/>
              <a:cs typeface="Spectral"/>
              <a:sym typeface="Spectral"/>
            </a:endParaRP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Shape 679"/>
        <p:cNvGrpSpPr/>
        <p:nvPr/>
      </p:nvGrpSpPr>
      <p:grpSpPr>
        <a:xfrm>
          <a:off x="0" y="0"/>
          <a:ext cx="0" cy="0"/>
          <a:chOff x="0" y="0"/>
          <a:chExt cx="0" cy="0"/>
        </a:xfrm>
      </p:grpSpPr>
      <p:sp>
        <p:nvSpPr>
          <p:cNvPr id="680" name="Google Shape;680;p115"/>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map() on pandas series</a:t>
            </a:r>
            <a:endParaRPr/>
          </a:p>
        </p:txBody>
      </p:sp>
      <p:sp>
        <p:nvSpPr>
          <p:cNvPr id="681" name="Google Shape;681;p115"/>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de-CH">
                <a:solidFill>
                  <a:srgbClr val="0000FF"/>
                </a:solidFill>
                <a:latin typeface="Spectral"/>
                <a:ea typeface="Spectral"/>
                <a:cs typeface="Spectral"/>
                <a:sym typeface="Spectral"/>
              </a:rPr>
              <a:t>import pandas as pd</a:t>
            </a:r>
            <a:endParaRPr>
              <a:solidFill>
                <a:srgbClr val="0000FF"/>
              </a:solidFill>
              <a:latin typeface="Spectral"/>
              <a:ea typeface="Spectral"/>
              <a:cs typeface="Spectral"/>
              <a:sym typeface="Spectral"/>
            </a:endParaRPr>
          </a:p>
          <a:p>
            <a:pPr marL="0" lvl="0" indent="0" algn="l" rtl="0">
              <a:spcBef>
                <a:spcPts val="1600"/>
              </a:spcBef>
              <a:spcAft>
                <a:spcPts val="0"/>
              </a:spcAft>
              <a:buClr>
                <a:schemeClr val="dk1"/>
              </a:buClr>
              <a:buSzPts val="1100"/>
              <a:buFont typeface="Arial"/>
              <a:buNone/>
            </a:pPr>
            <a:r>
              <a:rPr lang="de-CH">
                <a:solidFill>
                  <a:srgbClr val="0000FF"/>
                </a:solidFill>
                <a:latin typeface="Spectral"/>
                <a:ea typeface="Spectral"/>
                <a:cs typeface="Spectral"/>
                <a:sym typeface="Spectral"/>
              </a:rPr>
              <a:t>data=pd.read_csv('weather.csv')</a:t>
            </a:r>
            <a:endParaRPr>
              <a:solidFill>
                <a:srgbClr val="0000FF"/>
              </a:solidFill>
              <a:latin typeface="Spectral"/>
              <a:ea typeface="Spectral"/>
              <a:cs typeface="Spectral"/>
              <a:sym typeface="Spectral"/>
            </a:endParaRPr>
          </a:p>
          <a:p>
            <a:pPr marL="0" lvl="0" indent="0" algn="l" rtl="0">
              <a:spcBef>
                <a:spcPts val="1600"/>
              </a:spcBef>
              <a:spcAft>
                <a:spcPts val="0"/>
              </a:spcAft>
              <a:buClr>
                <a:schemeClr val="dk1"/>
              </a:buClr>
              <a:buSzPts val="1100"/>
              <a:buFont typeface="Arial"/>
              <a:buNone/>
            </a:pPr>
            <a:r>
              <a:rPr lang="de-CH">
                <a:solidFill>
                  <a:srgbClr val="0000FF"/>
                </a:solidFill>
                <a:latin typeface="Spectral"/>
                <a:ea typeface="Spectral"/>
                <a:cs typeface="Spectral"/>
                <a:sym typeface="Spectral"/>
              </a:rPr>
              <a:t>data['chennai'].map(lambda x: x*x)</a:t>
            </a:r>
            <a:endParaRPr>
              <a:solidFill>
                <a:srgbClr val="0000FF"/>
              </a:solidFill>
              <a:latin typeface="Spectral"/>
              <a:ea typeface="Spectral"/>
              <a:cs typeface="Spectral"/>
              <a:sym typeface="Spectral"/>
            </a:endParaRPr>
          </a:p>
          <a:p>
            <a:pPr marL="0" lvl="0" indent="0" algn="l" rtl="0">
              <a:spcBef>
                <a:spcPts val="1600"/>
              </a:spcBef>
              <a:spcAft>
                <a:spcPts val="1600"/>
              </a:spcAft>
              <a:buNone/>
            </a:pPr>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Shape 685"/>
        <p:cNvGrpSpPr/>
        <p:nvPr/>
      </p:nvGrpSpPr>
      <p:grpSpPr>
        <a:xfrm>
          <a:off x="0" y="0"/>
          <a:ext cx="0" cy="0"/>
          <a:chOff x="0" y="0"/>
          <a:chExt cx="0" cy="0"/>
        </a:xfrm>
      </p:grpSpPr>
      <p:sp>
        <p:nvSpPr>
          <p:cNvPr id="686" name="Google Shape;686;p116"/>
          <p:cNvSpPr txBox="1">
            <a:spLocks noGrp="1"/>
          </p:cNvSpPr>
          <p:nvPr>
            <p:ph type="ctr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   MATPLOTLIB...</a:t>
            </a:r>
            <a:endParaRP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117"/>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Matplotlib Intro..</a:t>
            </a:r>
            <a:endParaRPr/>
          </a:p>
        </p:txBody>
      </p:sp>
      <p:sp>
        <p:nvSpPr>
          <p:cNvPr id="692" name="Google Shape;692;p117"/>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It is the python visualization library</a:t>
            </a:r>
            <a:endParaRPr/>
          </a:p>
          <a:p>
            <a:pPr marL="457200" lvl="0" indent="-342900" algn="l" rtl="0">
              <a:spcBef>
                <a:spcPts val="0"/>
              </a:spcBef>
              <a:spcAft>
                <a:spcPts val="0"/>
              </a:spcAft>
              <a:buSzPts val="1800"/>
              <a:buChar char="●"/>
            </a:pPr>
            <a:r>
              <a:rPr lang="de-CH"/>
              <a:t>Provides wide variety of graphs</a:t>
            </a:r>
            <a:endParaRPr/>
          </a:p>
          <a:p>
            <a:pPr marL="457200" lvl="0" indent="-342900" algn="l" rtl="0">
              <a:spcBef>
                <a:spcPts val="0"/>
              </a:spcBef>
              <a:spcAft>
                <a:spcPts val="0"/>
              </a:spcAft>
              <a:buSzPts val="1800"/>
              <a:buChar char="●"/>
            </a:pPr>
            <a:r>
              <a:rPr lang="de-CH"/>
              <a:t>Very Strong visualization tools</a:t>
            </a:r>
            <a:endParaRPr/>
          </a:p>
          <a:p>
            <a:pPr marL="457200" lvl="0" indent="-342900" algn="l" rtl="0">
              <a:spcBef>
                <a:spcPts val="0"/>
              </a:spcBef>
              <a:spcAft>
                <a:spcPts val="0"/>
              </a:spcAft>
              <a:buSzPts val="1800"/>
              <a:buChar char="●"/>
            </a:pPr>
            <a:r>
              <a:rPr lang="de-CH"/>
              <a:t>Provides a module named pyplot </a:t>
            </a:r>
            <a:endParaRPr/>
          </a:p>
          <a:p>
            <a:pPr marL="457200" lvl="0" indent="-342900" algn="l" rtl="0">
              <a:spcBef>
                <a:spcPts val="0"/>
              </a:spcBef>
              <a:spcAft>
                <a:spcPts val="0"/>
              </a:spcAft>
              <a:buSzPts val="1800"/>
              <a:buChar char="●"/>
            </a:pPr>
            <a:r>
              <a:rPr lang="de-CH"/>
              <a:t>It supports very simple functions to visualize</a:t>
            </a:r>
            <a:endParaRPr/>
          </a:p>
          <a:p>
            <a:pPr marL="457200" lvl="0" indent="-342900" algn="l" rtl="0">
              <a:spcBef>
                <a:spcPts val="0"/>
              </a:spcBef>
              <a:spcAft>
                <a:spcPts val="0"/>
              </a:spcAft>
              <a:buSzPts val="1800"/>
              <a:buChar char="●"/>
            </a:pPr>
            <a:r>
              <a:rPr lang="de-CH"/>
              <a:t>Easy integration with pandas and numpy</a:t>
            </a:r>
            <a:endParaRP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118"/>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Installation and import..</a:t>
            </a:r>
            <a:endParaRPr/>
          </a:p>
        </p:txBody>
      </p:sp>
      <p:sp>
        <p:nvSpPr>
          <p:cNvPr id="698" name="Google Shape;698;p118"/>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FF"/>
              </a:buClr>
              <a:buSzPts val="1800"/>
              <a:buChar char="●"/>
            </a:pPr>
            <a:r>
              <a:rPr lang="de-CH">
                <a:solidFill>
                  <a:srgbClr val="0000FF"/>
                </a:solidFill>
              </a:rPr>
              <a:t>pip3 install matplotlib</a:t>
            </a:r>
            <a:endParaRPr>
              <a:solidFill>
                <a:srgbClr val="0000FF"/>
              </a:solidFill>
            </a:endParaRPr>
          </a:p>
          <a:p>
            <a:pPr marL="0" lvl="0" indent="0" algn="l" rtl="0">
              <a:spcBef>
                <a:spcPts val="1600"/>
              </a:spcBef>
              <a:spcAft>
                <a:spcPts val="0"/>
              </a:spcAft>
              <a:buNone/>
            </a:pPr>
            <a:r>
              <a:rPr lang="de-CH"/>
              <a:t>Open the jupyter notebook</a:t>
            </a:r>
            <a:endParaRPr/>
          </a:p>
          <a:p>
            <a:pPr marL="457200" lvl="0" indent="-342900" algn="l" rtl="0">
              <a:spcBef>
                <a:spcPts val="1600"/>
              </a:spcBef>
              <a:spcAft>
                <a:spcPts val="0"/>
              </a:spcAft>
              <a:buClr>
                <a:srgbClr val="0000FF"/>
              </a:buClr>
              <a:buSzPts val="1800"/>
              <a:buChar char="●"/>
            </a:pPr>
            <a:r>
              <a:rPr lang="de-CH">
                <a:solidFill>
                  <a:srgbClr val="0000FF"/>
                </a:solidFill>
              </a:rPr>
              <a:t>from matplotlib import pyplot</a:t>
            </a:r>
            <a:endParaRPr>
              <a:solidFill>
                <a:srgbClr val="0000FF"/>
              </a:solidFill>
            </a:endParaRP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Shape 702"/>
        <p:cNvGrpSpPr/>
        <p:nvPr/>
      </p:nvGrpSpPr>
      <p:grpSpPr>
        <a:xfrm>
          <a:off x="0" y="0"/>
          <a:ext cx="0" cy="0"/>
          <a:chOff x="0" y="0"/>
          <a:chExt cx="0" cy="0"/>
        </a:xfrm>
      </p:grpSpPr>
      <p:sp>
        <p:nvSpPr>
          <p:cNvPr id="703" name="Google Shape;703;p119"/>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Plot your first..</a:t>
            </a:r>
            <a:endParaRPr/>
          </a:p>
        </p:txBody>
      </p:sp>
      <p:sp>
        <p:nvSpPr>
          <p:cNvPr id="704" name="Google Shape;704;p119"/>
          <p:cNvSpPr txBox="1">
            <a:spLocks noGrp="1"/>
          </p:cNvSpPr>
          <p:nvPr>
            <p:ph type="body" idx="1"/>
          </p:nvPr>
        </p:nvSpPr>
        <p:spPr>
          <a:xfrm>
            <a:off x="311700" y="1225225"/>
            <a:ext cx="8520600" cy="40971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from matplotlib import pyplot as plt</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x_val=['shyam','Ashwin','Praveen','anjana','jubil','shibin']</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y_value=[86,75,76,74,72,85]</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plt.plot(x_val,y_value)</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plt.show()</a:t>
            </a:r>
            <a:endParaRPr>
              <a:solidFill>
                <a:srgbClr val="0000FF"/>
              </a:solidFill>
              <a:latin typeface="Spectral"/>
              <a:ea typeface="Spectral"/>
              <a:cs typeface="Spectral"/>
              <a:sym typeface="Spectral"/>
            </a:endParaRPr>
          </a:p>
          <a:p>
            <a:pPr marL="0" lvl="0" indent="0" algn="l" rtl="0">
              <a:spcBef>
                <a:spcPts val="1600"/>
              </a:spcBef>
              <a:spcAft>
                <a:spcPts val="1600"/>
              </a:spcAft>
              <a:buNone/>
            </a:pPr>
            <a:endParaRPr/>
          </a:p>
        </p:txBody>
      </p:sp>
      <p:pic>
        <p:nvPicPr>
          <p:cNvPr id="705" name="Google Shape;705;p119"/>
          <p:cNvPicPr preferRelativeResize="0"/>
          <p:nvPr/>
        </p:nvPicPr>
        <p:blipFill>
          <a:blip r:embed="rId3">
            <a:alphaModFix/>
          </a:blip>
          <a:stretch>
            <a:fillRect/>
          </a:stretch>
        </p:blipFill>
        <p:spPr>
          <a:xfrm>
            <a:off x="3461050" y="1861675"/>
            <a:ext cx="4440525" cy="3105075"/>
          </a:xfrm>
          <a:prstGeom prst="rect">
            <a:avLst/>
          </a:prstGeom>
          <a:noFill/>
          <a:ln>
            <a:noFill/>
          </a:ln>
        </p:spPr>
      </p:pic>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Shape 709"/>
        <p:cNvGrpSpPr/>
        <p:nvPr/>
      </p:nvGrpSpPr>
      <p:grpSpPr>
        <a:xfrm>
          <a:off x="0" y="0"/>
          <a:ext cx="0" cy="0"/>
          <a:chOff x="0" y="0"/>
          <a:chExt cx="0" cy="0"/>
        </a:xfrm>
      </p:grpSpPr>
      <p:sp>
        <p:nvSpPr>
          <p:cNvPr id="710" name="Google Shape;710;p120"/>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Add title and Label</a:t>
            </a:r>
            <a:endParaRPr/>
          </a:p>
        </p:txBody>
      </p:sp>
      <p:sp>
        <p:nvSpPr>
          <p:cNvPr id="711" name="Google Shape;711;p120"/>
          <p:cNvSpPr txBox="1">
            <a:spLocks noGrp="1"/>
          </p:cNvSpPr>
          <p:nvPr>
            <p:ph type="body" idx="1"/>
          </p:nvPr>
        </p:nvSpPr>
        <p:spPr>
          <a:xfrm>
            <a:off x="311700" y="1301425"/>
            <a:ext cx="8520600" cy="33540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plt.title('Person age Diagram..')</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plt.xlabel('Name')</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plt.ylabel('Weight')</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plt.show()</a:t>
            </a:r>
            <a:endParaRPr>
              <a:solidFill>
                <a:srgbClr val="0000FF"/>
              </a:solidFill>
              <a:latin typeface="Spectral"/>
              <a:ea typeface="Spectral"/>
              <a:cs typeface="Spectral"/>
              <a:sym typeface="Spectral"/>
            </a:endParaRPr>
          </a:p>
          <a:p>
            <a:pPr marL="0" lvl="0" indent="0" algn="l" rtl="0">
              <a:spcBef>
                <a:spcPts val="1600"/>
              </a:spcBef>
              <a:spcAft>
                <a:spcPts val="1600"/>
              </a:spcAft>
              <a:buNone/>
            </a:pPr>
            <a:endParaRPr/>
          </a:p>
        </p:txBody>
      </p:sp>
      <p:pic>
        <p:nvPicPr>
          <p:cNvPr id="712" name="Google Shape;712;p120"/>
          <p:cNvPicPr preferRelativeResize="0"/>
          <p:nvPr/>
        </p:nvPicPr>
        <p:blipFill>
          <a:blip r:embed="rId3">
            <a:alphaModFix/>
          </a:blip>
          <a:stretch>
            <a:fillRect/>
          </a:stretch>
        </p:blipFill>
        <p:spPr>
          <a:xfrm>
            <a:off x="2894950" y="1631525"/>
            <a:ext cx="4737800" cy="3354000"/>
          </a:xfrm>
          <a:prstGeom prst="rect">
            <a:avLst/>
          </a:prstGeom>
          <a:noFill/>
          <a:ln>
            <a:noFill/>
          </a:ln>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Shape 716"/>
        <p:cNvGrpSpPr/>
        <p:nvPr/>
      </p:nvGrpSpPr>
      <p:grpSpPr>
        <a:xfrm>
          <a:off x="0" y="0"/>
          <a:ext cx="0" cy="0"/>
          <a:chOff x="0" y="0"/>
          <a:chExt cx="0" cy="0"/>
        </a:xfrm>
      </p:grpSpPr>
      <p:sp>
        <p:nvSpPr>
          <p:cNvPr id="717" name="Google Shape;717;p121"/>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Multiple plot and adding legends</a:t>
            </a:r>
            <a:endParaRPr/>
          </a:p>
        </p:txBody>
      </p:sp>
      <p:sp>
        <p:nvSpPr>
          <p:cNvPr id="718" name="Google Shape;718;p121"/>
          <p:cNvSpPr txBox="1">
            <a:spLocks noGrp="1"/>
          </p:cNvSpPr>
          <p:nvPr>
            <p:ph type="body" idx="1"/>
          </p:nvPr>
        </p:nvSpPr>
        <p:spPr>
          <a:xfrm>
            <a:off x="311700" y="1225225"/>
            <a:ext cx="8520600" cy="37287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x_val=['shyam','Ashwin','Praveen','anjana','jubil','shibin']</a:t>
            </a:r>
            <a:endParaRPr/>
          </a:p>
          <a:p>
            <a:pPr marL="457200" lvl="0" indent="-342900" algn="l" rtl="0">
              <a:spcBef>
                <a:spcPts val="0"/>
              </a:spcBef>
              <a:spcAft>
                <a:spcPts val="0"/>
              </a:spcAft>
              <a:buSzPts val="1800"/>
              <a:buChar char="●"/>
            </a:pPr>
            <a:r>
              <a:rPr lang="de-CH"/>
              <a:t>y_value=[86,75,76,74,72,85]</a:t>
            </a:r>
            <a:endParaRPr/>
          </a:p>
          <a:p>
            <a:pPr marL="457200" lvl="0" indent="-342900" algn="l" rtl="0">
              <a:spcBef>
                <a:spcPts val="0"/>
              </a:spcBef>
              <a:spcAft>
                <a:spcPts val="0"/>
              </a:spcAft>
              <a:buSzPts val="1800"/>
              <a:buChar char="●"/>
            </a:pPr>
            <a:r>
              <a:rPr lang="de-CH"/>
              <a:t>plt.plot(x_val,y_value)</a:t>
            </a:r>
            <a:endParaRPr/>
          </a:p>
          <a:p>
            <a:pPr marL="457200" lvl="0" indent="-342900" algn="l" rtl="0">
              <a:spcBef>
                <a:spcPts val="0"/>
              </a:spcBef>
              <a:spcAft>
                <a:spcPts val="0"/>
              </a:spcAft>
              <a:buSzPts val="1800"/>
              <a:buChar char="●"/>
            </a:pPr>
            <a:r>
              <a:rPr lang="de-CH"/>
              <a:t>y_value_2=[75,75,80,65,70,78]</a:t>
            </a:r>
            <a:endParaRPr/>
          </a:p>
          <a:p>
            <a:pPr marL="457200" lvl="0" indent="-342900" algn="l" rtl="0">
              <a:spcBef>
                <a:spcPts val="0"/>
              </a:spcBef>
              <a:spcAft>
                <a:spcPts val="0"/>
              </a:spcAft>
              <a:buSzPts val="1800"/>
              <a:buChar char="●"/>
            </a:pPr>
            <a:r>
              <a:rPr lang="de-CH"/>
              <a:t>plt.plot(x_val,y_value_2)</a:t>
            </a:r>
            <a:endParaRPr/>
          </a:p>
          <a:p>
            <a:pPr marL="457200" lvl="0" indent="-342900" algn="l" rtl="0">
              <a:spcBef>
                <a:spcPts val="0"/>
              </a:spcBef>
              <a:spcAft>
                <a:spcPts val="0"/>
              </a:spcAft>
              <a:buSzPts val="1800"/>
              <a:buChar char="●"/>
            </a:pPr>
            <a:r>
              <a:rPr lang="de-CH"/>
              <a:t>plt.title('Person age Diagram..')</a:t>
            </a:r>
            <a:endParaRPr/>
          </a:p>
          <a:p>
            <a:pPr marL="457200" lvl="0" indent="-342900" algn="l" rtl="0">
              <a:spcBef>
                <a:spcPts val="0"/>
              </a:spcBef>
              <a:spcAft>
                <a:spcPts val="0"/>
              </a:spcAft>
              <a:buSzPts val="1800"/>
              <a:buChar char="●"/>
            </a:pPr>
            <a:r>
              <a:rPr lang="de-CH"/>
              <a:t>plt.xlabel('Name')</a:t>
            </a:r>
            <a:endParaRPr/>
          </a:p>
          <a:p>
            <a:pPr marL="457200" lvl="0" indent="-342900" algn="l" rtl="0">
              <a:spcBef>
                <a:spcPts val="0"/>
              </a:spcBef>
              <a:spcAft>
                <a:spcPts val="0"/>
              </a:spcAft>
              <a:buSzPts val="1800"/>
              <a:buChar char="●"/>
            </a:pPr>
            <a:r>
              <a:rPr lang="de-CH"/>
              <a:t>plt.ylabel('Weight')</a:t>
            </a:r>
            <a:endParaRPr/>
          </a:p>
          <a:p>
            <a:pPr marL="457200" lvl="0" indent="-342900" algn="l" rtl="0">
              <a:spcBef>
                <a:spcPts val="0"/>
              </a:spcBef>
              <a:spcAft>
                <a:spcPts val="0"/>
              </a:spcAft>
              <a:buSzPts val="1800"/>
              <a:buChar char="●"/>
            </a:pPr>
            <a:r>
              <a:rPr lang="de-CH"/>
              <a:t>plt.legend(['current weight','needed weight'])</a:t>
            </a:r>
            <a:endParaRPr/>
          </a:p>
          <a:p>
            <a:pPr marL="457200" lvl="0" indent="-342900" algn="l" rtl="0">
              <a:spcBef>
                <a:spcPts val="0"/>
              </a:spcBef>
              <a:spcAft>
                <a:spcPts val="0"/>
              </a:spcAft>
              <a:buSzPts val="1800"/>
              <a:buChar char="●"/>
            </a:pPr>
            <a:r>
              <a:rPr lang="de-CH"/>
              <a:t>plt.show()</a:t>
            </a:r>
            <a:endParaRPr/>
          </a:p>
          <a:p>
            <a:pPr marL="0" lvl="0" indent="0" algn="l" rtl="0">
              <a:spcBef>
                <a:spcPts val="1600"/>
              </a:spcBef>
              <a:spcAft>
                <a:spcPts val="1600"/>
              </a:spcAft>
              <a:buNone/>
            </a:pPr>
            <a:endParaRP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p122"/>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continues..</a:t>
            </a:r>
            <a:endParaRPr/>
          </a:p>
        </p:txBody>
      </p:sp>
      <p:sp>
        <p:nvSpPr>
          <p:cNvPr id="724" name="Google Shape;724;p122"/>
          <p:cNvSpPr txBox="1">
            <a:spLocks noGrp="1"/>
          </p:cNvSpPr>
          <p:nvPr>
            <p:ph type="body" idx="1"/>
          </p:nvPr>
        </p:nvSpPr>
        <p:spPr>
          <a:xfrm>
            <a:off x="311700" y="1225225"/>
            <a:ext cx="74277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725" name="Google Shape;725;p122"/>
          <p:cNvPicPr preferRelativeResize="0"/>
          <p:nvPr/>
        </p:nvPicPr>
        <p:blipFill>
          <a:blip r:embed="rId3">
            <a:alphaModFix/>
          </a:blip>
          <a:stretch>
            <a:fillRect/>
          </a:stretch>
        </p:blipFill>
        <p:spPr>
          <a:xfrm>
            <a:off x="-358425" y="844450"/>
            <a:ext cx="6592300" cy="4299050"/>
          </a:xfrm>
          <a:prstGeom prst="rect">
            <a:avLst/>
          </a:prstGeom>
          <a:noFill/>
          <a:ln>
            <a:noFill/>
          </a:ln>
        </p:spPr>
      </p:pic>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Shape 729"/>
        <p:cNvGrpSpPr/>
        <p:nvPr/>
      </p:nvGrpSpPr>
      <p:grpSpPr>
        <a:xfrm>
          <a:off x="0" y="0"/>
          <a:ext cx="0" cy="0"/>
          <a:chOff x="0" y="0"/>
          <a:chExt cx="0" cy="0"/>
        </a:xfrm>
      </p:grpSpPr>
      <p:sp>
        <p:nvSpPr>
          <p:cNvPr id="730" name="Google Shape;730;p123"/>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Same can be done in this way as well..</a:t>
            </a:r>
            <a:endParaRPr/>
          </a:p>
        </p:txBody>
      </p:sp>
      <p:sp>
        <p:nvSpPr>
          <p:cNvPr id="731" name="Google Shape;731;p123"/>
          <p:cNvSpPr txBox="1">
            <a:spLocks noGrp="1"/>
          </p:cNvSpPr>
          <p:nvPr>
            <p:ph type="body" idx="1"/>
          </p:nvPr>
        </p:nvSpPr>
        <p:spPr>
          <a:xfrm>
            <a:off x="311700" y="1225225"/>
            <a:ext cx="8520600" cy="36576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x_val=['shyam','Ashwin','Praveen','anjana','jubil','shibin']</a:t>
            </a:r>
            <a:endParaRPr/>
          </a:p>
          <a:p>
            <a:pPr marL="457200" lvl="0" indent="-342900" algn="l" rtl="0">
              <a:spcBef>
                <a:spcPts val="0"/>
              </a:spcBef>
              <a:spcAft>
                <a:spcPts val="0"/>
              </a:spcAft>
              <a:buSzPts val="1800"/>
              <a:buChar char="●"/>
            </a:pPr>
            <a:r>
              <a:rPr lang="de-CH"/>
              <a:t>y_value=[86,75,76,74,72,85]</a:t>
            </a:r>
            <a:endParaRPr/>
          </a:p>
          <a:p>
            <a:pPr marL="457200" lvl="0" indent="-342900" algn="l" rtl="0">
              <a:spcBef>
                <a:spcPts val="0"/>
              </a:spcBef>
              <a:spcAft>
                <a:spcPts val="0"/>
              </a:spcAft>
              <a:buSzPts val="1800"/>
              <a:buChar char="●"/>
            </a:pPr>
            <a:r>
              <a:rPr lang="de-CH"/>
              <a:t>plt.plot(x_val,y_value,label='current weight')</a:t>
            </a:r>
            <a:endParaRPr/>
          </a:p>
          <a:p>
            <a:pPr marL="457200" lvl="0" indent="-342900" algn="l" rtl="0">
              <a:spcBef>
                <a:spcPts val="0"/>
              </a:spcBef>
              <a:spcAft>
                <a:spcPts val="0"/>
              </a:spcAft>
              <a:buSzPts val="1800"/>
              <a:buChar char="●"/>
            </a:pPr>
            <a:r>
              <a:rPr lang="de-CH"/>
              <a:t>y_value_2=[75,75,80,65,70,78]</a:t>
            </a:r>
            <a:endParaRPr/>
          </a:p>
          <a:p>
            <a:pPr marL="457200" lvl="0" indent="-342900" algn="l" rtl="0">
              <a:spcBef>
                <a:spcPts val="0"/>
              </a:spcBef>
              <a:spcAft>
                <a:spcPts val="0"/>
              </a:spcAft>
              <a:buSzPts val="1800"/>
              <a:buChar char="●"/>
            </a:pPr>
            <a:r>
              <a:rPr lang="de-CH"/>
              <a:t>plt.plot(x_val,y_value_2,label='weight needed')</a:t>
            </a:r>
            <a:endParaRPr/>
          </a:p>
          <a:p>
            <a:pPr marL="457200" lvl="0" indent="-342900" algn="l" rtl="0">
              <a:spcBef>
                <a:spcPts val="0"/>
              </a:spcBef>
              <a:spcAft>
                <a:spcPts val="0"/>
              </a:spcAft>
              <a:buSzPts val="1800"/>
              <a:buChar char="●"/>
            </a:pPr>
            <a:r>
              <a:rPr lang="de-CH"/>
              <a:t>plt.title('Person age Diagram..')</a:t>
            </a:r>
            <a:endParaRPr/>
          </a:p>
          <a:p>
            <a:pPr marL="457200" lvl="0" indent="-342900" algn="l" rtl="0">
              <a:spcBef>
                <a:spcPts val="0"/>
              </a:spcBef>
              <a:spcAft>
                <a:spcPts val="0"/>
              </a:spcAft>
              <a:buSzPts val="1800"/>
              <a:buChar char="●"/>
            </a:pPr>
            <a:r>
              <a:rPr lang="de-CH"/>
              <a:t>plt.xlabel('Name')</a:t>
            </a:r>
            <a:endParaRPr/>
          </a:p>
          <a:p>
            <a:pPr marL="457200" lvl="0" indent="-342900" algn="l" rtl="0">
              <a:spcBef>
                <a:spcPts val="0"/>
              </a:spcBef>
              <a:spcAft>
                <a:spcPts val="0"/>
              </a:spcAft>
              <a:buSzPts val="1800"/>
              <a:buChar char="●"/>
            </a:pPr>
            <a:r>
              <a:rPr lang="de-CH"/>
              <a:t>plt.ylabel('Weight')</a:t>
            </a:r>
            <a:endParaRPr/>
          </a:p>
          <a:p>
            <a:pPr marL="457200" lvl="0" indent="-342900" algn="l" rtl="0">
              <a:spcBef>
                <a:spcPts val="0"/>
              </a:spcBef>
              <a:spcAft>
                <a:spcPts val="0"/>
              </a:spcAft>
              <a:buSzPts val="1800"/>
              <a:buChar char="●"/>
            </a:pPr>
            <a:r>
              <a:rPr lang="de-CH"/>
              <a:t>plt.legend()</a:t>
            </a:r>
            <a:endParaRPr/>
          </a:p>
          <a:p>
            <a:pPr marL="457200" lvl="0" indent="-342900" algn="l" rtl="0">
              <a:spcBef>
                <a:spcPts val="0"/>
              </a:spcBef>
              <a:spcAft>
                <a:spcPts val="0"/>
              </a:spcAft>
              <a:buSzPts val="1800"/>
              <a:buChar char="●"/>
            </a:pPr>
            <a:r>
              <a:rPr lang="de-CH"/>
              <a:t>plt.show()</a:t>
            </a:r>
            <a:endParaRP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124"/>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color,linestyle,marker</a:t>
            </a:r>
            <a:endParaRPr/>
          </a:p>
        </p:txBody>
      </p:sp>
      <p:sp>
        <p:nvSpPr>
          <p:cNvPr id="737" name="Google Shape;737;p124"/>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30200" algn="l" rtl="0">
              <a:spcBef>
                <a:spcPts val="0"/>
              </a:spcBef>
              <a:spcAft>
                <a:spcPts val="0"/>
              </a:spcAft>
              <a:buSzPts val="1600"/>
              <a:buChar char="●"/>
            </a:pPr>
            <a:r>
              <a:rPr lang="de-CH" sz="1600"/>
              <a:t>x_val=['shyam','Ashwin','Praveen','anjana','jubil','shibin']</a:t>
            </a:r>
            <a:endParaRPr sz="1600"/>
          </a:p>
          <a:p>
            <a:pPr marL="457200" lvl="0" indent="-330200" algn="l" rtl="0">
              <a:spcBef>
                <a:spcPts val="0"/>
              </a:spcBef>
              <a:spcAft>
                <a:spcPts val="0"/>
              </a:spcAft>
              <a:buSzPts val="1600"/>
              <a:buChar char="●"/>
            </a:pPr>
            <a:r>
              <a:rPr lang="de-CH" sz="1600"/>
              <a:t>y_value=[86,75,76,74,72,85]</a:t>
            </a:r>
            <a:endParaRPr sz="1600"/>
          </a:p>
          <a:p>
            <a:pPr marL="457200" lvl="0" indent="-330200" algn="l" rtl="0">
              <a:spcBef>
                <a:spcPts val="0"/>
              </a:spcBef>
              <a:spcAft>
                <a:spcPts val="0"/>
              </a:spcAft>
              <a:buSzPts val="1600"/>
              <a:buChar char="●"/>
            </a:pPr>
            <a:r>
              <a:rPr lang="de-CH" sz="1600"/>
              <a:t>plt.plot(x_val,y_value,label='current weight',c='orange',linestyle='-',marker='p')</a:t>
            </a:r>
            <a:endParaRPr sz="1600"/>
          </a:p>
          <a:p>
            <a:pPr marL="457200" lvl="0" indent="-330200" algn="l" rtl="0">
              <a:spcBef>
                <a:spcPts val="0"/>
              </a:spcBef>
              <a:spcAft>
                <a:spcPts val="0"/>
              </a:spcAft>
              <a:buSzPts val="1600"/>
              <a:buChar char="●"/>
            </a:pPr>
            <a:r>
              <a:rPr lang="de-CH" sz="1600"/>
              <a:t>y_value_2=[75,75,80,65,70,78]</a:t>
            </a:r>
            <a:endParaRPr sz="1600"/>
          </a:p>
          <a:p>
            <a:pPr marL="457200" lvl="0" indent="-330200" algn="l" rtl="0">
              <a:spcBef>
                <a:spcPts val="0"/>
              </a:spcBef>
              <a:spcAft>
                <a:spcPts val="0"/>
              </a:spcAft>
              <a:buSzPts val="1600"/>
              <a:buChar char="●"/>
            </a:pPr>
            <a:r>
              <a:rPr lang="de-CH" sz="1600"/>
              <a:t>plt.plot(x_val,y_value_2,label='weight needed',color='red',linestyle='--',marker='s')</a:t>
            </a:r>
            <a:endParaRPr sz="1600"/>
          </a:p>
          <a:p>
            <a:pPr marL="457200" lvl="0" indent="-330200" algn="l" rtl="0">
              <a:spcBef>
                <a:spcPts val="0"/>
              </a:spcBef>
              <a:spcAft>
                <a:spcPts val="0"/>
              </a:spcAft>
              <a:buSzPts val="1600"/>
              <a:buChar char="●"/>
            </a:pPr>
            <a:r>
              <a:rPr lang="de-CH" sz="1600"/>
              <a:t>plt.title('Person age Diagram..')</a:t>
            </a:r>
            <a:endParaRPr sz="1600"/>
          </a:p>
          <a:p>
            <a:pPr marL="457200" lvl="0" indent="-330200" algn="l" rtl="0">
              <a:spcBef>
                <a:spcPts val="0"/>
              </a:spcBef>
              <a:spcAft>
                <a:spcPts val="0"/>
              </a:spcAft>
              <a:buSzPts val="1600"/>
              <a:buChar char="●"/>
            </a:pPr>
            <a:r>
              <a:rPr lang="de-CH" sz="1600"/>
              <a:t>plt.xlabel('Name')</a:t>
            </a:r>
            <a:endParaRPr sz="1600"/>
          </a:p>
          <a:p>
            <a:pPr marL="457200" lvl="0" indent="-330200" algn="l" rtl="0">
              <a:spcBef>
                <a:spcPts val="0"/>
              </a:spcBef>
              <a:spcAft>
                <a:spcPts val="0"/>
              </a:spcAft>
              <a:buSzPts val="1600"/>
              <a:buChar char="●"/>
            </a:pPr>
            <a:r>
              <a:rPr lang="de-CH" sz="1600"/>
              <a:t>plt.ylabel('Weight')</a:t>
            </a:r>
            <a:endParaRPr sz="1600"/>
          </a:p>
          <a:p>
            <a:pPr marL="457200" lvl="0" indent="-330200" algn="l" rtl="0">
              <a:spcBef>
                <a:spcPts val="0"/>
              </a:spcBef>
              <a:spcAft>
                <a:spcPts val="0"/>
              </a:spcAft>
              <a:buSzPts val="1600"/>
              <a:buChar char="●"/>
            </a:pPr>
            <a:r>
              <a:rPr lang="de-CH" sz="1600"/>
              <a:t>plt.legend()</a:t>
            </a:r>
            <a:endParaRPr sz="1600"/>
          </a:p>
          <a:p>
            <a:pPr marL="457200" lvl="0" indent="-330200" algn="l" rtl="0">
              <a:spcBef>
                <a:spcPts val="0"/>
              </a:spcBef>
              <a:spcAft>
                <a:spcPts val="0"/>
              </a:spcAft>
              <a:buSzPts val="1600"/>
              <a:buChar char="●"/>
            </a:pPr>
            <a:r>
              <a:rPr lang="de-CH" sz="1600"/>
              <a:t>plt.show()</a:t>
            </a:r>
            <a:endParaRPr sz="1600"/>
          </a:p>
          <a:p>
            <a:pPr marL="0" lvl="0" indent="0" algn="l" rtl="0">
              <a:spcBef>
                <a:spcPts val="1600"/>
              </a:spcBef>
              <a:spcAft>
                <a:spcPts val="1600"/>
              </a:spcAft>
              <a:buNone/>
            </a:pPr>
            <a:endParaRP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p125"/>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output..</a:t>
            </a:r>
            <a:endParaRPr/>
          </a:p>
        </p:txBody>
      </p:sp>
      <p:sp>
        <p:nvSpPr>
          <p:cNvPr id="743" name="Google Shape;743;p125"/>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744" name="Google Shape;744;p125"/>
          <p:cNvPicPr preferRelativeResize="0"/>
          <p:nvPr/>
        </p:nvPicPr>
        <p:blipFill>
          <a:blip r:embed="rId3">
            <a:alphaModFix/>
          </a:blip>
          <a:stretch>
            <a:fillRect/>
          </a:stretch>
        </p:blipFill>
        <p:spPr>
          <a:xfrm>
            <a:off x="-351975" y="936250"/>
            <a:ext cx="6609950" cy="4207250"/>
          </a:xfrm>
          <a:prstGeom prst="rect">
            <a:avLst/>
          </a:prstGeom>
          <a:noFill/>
          <a:ln>
            <a:noFill/>
          </a:ln>
        </p:spPr>
      </p:pic>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Shape 748"/>
        <p:cNvGrpSpPr/>
        <p:nvPr/>
      </p:nvGrpSpPr>
      <p:grpSpPr>
        <a:xfrm>
          <a:off x="0" y="0"/>
          <a:ext cx="0" cy="0"/>
          <a:chOff x="0" y="0"/>
          <a:chExt cx="0" cy="0"/>
        </a:xfrm>
      </p:grpSpPr>
      <p:sp>
        <p:nvSpPr>
          <p:cNvPr id="749" name="Google Shape;749;p126"/>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Same using format String..</a:t>
            </a:r>
            <a:endParaRPr/>
          </a:p>
        </p:txBody>
      </p:sp>
      <p:sp>
        <p:nvSpPr>
          <p:cNvPr id="750" name="Google Shape;750;p126"/>
          <p:cNvSpPr txBox="1">
            <a:spLocks noGrp="1"/>
          </p:cNvSpPr>
          <p:nvPr>
            <p:ph type="body" idx="1"/>
          </p:nvPr>
        </p:nvSpPr>
        <p:spPr>
          <a:xfrm>
            <a:off x="311700" y="1225225"/>
            <a:ext cx="8520600" cy="38235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Format String</a:t>
            </a:r>
            <a:br>
              <a:rPr lang="de-CH"/>
            </a:br>
            <a:r>
              <a:rPr lang="de-CH">
                <a:solidFill>
                  <a:srgbClr val="0000FF"/>
                </a:solidFill>
                <a:highlight>
                  <a:srgbClr val="F7F7F7"/>
                </a:highlight>
                <a:latin typeface="Spectral"/>
                <a:ea typeface="Spectral"/>
                <a:cs typeface="Spectral"/>
                <a:sym typeface="Spectral"/>
              </a:rPr>
              <a:t>fmt = '[marker][line][color]'</a:t>
            </a:r>
            <a:br>
              <a:rPr lang="de-CH">
                <a:solidFill>
                  <a:srgbClr val="0000FF"/>
                </a:solidFill>
                <a:highlight>
                  <a:srgbClr val="F7F7F7"/>
                </a:highlight>
                <a:latin typeface="Spectral"/>
                <a:ea typeface="Spectral"/>
                <a:cs typeface="Spectral"/>
                <a:sym typeface="Spectral"/>
              </a:rPr>
            </a:br>
            <a:r>
              <a:rPr lang="de-CH">
                <a:solidFill>
                  <a:srgbClr val="0000FF"/>
                </a:solidFill>
                <a:highlight>
                  <a:srgbClr val="F7F7F7"/>
                </a:highlight>
                <a:latin typeface="Spectral"/>
                <a:ea typeface="Spectral"/>
                <a:cs typeface="Spectral"/>
                <a:sym typeface="Spectral"/>
              </a:rPr>
              <a:t>fmt=’s--b’</a:t>
            </a:r>
            <a:endParaRPr>
              <a:solidFill>
                <a:srgbClr val="0000FF"/>
              </a:solidFill>
              <a:highlight>
                <a:srgbClr val="F7F7F7"/>
              </a:highlight>
              <a:latin typeface="Spectral"/>
              <a:ea typeface="Spectral"/>
              <a:cs typeface="Spectral"/>
              <a:sym typeface="Spectral"/>
            </a:endParaRPr>
          </a:p>
          <a:p>
            <a:pPr marL="914400" lvl="1" indent="-330200" algn="l" rtl="0">
              <a:spcBef>
                <a:spcPts val="0"/>
              </a:spcBef>
              <a:spcAft>
                <a:spcPts val="0"/>
              </a:spcAft>
              <a:buClr>
                <a:srgbClr val="0000FF"/>
              </a:buClr>
              <a:buSzPts val="1600"/>
              <a:buFont typeface="Spectral"/>
              <a:buChar char="○"/>
            </a:pPr>
            <a:r>
              <a:rPr lang="de-CH" sz="1600">
                <a:solidFill>
                  <a:srgbClr val="0000FF"/>
                </a:solidFill>
                <a:latin typeface="Spectral"/>
                <a:ea typeface="Spectral"/>
                <a:cs typeface="Spectral"/>
                <a:sym typeface="Spectral"/>
              </a:rPr>
              <a:t>x_val=['shyam','Ashwin','Praveen','anjana','jubil','shibin']</a:t>
            </a:r>
            <a:endParaRPr sz="1600">
              <a:solidFill>
                <a:srgbClr val="0000FF"/>
              </a:solidFill>
              <a:latin typeface="Spectral"/>
              <a:ea typeface="Spectral"/>
              <a:cs typeface="Spectral"/>
              <a:sym typeface="Spectral"/>
            </a:endParaRPr>
          </a:p>
          <a:p>
            <a:pPr marL="914400" lvl="1" indent="-330200" algn="l" rtl="0">
              <a:spcBef>
                <a:spcPts val="0"/>
              </a:spcBef>
              <a:spcAft>
                <a:spcPts val="0"/>
              </a:spcAft>
              <a:buClr>
                <a:srgbClr val="0000FF"/>
              </a:buClr>
              <a:buSzPts val="1600"/>
              <a:buFont typeface="Spectral"/>
              <a:buChar char="○"/>
            </a:pPr>
            <a:r>
              <a:rPr lang="de-CH" sz="1600">
                <a:solidFill>
                  <a:srgbClr val="0000FF"/>
                </a:solidFill>
                <a:latin typeface="Spectral"/>
                <a:ea typeface="Spectral"/>
                <a:cs typeface="Spectral"/>
                <a:sym typeface="Spectral"/>
              </a:rPr>
              <a:t>y_value=[86,75,76,74,72,85]</a:t>
            </a:r>
            <a:endParaRPr sz="1600">
              <a:solidFill>
                <a:srgbClr val="0000FF"/>
              </a:solidFill>
              <a:latin typeface="Spectral"/>
              <a:ea typeface="Spectral"/>
              <a:cs typeface="Spectral"/>
              <a:sym typeface="Spectral"/>
            </a:endParaRPr>
          </a:p>
          <a:p>
            <a:pPr marL="914400" lvl="1" indent="-330200" algn="l" rtl="0">
              <a:spcBef>
                <a:spcPts val="0"/>
              </a:spcBef>
              <a:spcAft>
                <a:spcPts val="0"/>
              </a:spcAft>
              <a:buClr>
                <a:srgbClr val="0000FF"/>
              </a:buClr>
              <a:buSzPts val="1600"/>
              <a:buFont typeface="Spectral"/>
              <a:buChar char="○"/>
            </a:pPr>
            <a:r>
              <a:rPr lang="de-CH" sz="1600">
                <a:solidFill>
                  <a:srgbClr val="0000FF"/>
                </a:solidFill>
                <a:latin typeface="Spectral"/>
                <a:ea typeface="Spectral"/>
                <a:cs typeface="Spectral"/>
                <a:sym typeface="Spectral"/>
              </a:rPr>
              <a:t>plt.plot(x_val,y_value,'s--b',label='current weight',)</a:t>
            </a:r>
            <a:endParaRPr sz="1600">
              <a:solidFill>
                <a:srgbClr val="0000FF"/>
              </a:solidFill>
              <a:latin typeface="Spectral"/>
              <a:ea typeface="Spectral"/>
              <a:cs typeface="Spectral"/>
              <a:sym typeface="Spectral"/>
            </a:endParaRPr>
          </a:p>
          <a:p>
            <a:pPr marL="914400" lvl="1" indent="-330200" algn="l" rtl="0">
              <a:spcBef>
                <a:spcPts val="0"/>
              </a:spcBef>
              <a:spcAft>
                <a:spcPts val="0"/>
              </a:spcAft>
              <a:buClr>
                <a:srgbClr val="0000FF"/>
              </a:buClr>
              <a:buSzPts val="1600"/>
              <a:buFont typeface="Spectral"/>
              <a:buChar char="○"/>
            </a:pPr>
            <a:r>
              <a:rPr lang="de-CH" sz="1600">
                <a:solidFill>
                  <a:srgbClr val="0000FF"/>
                </a:solidFill>
                <a:latin typeface="Spectral"/>
                <a:ea typeface="Spectral"/>
                <a:cs typeface="Spectral"/>
                <a:sym typeface="Spectral"/>
              </a:rPr>
              <a:t>y_value_2=[75,75,80,65,70,78]</a:t>
            </a:r>
            <a:endParaRPr sz="1600">
              <a:solidFill>
                <a:srgbClr val="0000FF"/>
              </a:solidFill>
              <a:latin typeface="Spectral"/>
              <a:ea typeface="Spectral"/>
              <a:cs typeface="Spectral"/>
              <a:sym typeface="Spectral"/>
            </a:endParaRPr>
          </a:p>
          <a:p>
            <a:pPr marL="914400" lvl="1" indent="-330200" algn="l" rtl="0">
              <a:spcBef>
                <a:spcPts val="0"/>
              </a:spcBef>
              <a:spcAft>
                <a:spcPts val="0"/>
              </a:spcAft>
              <a:buClr>
                <a:srgbClr val="0000FF"/>
              </a:buClr>
              <a:buSzPts val="1600"/>
              <a:buFont typeface="Spectral"/>
              <a:buChar char="○"/>
            </a:pPr>
            <a:r>
              <a:rPr lang="de-CH" sz="1600">
                <a:solidFill>
                  <a:srgbClr val="0000FF"/>
                </a:solidFill>
                <a:latin typeface="Spectral"/>
                <a:ea typeface="Spectral"/>
                <a:cs typeface="Spectral"/>
                <a:sym typeface="Spectral"/>
              </a:rPr>
              <a:t>plt.plot(x_val,y_value_2,label='weight needed',color='red',linestyle='--',marker='s')</a:t>
            </a:r>
            <a:endParaRPr sz="1600">
              <a:solidFill>
                <a:srgbClr val="0000FF"/>
              </a:solidFill>
              <a:latin typeface="Spectral"/>
              <a:ea typeface="Spectral"/>
              <a:cs typeface="Spectral"/>
              <a:sym typeface="Spectral"/>
            </a:endParaRPr>
          </a:p>
          <a:p>
            <a:pPr marL="914400" lvl="1" indent="-330200" algn="l" rtl="0">
              <a:spcBef>
                <a:spcPts val="0"/>
              </a:spcBef>
              <a:spcAft>
                <a:spcPts val="0"/>
              </a:spcAft>
              <a:buClr>
                <a:srgbClr val="0000FF"/>
              </a:buClr>
              <a:buSzPts val="1600"/>
              <a:buFont typeface="Spectral"/>
              <a:buChar char="○"/>
            </a:pPr>
            <a:r>
              <a:rPr lang="de-CH" sz="1600">
                <a:solidFill>
                  <a:srgbClr val="0000FF"/>
                </a:solidFill>
                <a:latin typeface="Spectral"/>
                <a:ea typeface="Spectral"/>
                <a:cs typeface="Spectral"/>
                <a:sym typeface="Spectral"/>
              </a:rPr>
              <a:t>plt.title('Person age Diagram..')</a:t>
            </a:r>
            <a:endParaRPr sz="1600">
              <a:solidFill>
                <a:srgbClr val="0000FF"/>
              </a:solidFill>
              <a:latin typeface="Spectral"/>
              <a:ea typeface="Spectral"/>
              <a:cs typeface="Spectral"/>
              <a:sym typeface="Spectral"/>
            </a:endParaRPr>
          </a:p>
          <a:p>
            <a:pPr marL="914400" lvl="1" indent="-330200" algn="l" rtl="0">
              <a:spcBef>
                <a:spcPts val="0"/>
              </a:spcBef>
              <a:spcAft>
                <a:spcPts val="0"/>
              </a:spcAft>
              <a:buClr>
                <a:srgbClr val="0000FF"/>
              </a:buClr>
              <a:buSzPts val="1600"/>
              <a:buFont typeface="Spectral"/>
              <a:buChar char="○"/>
            </a:pPr>
            <a:r>
              <a:rPr lang="de-CH" sz="1600">
                <a:solidFill>
                  <a:srgbClr val="0000FF"/>
                </a:solidFill>
                <a:latin typeface="Spectral"/>
                <a:ea typeface="Spectral"/>
                <a:cs typeface="Spectral"/>
                <a:sym typeface="Spectral"/>
              </a:rPr>
              <a:t>plt.xlabel('Name')</a:t>
            </a:r>
            <a:endParaRPr sz="1600">
              <a:solidFill>
                <a:srgbClr val="0000FF"/>
              </a:solidFill>
              <a:latin typeface="Spectral"/>
              <a:ea typeface="Spectral"/>
              <a:cs typeface="Spectral"/>
              <a:sym typeface="Spectral"/>
            </a:endParaRPr>
          </a:p>
          <a:p>
            <a:pPr marL="914400" lvl="1" indent="-330200" algn="l" rtl="0">
              <a:spcBef>
                <a:spcPts val="0"/>
              </a:spcBef>
              <a:spcAft>
                <a:spcPts val="0"/>
              </a:spcAft>
              <a:buClr>
                <a:srgbClr val="0000FF"/>
              </a:buClr>
              <a:buSzPts val="1600"/>
              <a:buFont typeface="Spectral"/>
              <a:buChar char="○"/>
            </a:pPr>
            <a:r>
              <a:rPr lang="de-CH" sz="1600">
                <a:solidFill>
                  <a:srgbClr val="0000FF"/>
                </a:solidFill>
                <a:latin typeface="Spectral"/>
                <a:ea typeface="Spectral"/>
                <a:cs typeface="Spectral"/>
                <a:sym typeface="Spectral"/>
              </a:rPr>
              <a:t>plt.ylabel('Weight')</a:t>
            </a:r>
            <a:endParaRPr sz="1600">
              <a:solidFill>
                <a:srgbClr val="0000FF"/>
              </a:solidFill>
              <a:latin typeface="Spectral"/>
              <a:ea typeface="Spectral"/>
              <a:cs typeface="Spectral"/>
              <a:sym typeface="Spectral"/>
            </a:endParaRPr>
          </a:p>
          <a:p>
            <a:pPr marL="914400" lvl="1" indent="-330200" algn="l" rtl="0">
              <a:spcBef>
                <a:spcPts val="0"/>
              </a:spcBef>
              <a:spcAft>
                <a:spcPts val="0"/>
              </a:spcAft>
              <a:buClr>
                <a:srgbClr val="0000FF"/>
              </a:buClr>
              <a:buSzPts val="1600"/>
              <a:buFont typeface="Spectral"/>
              <a:buChar char="○"/>
            </a:pPr>
            <a:r>
              <a:rPr lang="de-CH" sz="1600">
                <a:solidFill>
                  <a:srgbClr val="0000FF"/>
                </a:solidFill>
                <a:latin typeface="Spectral"/>
                <a:ea typeface="Spectral"/>
                <a:cs typeface="Spectral"/>
                <a:sym typeface="Spectral"/>
              </a:rPr>
              <a:t>plt.legend()</a:t>
            </a:r>
            <a:endParaRPr sz="1600">
              <a:solidFill>
                <a:srgbClr val="0000FF"/>
              </a:solidFill>
              <a:latin typeface="Spectral"/>
              <a:ea typeface="Spectral"/>
              <a:cs typeface="Spectral"/>
              <a:sym typeface="Spectral"/>
            </a:endParaRPr>
          </a:p>
          <a:p>
            <a:pPr marL="914400" lvl="1" indent="-330200" algn="l" rtl="0">
              <a:spcBef>
                <a:spcPts val="0"/>
              </a:spcBef>
              <a:spcAft>
                <a:spcPts val="0"/>
              </a:spcAft>
              <a:buClr>
                <a:srgbClr val="0000FF"/>
              </a:buClr>
              <a:buSzPts val="1600"/>
              <a:buFont typeface="Spectral"/>
              <a:buChar char="○"/>
            </a:pPr>
            <a:r>
              <a:rPr lang="de-CH" sz="1600">
                <a:solidFill>
                  <a:srgbClr val="0000FF"/>
                </a:solidFill>
                <a:latin typeface="Spectral"/>
                <a:ea typeface="Spectral"/>
                <a:cs typeface="Spectral"/>
                <a:sym typeface="Spectral"/>
              </a:rPr>
              <a:t>plt.show()</a:t>
            </a:r>
            <a:endParaRPr sz="1600">
              <a:solidFill>
                <a:srgbClr val="0000FF"/>
              </a:solidFill>
            </a:endParaRP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Shape 754"/>
        <p:cNvGrpSpPr/>
        <p:nvPr/>
      </p:nvGrpSpPr>
      <p:grpSpPr>
        <a:xfrm>
          <a:off x="0" y="0"/>
          <a:ext cx="0" cy="0"/>
          <a:chOff x="0" y="0"/>
          <a:chExt cx="0" cy="0"/>
        </a:xfrm>
      </p:grpSpPr>
      <p:sp>
        <p:nvSpPr>
          <p:cNvPr id="755" name="Google Shape;755;p127"/>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Color code and Increase line width..</a:t>
            </a:r>
            <a:endParaRPr/>
          </a:p>
        </p:txBody>
      </p:sp>
      <p:sp>
        <p:nvSpPr>
          <p:cNvPr id="756" name="Google Shape;756;p127"/>
          <p:cNvSpPr txBox="1">
            <a:spLocks noGrp="1"/>
          </p:cNvSpPr>
          <p:nvPr>
            <p:ph type="body" idx="1"/>
          </p:nvPr>
        </p:nvSpPr>
        <p:spPr>
          <a:xfrm>
            <a:off x="311700" y="1225225"/>
            <a:ext cx="8520600" cy="37287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x_val=['shyam','Ashwin','Praveen','anjana','jubil','shibin']</a:t>
            </a:r>
            <a:endParaRPr/>
          </a:p>
          <a:p>
            <a:pPr marL="457200" lvl="0" indent="-342900" algn="l" rtl="0">
              <a:spcBef>
                <a:spcPts val="0"/>
              </a:spcBef>
              <a:spcAft>
                <a:spcPts val="0"/>
              </a:spcAft>
              <a:buSzPts val="1800"/>
              <a:buChar char="●"/>
            </a:pPr>
            <a:r>
              <a:rPr lang="de-CH"/>
              <a:t>y_value=[86,75,76,74,72,85]</a:t>
            </a:r>
            <a:endParaRPr/>
          </a:p>
          <a:p>
            <a:pPr marL="457200" lvl="0" indent="-342900" algn="l" rtl="0">
              <a:spcBef>
                <a:spcPts val="0"/>
              </a:spcBef>
              <a:spcAft>
                <a:spcPts val="0"/>
              </a:spcAft>
              <a:buSzPts val="1800"/>
              <a:buChar char="●"/>
            </a:pPr>
            <a:r>
              <a:rPr lang="de-CH"/>
              <a:t>plt.plot(x_val,y_value,'s--b',label='current weight',)</a:t>
            </a:r>
            <a:endParaRPr/>
          </a:p>
          <a:p>
            <a:pPr marL="457200" lvl="0" indent="-342900" algn="l" rtl="0">
              <a:spcBef>
                <a:spcPts val="0"/>
              </a:spcBef>
              <a:spcAft>
                <a:spcPts val="0"/>
              </a:spcAft>
              <a:buSzPts val="1800"/>
              <a:buChar char="●"/>
            </a:pPr>
            <a:r>
              <a:rPr lang="de-CH"/>
              <a:t>y_value_2=[75,75,80,65,70,78]</a:t>
            </a:r>
            <a:endParaRPr/>
          </a:p>
          <a:p>
            <a:pPr marL="457200" lvl="0" indent="-342900" algn="l" rtl="0">
              <a:spcBef>
                <a:spcPts val="0"/>
              </a:spcBef>
              <a:spcAft>
                <a:spcPts val="0"/>
              </a:spcAft>
              <a:buSzPts val="1800"/>
              <a:buChar char="●"/>
            </a:pPr>
            <a:r>
              <a:rPr lang="de-CH"/>
              <a:t>plt.plot(x_val,y_value_2,label='weight needed',color='#7a834c',linewidth=3,linestyle='--',marker='s')</a:t>
            </a:r>
            <a:endParaRPr/>
          </a:p>
          <a:p>
            <a:pPr marL="457200" lvl="0" indent="-342900" algn="l" rtl="0">
              <a:spcBef>
                <a:spcPts val="0"/>
              </a:spcBef>
              <a:spcAft>
                <a:spcPts val="0"/>
              </a:spcAft>
              <a:buSzPts val="1800"/>
              <a:buChar char="●"/>
            </a:pPr>
            <a:r>
              <a:rPr lang="de-CH"/>
              <a:t>plt.title('Person age Diagram..')</a:t>
            </a:r>
            <a:endParaRPr/>
          </a:p>
          <a:p>
            <a:pPr marL="457200" lvl="0" indent="-342900" algn="l" rtl="0">
              <a:spcBef>
                <a:spcPts val="0"/>
              </a:spcBef>
              <a:spcAft>
                <a:spcPts val="0"/>
              </a:spcAft>
              <a:buSzPts val="1800"/>
              <a:buChar char="●"/>
            </a:pPr>
            <a:r>
              <a:rPr lang="de-CH"/>
              <a:t>plt.xlabel('Name')</a:t>
            </a:r>
            <a:endParaRPr/>
          </a:p>
          <a:p>
            <a:pPr marL="457200" lvl="0" indent="-342900" algn="l" rtl="0">
              <a:spcBef>
                <a:spcPts val="0"/>
              </a:spcBef>
              <a:spcAft>
                <a:spcPts val="0"/>
              </a:spcAft>
              <a:buSzPts val="1800"/>
              <a:buChar char="●"/>
            </a:pPr>
            <a:r>
              <a:rPr lang="de-CH"/>
              <a:t>plt.ylabel('Weight')</a:t>
            </a:r>
            <a:endParaRPr/>
          </a:p>
          <a:p>
            <a:pPr marL="457200" lvl="0" indent="-342900" algn="l" rtl="0">
              <a:spcBef>
                <a:spcPts val="0"/>
              </a:spcBef>
              <a:spcAft>
                <a:spcPts val="0"/>
              </a:spcAft>
              <a:buSzPts val="1800"/>
              <a:buChar char="●"/>
            </a:pPr>
            <a:r>
              <a:rPr lang="de-CH"/>
              <a:t>plt.legend()</a:t>
            </a:r>
            <a:endParaRPr/>
          </a:p>
          <a:p>
            <a:pPr marL="457200" lvl="0" indent="-342900" algn="l" rtl="0">
              <a:spcBef>
                <a:spcPts val="0"/>
              </a:spcBef>
              <a:spcAft>
                <a:spcPts val="0"/>
              </a:spcAft>
              <a:buSzPts val="1800"/>
              <a:buChar char="●"/>
            </a:pPr>
            <a:r>
              <a:rPr lang="de-CH"/>
              <a:t>plt.show()</a:t>
            </a:r>
            <a:endParaRPr/>
          </a:p>
          <a:p>
            <a:pPr marL="457200" lvl="0" indent="0" algn="l" rtl="0">
              <a:spcBef>
                <a:spcPts val="1600"/>
              </a:spcBef>
              <a:spcAft>
                <a:spcPts val="1600"/>
              </a:spcAft>
              <a:buNone/>
            </a:pPr>
            <a:endParaRP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Shape 760"/>
        <p:cNvGrpSpPr/>
        <p:nvPr/>
      </p:nvGrpSpPr>
      <p:grpSpPr>
        <a:xfrm>
          <a:off x="0" y="0"/>
          <a:ext cx="0" cy="0"/>
          <a:chOff x="0" y="0"/>
          <a:chExt cx="0" cy="0"/>
        </a:xfrm>
      </p:grpSpPr>
      <p:sp>
        <p:nvSpPr>
          <p:cNvPr id="761" name="Google Shape;761;p128"/>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output..</a:t>
            </a:r>
            <a:endParaRPr/>
          </a:p>
        </p:txBody>
      </p:sp>
      <p:sp>
        <p:nvSpPr>
          <p:cNvPr id="762" name="Google Shape;762;p128"/>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763" name="Google Shape;763;p128"/>
          <p:cNvPicPr preferRelativeResize="0"/>
          <p:nvPr/>
        </p:nvPicPr>
        <p:blipFill>
          <a:blip r:embed="rId3">
            <a:alphaModFix/>
          </a:blip>
          <a:stretch>
            <a:fillRect/>
          </a:stretch>
        </p:blipFill>
        <p:spPr>
          <a:xfrm>
            <a:off x="-592125" y="854325"/>
            <a:ext cx="7893025" cy="4289175"/>
          </a:xfrm>
          <a:prstGeom prst="rect">
            <a:avLst/>
          </a:prstGeom>
          <a:noFill/>
          <a:ln>
            <a:noFill/>
          </a:ln>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Shape 767"/>
        <p:cNvGrpSpPr/>
        <p:nvPr/>
      </p:nvGrpSpPr>
      <p:grpSpPr>
        <a:xfrm>
          <a:off x="0" y="0"/>
          <a:ext cx="0" cy="0"/>
          <a:chOff x="0" y="0"/>
          <a:chExt cx="0" cy="0"/>
        </a:xfrm>
      </p:grpSpPr>
      <p:sp>
        <p:nvSpPr>
          <p:cNvPr id="768" name="Google Shape;768;p129"/>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Adding Grid..</a:t>
            </a:r>
            <a:endParaRPr/>
          </a:p>
        </p:txBody>
      </p:sp>
      <p:sp>
        <p:nvSpPr>
          <p:cNvPr id="769" name="Google Shape;769;p129"/>
          <p:cNvSpPr txBox="1">
            <a:spLocks noGrp="1"/>
          </p:cNvSpPr>
          <p:nvPr>
            <p:ph type="body" idx="1"/>
          </p:nvPr>
        </p:nvSpPr>
        <p:spPr>
          <a:xfrm>
            <a:off x="311700" y="1225225"/>
            <a:ext cx="8520600" cy="39183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x_val=['shyam','Ashwin','Praveen','anjana','jubil','shibin']</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y_value=[86,75,76,74,72,85]</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plt.plot(x_val,y_value,'s--b',label='current weight',)</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y_value_2=[75,75,80,65,70,78]</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plt.plot(x_val,y_value_2,label='weight needed',color='#7a834c',linewidth=3,linestyle='--',marker='s')</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plt.title('Person age Diagram..')</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plt.xlabel('Name')</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plt.ylabel('Weight')</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plt.grid(True)</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plt.legend()</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plt.show()</a:t>
            </a:r>
            <a:endParaRPr>
              <a:solidFill>
                <a:srgbClr val="0000FF"/>
              </a:solidFill>
              <a:latin typeface="Spectral"/>
              <a:ea typeface="Spectral"/>
              <a:cs typeface="Spectral"/>
              <a:sym typeface="Spectral"/>
            </a:endParaRPr>
          </a:p>
          <a:p>
            <a:pPr marL="0" lvl="0" indent="0" algn="l" rtl="0">
              <a:spcBef>
                <a:spcPts val="1600"/>
              </a:spcBef>
              <a:spcAft>
                <a:spcPts val="1600"/>
              </a:spcAft>
              <a:buNone/>
            </a:pPr>
            <a:endParaRP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Shape 773"/>
        <p:cNvGrpSpPr/>
        <p:nvPr/>
      </p:nvGrpSpPr>
      <p:grpSpPr>
        <a:xfrm>
          <a:off x="0" y="0"/>
          <a:ext cx="0" cy="0"/>
          <a:chOff x="0" y="0"/>
          <a:chExt cx="0" cy="0"/>
        </a:xfrm>
      </p:grpSpPr>
      <p:sp>
        <p:nvSpPr>
          <p:cNvPr id="774" name="Google Shape;774;p130"/>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Styles in pyplot..</a:t>
            </a:r>
            <a:endParaRPr/>
          </a:p>
        </p:txBody>
      </p:sp>
      <p:sp>
        <p:nvSpPr>
          <p:cNvPr id="775" name="Google Shape;775;p130"/>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There are plenty of built in styles that can apply on out plot provided by the matplotlib</a:t>
            </a:r>
            <a:endParaRPr/>
          </a:p>
          <a:p>
            <a:pPr marL="457200" lvl="0" indent="-342900" algn="l" rtl="0">
              <a:spcBef>
                <a:spcPts val="0"/>
              </a:spcBef>
              <a:spcAft>
                <a:spcPts val="0"/>
              </a:spcAft>
              <a:buSzPts val="1800"/>
              <a:buChar char="●"/>
            </a:pPr>
            <a:r>
              <a:rPr lang="de-CH"/>
              <a:t>To get all available styles</a:t>
            </a:r>
            <a:br>
              <a:rPr lang="de-CH"/>
            </a:br>
            <a:r>
              <a:rPr lang="de-CH">
                <a:solidFill>
                  <a:srgbClr val="0000FF"/>
                </a:solidFill>
                <a:latin typeface="Spectral"/>
                <a:ea typeface="Spectral"/>
                <a:cs typeface="Spectral"/>
                <a:sym typeface="Spectral"/>
              </a:rPr>
              <a:t>plt.style.available</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00"/>
              </a:buClr>
              <a:buSzPts val="1800"/>
              <a:buFont typeface="Spectral"/>
              <a:buChar char="●"/>
            </a:pPr>
            <a:r>
              <a:rPr lang="de-CH">
                <a:solidFill>
                  <a:srgbClr val="000000"/>
                </a:solidFill>
                <a:latin typeface="Spectral"/>
                <a:ea typeface="Spectral"/>
                <a:cs typeface="Spectral"/>
                <a:sym typeface="Spectral"/>
              </a:rPr>
              <a:t>Use the available styles..</a:t>
            </a:r>
            <a:br>
              <a:rPr lang="de-CH">
                <a:solidFill>
                  <a:srgbClr val="000000"/>
                </a:solidFill>
                <a:latin typeface="Spectral"/>
                <a:ea typeface="Spectral"/>
                <a:cs typeface="Spectral"/>
                <a:sym typeface="Spectral"/>
              </a:rPr>
            </a:br>
            <a:r>
              <a:rPr lang="de-CH">
                <a:solidFill>
                  <a:srgbClr val="4A86E8"/>
                </a:solidFill>
                <a:latin typeface="Spectral"/>
                <a:ea typeface="Spectral"/>
                <a:cs typeface="Spectral"/>
                <a:sym typeface="Spectral"/>
              </a:rPr>
              <a:t>plt.style.use('dark_background')</a:t>
            </a:r>
            <a:endParaRPr>
              <a:solidFill>
                <a:srgbClr val="4A86E8"/>
              </a:solidFill>
              <a:latin typeface="Spectral"/>
              <a:ea typeface="Spectral"/>
              <a:cs typeface="Spectral"/>
              <a:sym typeface="Spectral"/>
            </a:endParaRP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Shape 779"/>
        <p:cNvGrpSpPr/>
        <p:nvPr/>
      </p:nvGrpSpPr>
      <p:grpSpPr>
        <a:xfrm>
          <a:off x="0" y="0"/>
          <a:ext cx="0" cy="0"/>
          <a:chOff x="0" y="0"/>
          <a:chExt cx="0" cy="0"/>
        </a:xfrm>
      </p:grpSpPr>
      <p:sp>
        <p:nvSpPr>
          <p:cNvPr id="780" name="Google Shape;780;p131"/>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Apply the style..</a:t>
            </a:r>
            <a:endParaRPr/>
          </a:p>
        </p:txBody>
      </p:sp>
      <p:sp>
        <p:nvSpPr>
          <p:cNvPr id="781" name="Google Shape;781;p131"/>
          <p:cNvSpPr txBox="1">
            <a:spLocks noGrp="1"/>
          </p:cNvSpPr>
          <p:nvPr>
            <p:ph type="body" idx="1"/>
          </p:nvPr>
        </p:nvSpPr>
        <p:spPr>
          <a:xfrm>
            <a:off x="311700" y="1013950"/>
            <a:ext cx="8520600" cy="41295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4A86E8"/>
              </a:buClr>
              <a:buSzPts val="1800"/>
              <a:buFont typeface="Spectral"/>
              <a:buChar char="●"/>
            </a:pPr>
            <a:r>
              <a:rPr lang="de-CH">
                <a:solidFill>
                  <a:srgbClr val="4A86E8"/>
                </a:solidFill>
                <a:latin typeface="Spectral"/>
                <a:ea typeface="Spectral"/>
                <a:cs typeface="Spectral"/>
                <a:sym typeface="Spectral"/>
              </a:rPr>
              <a:t>x_val=['shyam','Ashwin','Praveen','anjana','jubil','shibin']</a:t>
            </a:r>
            <a:endParaRPr>
              <a:solidFill>
                <a:srgbClr val="4A86E8"/>
              </a:solidFill>
              <a:latin typeface="Spectral"/>
              <a:ea typeface="Spectral"/>
              <a:cs typeface="Spectral"/>
              <a:sym typeface="Spectral"/>
            </a:endParaRPr>
          </a:p>
          <a:p>
            <a:pPr marL="457200" lvl="0" indent="-342900" algn="l" rtl="0">
              <a:spcBef>
                <a:spcPts val="0"/>
              </a:spcBef>
              <a:spcAft>
                <a:spcPts val="0"/>
              </a:spcAft>
              <a:buClr>
                <a:srgbClr val="4A86E8"/>
              </a:buClr>
              <a:buSzPts val="1800"/>
              <a:buFont typeface="Spectral"/>
              <a:buChar char="●"/>
            </a:pPr>
            <a:r>
              <a:rPr lang="de-CH">
                <a:solidFill>
                  <a:srgbClr val="4A86E8"/>
                </a:solidFill>
                <a:latin typeface="Spectral"/>
                <a:ea typeface="Spectral"/>
                <a:cs typeface="Spectral"/>
                <a:sym typeface="Spectral"/>
              </a:rPr>
              <a:t>y_value=[86,75,76,74,72,85]</a:t>
            </a:r>
            <a:endParaRPr>
              <a:solidFill>
                <a:srgbClr val="4A86E8"/>
              </a:solidFill>
              <a:latin typeface="Spectral"/>
              <a:ea typeface="Spectral"/>
              <a:cs typeface="Spectral"/>
              <a:sym typeface="Spectral"/>
            </a:endParaRPr>
          </a:p>
          <a:p>
            <a:pPr marL="457200" lvl="0" indent="-342900" algn="l" rtl="0">
              <a:spcBef>
                <a:spcPts val="0"/>
              </a:spcBef>
              <a:spcAft>
                <a:spcPts val="0"/>
              </a:spcAft>
              <a:buClr>
                <a:srgbClr val="4A86E8"/>
              </a:buClr>
              <a:buSzPts val="1800"/>
              <a:buFont typeface="Spectral"/>
              <a:buChar char="●"/>
            </a:pPr>
            <a:r>
              <a:rPr lang="de-CH">
                <a:solidFill>
                  <a:srgbClr val="4A86E8"/>
                </a:solidFill>
                <a:latin typeface="Spectral"/>
                <a:ea typeface="Spectral"/>
                <a:cs typeface="Spectral"/>
                <a:sym typeface="Spectral"/>
              </a:rPr>
              <a:t>plt.plot(x_val,y_value,label='current weight',)</a:t>
            </a:r>
            <a:endParaRPr>
              <a:solidFill>
                <a:srgbClr val="4A86E8"/>
              </a:solidFill>
              <a:latin typeface="Spectral"/>
              <a:ea typeface="Spectral"/>
              <a:cs typeface="Spectral"/>
              <a:sym typeface="Spectral"/>
            </a:endParaRPr>
          </a:p>
          <a:p>
            <a:pPr marL="457200" lvl="0" indent="-342900" algn="l" rtl="0">
              <a:spcBef>
                <a:spcPts val="0"/>
              </a:spcBef>
              <a:spcAft>
                <a:spcPts val="0"/>
              </a:spcAft>
              <a:buClr>
                <a:srgbClr val="4A86E8"/>
              </a:buClr>
              <a:buSzPts val="1800"/>
              <a:buFont typeface="Spectral"/>
              <a:buChar char="●"/>
            </a:pPr>
            <a:r>
              <a:rPr lang="de-CH">
                <a:solidFill>
                  <a:srgbClr val="4A86E8"/>
                </a:solidFill>
                <a:latin typeface="Spectral"/>
                <a:ea typeface="Spectral"/>
                <a:cs typeface="Spectral"/>
                <a:sym typeface="Spectral"/>
              </a:rPr>
              <a:t>y_value_2=[75,75,80,65,70,78]</a:t>
            </a:r>
            <a:endParaRPr>
              <a:solidFill>
                <a:srgbClr val="4A86E8"/>
              </a:solidFill>
              <a:latin typeface="Spectral"/>
              <a:ea typeface="Spectral"/>
              <a:cs typeface="Spectral"/>
              <a:sym typeface="Spectral"/>
            </a:endParaRPr>
          </a:p>
          <a:p>
            <a:pPr marL="457200" lvl="0" indent="-342900" algn="l" rtl="0">
              <a:spcBef>
                <a:spcPts val="0"/>
              </a:spcBef>
              <a:spcAft>
                <a:spcPts val="0"/>
              </a:spcAft>
              <a:buClr>
                <a:srgbClr val="4A86E8"/>
              </a:buClr>
              <a:buSzPts val="1800"/>
              <a:buFont typeface="Spectral"/>
              <a:buChar char="●"/>
            </a:pPr>
            <a:r>
              <a:rPr lang="de-CH">
                <a:solidFill>
                  <a:srgbClr val="4A86E8"/>
                </a:solidFill>
                <a:latin typeface="Spectral"/>
                <a:ea typeface="Spectral"/>
                <a:cs typeface="Spectral"/>
                <a:sym typeface="Spectral"/>
              </a:rPr>
              <a:t>plt.plot(x_val,y_value_2,label='weight needed')</a:t>
            </a:r>
            <a:endParaRPr>
              <a:solidFill>
                <a:srgbClr val="4A86E8"/>
              </a:solidFill>
              <a:latin typeface="Spectral"/>
              <a:ea typeface="Spectral"/>
              <a:cs typeface="Spectral"/>
              <a:sym typeface="Spectral"/>
            </a:endParaRPr>
          </a:p>
          <a:p>
            <a:pPr marL="457200" lvl="0" indent="-342900" algn="l" rtl="0">
              <a:spcBef>
                <a:spcPts val="0"/>
              </a:spcBef>
              <a:spcAft>
                <a:spcPts val="0"/>
              </a:spcAft>
              <a:buClr>
                <a:srgbClr val="4A86E8"/>
              </a:buClr>
              <a:buSzPts val="1800"/>
              <a:buFont typeface="Spectral"/>
              <a:buChar char="●"/>
            </a:pPr>
            <a:r>
              <a:rPr lang="de-CH">
                <a:solidFill>
                  <a:srgbClr val="4A86E8"/>
                </a:solidFill>
                <a:latin typeface="Spectral"/>
                <a:ea typeface="Spectral"/>
                <a:cs typeface="Spectral"/>
                <a:sym typeface="Spectral"/>
              </a:rPr>
              <a:t>plt.title('Person age Diagram..')</a:t>
            </a:r>
            <a:endParaRPr>
              <a:solidFill>
                <a:srgbClr val="4A86E8"/>
              </a:solidFill>
              <a:latin typeface="Spectral"/>
              <a:ea typeface="Spectral"/>
              <a:cs typeface="Spectral"/>
              <a:sym typeface="Spectral"/>
            </a:endParaRPr>
          </a:p>
          <a:p>
            <a:pPr marL="457200" lvl="0" indent="-342900" algn="l" rtl="0">
              <a:spcBef>
                <a:spcPts val="0"/>
              </a:spcBef>
              <a:spcAft>
                <a:spcPts val="0"/>
              </a:spcAft>
              <a:buClr>
                <a:srgbClr val="4A86E8"/>
              </a:buClr>
              <a:buSzPts val="1800"/>
              <a:buFont typeface="Spectral"/>
              <a:buChar char="●"/>
            </a:pPr>
            <a:r>
              <a:rPr lang="de-CH">
                <a:solidFill>
                  <a:srgbClr val="4A86E8"/>
                </a:solidFill>
                <a:latin typeface="Spectral"/>
                <a:ea typeface="Spectral"/>
                <a:cs typeface="Spectral"/>
                <a:sym typeface="Spectral"/>
              </a:rPr>
              <a:t>plt.xlabel('Name')</a:t>
            </a:r>
            <a:endParaRPr>
              <a:solidFill>
                <a:srgbClr val="4A86E8"/>
              </a:solidFill>
              <a:latin typeface="Spectral"/>
              <a:ea typeface="Spectral"/>
              <a:cs typeface="Spectral"/>
              <a:sym typeface="Spectral"/>
            </a:endParaRPr>
          </a:p>
          <a:p>
            <a:pPr marL="457200" lvl="0" indent="-342900" algn="l" rtl="0">
              <a:spcBef>
                <a:spcPts val="0"/>
              </a:spcBef>
              <a:spcAft>
                <a:spcPts val="0"/>
              </a:spcAft>
              <a:buClr>
                <a:srgbClr val="4A86E8"/>
              </a:buClr>
              <a:buSzPts val="1800"/>
              <a:buFont typeface="Spectral"/>
              <a:buChar char="●"/>
            </a:pPr>
            <a:r>
              <a:rPr lang="de-CH">
                <a:solidFill>
                  <a:srgbClr val="4A86E8"/>
                </a:solidFill>
                <a:latin typeface="Spectral"/>
                <a:ea typeface="Spectral"/>
                <a:cs typeface="Spectral"/>
                <a:sym typeface="Spectral"/>
              </a:rPr>
              <a:t>plt.ylabel('Weight')</a:t>
            </a:r>
            <a:endParaRPr>
              <a:solidFill>
                <a:srgbClr val="4A86E8"/>
              </a:solidFill>
              <a:latin typeface="Spectral"/>
              <a:ea typeface="Spectral"/>
              <a:cs typeface="Spectral"/>
              <a:sym typeface="Spectral"/>
            </a:endParaRPr>
          </a:p>
          <a:p>
            <a:pPr marL="457200" lvl="0" indent="-342900" algn="l" rtl="0">
              <a:spcBef>
                <a:spcPts val="0"/>
              </a:spcBef>
              <a:spcAft>
                <a:spcPts val="0"/>
              </a:spcAft>
              <a:buClr>
                <a:srgbClr val="4A86E8"/>
              </a:buClr>
              <a:buSzPts val="1800"/>
              <a:buFont typeface="Spectral"/>
              <a:buChar char="●"/>
            </a:pPr>
            <a:r>
              <a:rPr lang="de-CH">
                <a:solidFill>
                  <a:srgbClr val="4A86E8"/>
                </a:solidFill>
                <a:latin typeface="Spectral"/>
                <a:ea typeface="Spectral"/>
                <a:cs typeface="Spectral"/>
                <a:sym typeface="Spectral"/>
              </a:rPr>
              <a:t>plt.grid(False)</a:t>
            </a:r>
            <a:endParaRPr>
              <a:solidFill>
                <a:srgbClr val="4A86E8"/>
              </a:solidFill>
              <a:latin typeface="Spectral"/>
              <a:ea typeface="Spectral"/>
              <a:cs typeface="Spectral"/>
              <a:sym typeface="Spectral"/>
            </a:endParaRPr>
          </a:p>
          <a:p>
            <a:pPr marL="457200" lvl="0" indent="-342900" algn="l" rtl="0">
              <a:spcBef>
                <a:spcPts val="0"/>
              </a:spcBef>
              <a:spcAft>
                <a:spcPts val="0"/>
              </a:spcAft>
              <a:buClr>
                <a:srgbClr val="4A86E8"/>
              </a:buClr>
              <a:buSzPts val="1800"/>
              <a:buFont typeface="Spectral"/>
              <a:buChar char="●"/>
            </a:pPr>
            <a:r>
              <a:rPr lang="de-CH">
                <a:solidFill>
                  <a:srgbClr val="4A86E8"/>
                </a:solidFill>
                <a:latin typeface="Spectral"/>
                <a:ea typeface="Spectral"/>
                <a:cs typeface="Spectral"/>
                <a:sym typeface="Spectral"/>
              </a:rPr>
              <a:t>plt.legend()</a:t>
            </a:r>
            <a:endParaRPr>
              <a:solidFill>
                <a:srgbClr val="4A86E8"/>
              </a:solidFill>
              <a:latin typeface="Spectral"/>
              <a:ea typeface="Spectral"/>
              <a:cs typeface="Spectral"/>
              <a:sym typeface="Spectral"/>
            </a:endParaRPr>
          </a:p>
          <a:p>
            <a:pPr marL="457200" lvl="0" indent="-342900" algn="l" rtl="0">
              <a:spcBef>
                <a:spcPts val="0"/>
              </a:spcBef>
              <a:spcAft>
                <a:spcPts val="0"/>
              </a:spcAft>
              <a:buClr>
                <a:srgbClr val="4A86E8"/>
              </a:buClr>
              <a:buSzPts val="1800"/>
              <a:buFont typeface="Spectral"/>
              <a:buChar char="●"/>
            </a:pPr>
            <a:r>
              <a:rPr lang="de-CH">
                <a:solidFill>
                  <a:srgbClr val="4A86E8"/>
                </a:solidFill>
                <a:latin typeface="Spectral"/>
                <a:ea typeface="Spectral"/>
                <a:cs typeface="Spectral"/>
                <a:sym typeface="Spectral"/>
              </a:rPr>
              <a:t>plt.style.use('dark_background')</a:t>
            </a:r>
            <a:endParaRPr>
              <a:solidFill>
                <a:srgbClr val="4A86E8"/>
              </a:solidFill>
              <a:latin typeface="Spectral"/>
              <a:ea typeface="Spectral"/>
              <a:cs typeface="Spectral"/>
              <a:sym typeface="Spectral"/>
            </a:endParaRPr>
          </a:p>
          <a:p>
            <a:pPr marL="457200" lvl="0" indent="-342900" algn="l" rtl="0">
              <a:spcBef>
                <a:spcPts val="0"/>
              </a:spcBef>
              <a:spcAft>
                <a:spcPts val="0"/>
              </a:spcAft>
              <a:buClr>
                <a:srgbClr val="4A86E8"/>
              </a:buClr>
              <a:buSzPts val="1800"/>
              <a:buFont typeface="Spectral"/>
              <a:buChar char="●"/>
            </a:pPr>
            <a:r>
              <a:rPr lang="de-CH">
                <a:solidFill>
                  <a:srgbClr val="4A86E8"/>
                </a:solidFill>
                <a:latin typeface="Spectral"/>
                <a:ea typeface="Spectral"/>
                <a:cs typeface="Spectral"/>
                <a:sym typeface="Spectral"/>
              </a:rPr>
              <a:t>plt.show()</a:t>
            </a:r>
            <a:endParaRPr>
              <a:solidFill>
                <a:srgbClr val="4A86E8"/>
              </a:solidFill>
              <a:latin typeface="Spectral"/>
              <a:ea typeface="Spectral"/>
              <a:cs typeface="Spectral"/>
              <a:sym typeface="Spectral"/>
            </a:endParaRPr>
          </a:p>
          <a:p>
            <a:pPr marL="457200" lvl="0" indent="0" algn="l" rtl="0">
              <a:spcBef>
                <a:spcPts val="1600"/>
              </a:spcBef>
              <a:spcAft>
                <a:spcPts val="0"/>
              </a:spcAft>
              <a:buNone/>
            </a:pPr>
            <a:endParaRPr>
              <a:solidFill>
                <a:srgbClr val="0000FF"/>
              </a:solidFill>
              <a:latin typeface="Spectral"/>
              <a:ea typeface="Spectral"/>
              <a:cs typeface="Spectral"/>
              <a:sym typeface="Spectral"/>
            </a:endParaRPr>
          </a:p>
          <a:p>
            <a:pPr marL="457200" lvl="0" indent="0" algn="l" rtl="0">
              <a:spcBef>
                <a:spcPts val="1600"/>
              </a:spcBef>
              <a:spcAft>
                <a:spcPts val="1600"/>
              </a:spcAft>
              <a:buNone/>
            </a:pPr>
            <a:endParaRP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Shape 785"/>
        <p:cNvGrpSpPr/>
        <p:nvPr/>
      </p:nvGrpSpPr>
      <p:grpSpPr>
        <a:xfrm>
          <a:off x="0" y="0"/>
          <a:ext cx="0" cy="0"/>
          <a:chOff x="0" y="0"/>
          <a:chExt cx="0" cy="0"/>
        </a:xfrm>
      </p:grpSpPr>
      <p:sp>
        <p:nvSpPr>
          <p:cNvPr id="786" name="Google Shape;786;p132"/>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output..</a:t>
            </a:r>
            <a:endParaRPr/>
          </a:p>
        </p:txBody>
      </p:sp>
      <p:sp>
        <p:nvSpPr>
          <p:cNvPr id="787" name="Google Shape;787;p132"/>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788" name="Google Shape;788;p132"/>
          <p:cNvPicPr preferRelativeResize="0"/>
          <p:nvPr/>
        </p:nvPicPr>
        <p:blipFill>
          <a:blip r:embed="rId3">
            <a:alphaModFix/>
          </a:blip>
          <a:stretch>
            <a:fillRect/>
          </a:stretch>
        </p:blipFill>
        <p:spPr>
          <a:xfrm>
            <a:off x="311700" y="1033150"/>
            <a:ext cx="4929825" cy="4004725"/>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788"/>
                                        </p:tgtEl>
                                        <p:attrNameLst>
                                          <p:attrName>style.visibility</p:attrName>
                                        </p:attrNameLst>
                                      </p:cBhvr>
                                      <p:to>
                                        <p:strVal val="visible"/>
                                      </p:to>
                                    </p:set>
                                    <p:anim calcmode="lin" valueType="num">
                                      <p:cBhvr additive="base">
                                        <p:cTn id="7" dur="1000"/>
                                        <p:tgtEl>
                                          <p:spTgt spid="788"/>
                                        </p:tgtEl>
                                        <p:attrNameLst>
                                          <p:attrName>ppt_w</p:attrName>
                                        </p:attrNameLst>
                                      </p:cBhvr>
                                      <p:tavLst>
                                        <p:tav tm="0">
                                          <p:val>
                                            <p:strVal val="0"/>
                                          </p:val>
                                        </p:tav>
                                        <p:tav tm="100000">
                                          <p:val>
                                            <p:strVal val="#ppt_w"/>
                                          </p:val>
                                        </p:tav>
                                      </p:tavLst>
                                    </p:anim>
                                    <p:anim calcmode="lin" valueType="num">
                                      <p:cBhvr additive="base">
                                        <p:cTn id="8" dur="1000"/>
                                        <p:tgtEl>
                                          <p:spTgt spid="788"/>
                                        </p:tgtEl>
                                        <p:attrNameLst>
                                          <p:attrName>ppt_h</p:attrName>
                                        </p:attrNameLst>
                                      </p:cBhvr>
                                      <p:tavLst>
                                        <p:tav tm="0">
                                          <p:val>
                                            <p:str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Shape 792"/>
        <p:cNvGrpSpPr/>
        <p:nvPr/>
      </p:nvGrpSpPr>
      <p:grpSpPr>
        <a:xfrm>
          <a:off x="0" y="0"/>
          <a:ext cx="0" cy="0"/>
          <a:chOff x="0" y="0"/>
          <a:chExt cx="0" cy="0"/>
        </a:xfrm>
      </p:grpSpPr>
      <p:sp>
        <p:nvSpPr>
          <p:cNvPr id="793" name="Google Shape;793;p133"/>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To save plot as image</a:t>
            </a:r>
            <a:endParaRPr/>
          </a:p>
        </p:txBody>
      </p:sp>
      <p:sp>
        <p:nvSpPr>
          <p:cNvPr id="794" name="Google Shape;794;p133"/>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FF"/>
              </a:buClr>
              <a:buSzPts val="1800"/>
              <a:buChar char="●"/>
            </a:pPr>
            <a:r>
              <a:rPr lang="de-CH">
                <a:solidFill>
                  <a:srgbClr val="0000FF"/>
                </a:solidFill>
              </a:rPr>
              <a:t>plt.savefig('weight_graph.png')</a:t>
            </a:r>
            <a:endParaRPr>
              <a:solidFill>
                <a:srgbClr val="0000FF"/>
              </a:solidFill>
            </a:endParaRP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Shape 798"/>
        <p:cNvGrpSpPr/>
        <p:nvPr/>
      </p:nvGrpSpPr>
      <p:grpSpPr>
        <a:xfrm>
          <a:off x="0" y="0"/>
          <a:ext cx="0" cy="0"/>
          <a:chOff x="0" y="0"/>
          <a:chExt cx="0" cy="0"/>
        </a:xfrm>
      </p:grpSpPr>
      <p:sp>
        <p:nvSpPr>
          <p:cNvPr id="799" name="Google Shape;799;p134"/>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Bar chart..</a:t>
            </a:r>
            <a:endParaRPr/>
          </a:p>
        </p:txBody>
      </p:sp>
      <p:sp>
        <p:nvSpPr>
          <p:cNvPr id="800" name="Google Shape;800;p134"/>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Instead of plot() we need to use bar() to get a barchart</a:t>
            </a:r>
            <a:br>
              <a:rPr lang="de-CH"/>
            </a:br>
            <a:r>
              <a:rPr lang="de-CH"/>
              <a:t>     </a:t>
            </a:r>
            <a:r>
              <a:rPr lang="de-CH" sz="1400">
                <a:latin typeface="Spectral"/>
                <a:ea typeface="Spectral"/>
                <a:cs typeface="Spectral"/>
                <a:sym typeface="Spectral"/>
              </a:rPr>
              <a:t>  </a:t>
            </a:r>
            <a:r>
              <a:rPr lang="de-CH" sz="1400">
                <a:solidFill>
                  <a:srgbClr val="0000FF"/>
                </a:solidFill>
                <a:latin typeface="Spectral"/>
                <a:ea typeface="Spectral"/>
                <a:cs typeface="Spectral"/>
                <a:sym typeface="Spectral"/>
              </a:rPr>
              <a:t>  x_val=['shyam','Ashwin','Praveen','anjana','jubil','shibin']</a:t>
            </a:r>
            <a:endParaRPr sz="1400">
              <a:solidFill>
                <a:srgbClr val="0000FF"/>
              </a:solidFill>
              <a:latin typeface="Spectral"/>
              <a:ea typeface="Spectral"/>
              <a:cs typeface="Spectral"/>
              <a:sym typeface="Spectral"/>
            </a:endParaRPr>
          </a:p>
          <a:p>
            <a:pPr marL="914400" lvl="1" indent="-317500" algn="l" rtl="0">
              <a:spcBef>
                <a:spcPts val="0"/>
              </a:spcBef>
              <a:spcAft>
                <a:spcPts val="0"/>
              </a:spcAft>
              <a:buClr>
                <a:srgbClr val="0000FF"/>
              </a:buClr>
              <a:buSzPts val="1400"/>
              <a:buFont typeface="Spectral"/>
              <a:buChar char="○"/>
            </a:pPr>
            <a:r>
              <a:rPr lang="de-CH">
                <a:solidFill>
                  <a:srgbClr val="0000FF"/>
                </a:solidFill>
                <a:latin typeface="Spectral"/>
                <a:ea typeface="Spectral"/>
                <a:cs typeface="Spectral"/>
                <a:sym typeface="Spectral"/>
              </a:rPr>
              <a:t>y_value=[86,75,76,74,72,85]</a:t>
            </a:r>
            <a:endParaRPr>
              <a:solidFill>
                <a:srgbClr val="0000FF"/>
              </a:solidFill>
              <a:latin typeface="Spectral"/>
              <a:ea typeface="Spectral"/>
              <a:cs typeface="Spectral"/>
              <a:sym typeface="Spectral"/>
            </a:endParaRPr>
          </a:p>
          <a:p>
            <a:pPr marL="914400" lvl="1" indent="-317500" algn="l" rtl="0">
              <a:spcBef>
                <a:spcPts val="0"/>
              </a:spcBef>
              <a:spcAft>
                <a:spcPts val="0"/>
              </a:spcAft>
              <a:buClr>
                <a:srgbClr val="0000FF"/>
              </a:buClr>
              <a:buSzPts val="1400"/>
              <a:buFont typeface="Spectral"/>
              <a:buChar char="○"/>
            </a:pPr>
            <a:r>
              <a:rPr lang="de-CH">
                <a:solidFill>
                  <a:srgbClr val="0000FF"/>
                </a:solidFill>
                <a:latin typeface="Spectral"/>
                <a:ea typeface="Spectral"/>
                <a:cs typeface="Spectral"/>
                <a:sym typeface="Spectral"/>
              </a:rPr>
              <a:t>plt.bar(x_val,y_value,label='current weight',)</a:t>
            </a:r>
            <a:endParaRPr>
              <a:solidFill>
                <a:srgbClr val="0000FF"/>
              </a:solidFill>
              <a:latin typeface="Spectral"/>
              <a:ea typeface="Spectral"/>
              <a:cs typeface="Spectral"/>
              <a:sym typeface="Spectral"/>
            </a:endParaRPr>
          </a:p>
          <a:p>
            <a:pPr marL="914400" lvl="1" indent="-317500" algn="l" rtl="0">
              <a:spcBef>
                <a:spcPts val="0"/>
              </a:spcBef>
              <a:spcAft>
                <a:spcPts val="0"/>
              </a:spcAft>
              <a:buClr>
                <a:srgbClr val="0000FF"/>
              </a:buClr>
              <a:buSzPts val="1400"/>
              <a:buFont typeface="Spectral"/>
              <a:buChar char="○"/>
            </a:pPr>
            <a:r>
              <a:rPr lang="de-CH">
                <a:solidFill>
                  <a:srgbClr val="0000FF"/>
                </a:solidFill>
                <a:latin typeface="Spectral"/>
                <a:ea typeface="Spectral"/>
                <a:cs typeface="Spectral"/>
                <a:sym typeface="Spectral"/>
              </a:rPr>
              <a:t>plt.title('Person age Diagram..')</a:t>
            </a:r>
            <a:endParaRPr>
              <a:solidFill>
                <a:srgbClr val="0000FF"/>
              </a:solidFill>
              <a:latin typeface="Spectral"/>
              <a:ea typeface="Spectral"/>
              <a:cs typeface="Spectral"/>
              <a:sym typeface="Spectral"/>
            </a:endParaRPr>
          </a:p>
          <a:p>
            <a:pPr marL="914400" lvl="1" indent="-317500" algn="l" rtl="0">
              <a:spcBef>
                <a:spcPts val="0"/>
              </a:spcBef>
              <a:spcAft>
                <a:spcPts val="0"/>
              </a:spcAft>
              <a:buClr>
                <a:srgbClr val="0000FF"/>
              </a:buClr>
              <a:buSzPts val="1400"/>
              <a:buFont typeface="Spectral"/>
              <a:buChar char="○"/>
            </a:pPr>
            <a:r>
              <a:rPr lang="de-CH">
                <a:solidFill>
                  <a:srgbClr val="0000FF"/>
                </a:solidFill>
                <a:latin typeface="Spectral"/>
                <a:ea typeface="Spectral"/>
                <a:cs typeface="Spectral"/>
                <a:sym typeface="Spectral"/>
              </a:rPr>
              <a:t>plt.xlabel('Name')</a:t>
            </a:r>
            <a:endParaRPr>
              <a:solidFill>
                <a:srgbClr val="0000FF"/>
              </a:solidFill>
              <a:latin typeface="Spectral"/>
              <a:ea typeface="Spectral"/>
              <a:cs typeface="Spectral"/>
              <a:sym typeface="Spectral"/>
            </a:endParaRPr>
          </a:p>
          <a:p>
            <a:pPr marL="914400" lvl="1" indent="-317500" algn="l" rtl="0">
              <a:spcBef>
                <a:spcPts val="0"/>
              </a:spcBef>
              <a:spcAft>
                <a:spcPts val="0"/>
              </a:spcAft>
              <a:buClr>
                <a:srgbClr val="0000FF"/>
              </a:buClr>
              <a:buSzPts val="1400"/>
              <a:buFont typeface="Spectral"/>
              <a:buChar char="○"/>
            </a:pPr>
            <a:r>
              <a:rPr lang="de-CH">
                <a:solidFill>
                  <a:srgbClr val="0000FF"/>
                </a:solidFill>
                <a:latin typeface="Spectral"/>
                <a:ea typeface="Spectral"/>
                <a:cs typeface="Spectral"/>
                <a:sym typeface="Spectral"/>
              </a:rPr>
              <a:t>plt.ylabel('Weight')</a:t>
            </a:r>
            <a:endParaRPr>
              <a:solidFill>
                <a:srgbClr val="0000FF"/>
              </a:solidFill>
              <a:latin typeface="Spectral"/>
              <a:ea typeface="Spectral"/>
              <a:cs typeface="Spectral"/>
              <a:sym typeface="Spectral"/>
            </a:endParaRPr>
          </a:p>
          <a:p>
            <a:pPr marL="914400" lvl="1" indent="-317500" algn="l" rtl="0">
              <a:spcBef>
                <a:spcPts val="0"/>
              </a:spcBef>
              <a:spcAft>
                <a:spcPts val="0"/>
              </a:spcAft>
              <a:buClr>
                <a:srgbClr val="0000FF"/>
              </a:buClr>
              <a:buSzPts val="1400"/>
              <a:buFont typeface="Spectral"/>
              <a:buChar char="○"/>
            </a:pPr>
            <a:r>
              <a:rPr lang="de-CH">
                <a:solidFill>
                  <a:srgbClr val="0000FF"/>
                </a:solidFill>
                <a:latin typeface="Spectral"/>
                <a:ea typeface="Spectral"/>
                <a:cs typeface="Spectral"/>
                <a:sym typeface="Spectral"/>
              </a:rPr>
              <a:t>plt.grid(True)</a:t>
            </a:r>
            <a:endParaRPr>
              <a:solidFill>
                <a:srgbClr val="0000FF"/>
              </a:solidFill>
              <a:latin typeface="Spectral"/>
              <a:ea typeface="Spectral"/>
              <a:cs typeface="Spectral"/>
              <a:sym typeface="Spectral"/>
            </a:endParaRPr>
          </a:p>
          <a:p>
            <a:pPr marL="914400" lvl="1" indent="-317500" algn="l" rtl="0">
              <a:spcBef>
                <a:spcPts val="0"/>
              </a:spcBef>
              <a:spcAft>
                <a:spcPts val="0"/>
              </a:spcAft>
              <a:buClr>
                <a:srgbClr val="0000FF"/>
              </a:buClr>
              <a:buSzPts val="1400"/>
              <a:buFont typeface="Spectral"/>
              <a:buChar char="○"/>
            </a:pPr>
            <a:r>
              <a:rPr lang="de-CH">
                <a:solidFill>
                  <a:srgbClr val="0000FF"/>
                </a:solidFill>
                <a:latin typeface="Spectral"/>
                <a:ea typeface="Spectral"/>
                <a:cs typeface="Spectral"/>
                <a:sym typeface="Spectral"/>
              </a:rPr>
              <a:t>plt.legend()</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plt.style.use('dark_background')</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plt.show()</a:t>
            </a:r>
            <a:endParaRPr>
              <a:solidFill>
                <a:srgbClr val="0000FF"/>
              </a:solidFill>
              <a:latin typeface="Spectral"/>
              <a:ea typeface="Spectral"/>
              <a:cs typeface="Spectral"/>
              <a:sym typeface="Spectral"/>
            </a:endParaRPr>
          </a:p>
          <a:p>
            <a:pPr marL="457200" lvl="0" indent="0" algn="l" rtl="0">
              <a:spcBef>
                <a:spcPts val="1600"/>
              </a:spcBef>
              <a:spcAft>
                <a:spcPts val="1600"/>
              </a:spcAft>
              <a:buNone/>
            </a:pPr>
            <a:endParaRP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Shape 804"/>
        <p:cNvGrpSpPr/>
        <p:nvPr/>
      </p:nvGrpSpPr>
      <p:grpSpPr>
        <a:xfrm>
          <a:off x="0" y="0"/>
          <a:ext cx="0" cy="0"/>
          <a:chOff x="0" y="0"/>
          <a:chExt cx="0" cy="0"/>
        </a:xfrm>
      </p:grpSpPr>
      <p:sp>
        <p:nvSpPr>
          <p:cNvPr id="805" name="Google Shape;805;p135"/>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Multiple plotting in barchart..</a:t>
            </a:r>
            <a:endParaRPr/>
          </a:p>
        </p:txBody>
      </p:sp>
      <p:sp>
        <p:nvSpPr>
          <p:cNvPr id="806" name="Google Shape;806;p135"/>
          <p:cNvSpPr txBox="1">
            <a:spLocks noGrp="1"/>
          </p:cNvSpPr>
          <p:nvPr>
            <p:ph type="body" idx="1"/>
          </p:nvPr>
        </p:nvSpPr>
        <p:spPr>
          <a:xfrm>
            <a:off x="311700" y="1225225"/>
            <a:ext cx="8520600" cy="4343400"/>
          </a:xfrm>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FF"/>
              </a:buClr>
              <a:buSzPts val="1400"/>
              <a:buChar char="●"/>
            </a:pPr>
            <a:r>
              <a:rPr lang="de-CH" sz="1400">
                <a:solidFill>
                  <a:srgbClr val="0000FF"/>
                </a:solidFill>
              </a:rPr>
              <a:t>x_val=['shyam','Ashwin','Praveen','anjana','jubil','shibin']</a:t>
            </a:r>
            <a:endParaRPr sz="1400">
              <a:solidFill>
                <a:srgbClr val="0000FF"/>
              </a:solidFill>
            </a:endParaRPr>
          </a:p>
          <a:p>
            <a:pPr marL="457200" lvl="0" indent="-317500" algn="l" rtl="0">
              <a:spcBef>
                <a:spcPts val="0"/>
              </a:spcBef>
              <a:spcAft>
                <a:spcPts val="0"/>
              </a:spcAft>
              <a:buClr>
                <a:srgbClr val="0000FF"/>
              </a:buClr>
              <a:buSzPts val="1400"/>
              <a:buChar char="●"/>
            </a:pPr>
            <a:r>
              <a:rPr lang="de-CH" sz="1400">
                <a:solidFill>
                  <a:srgbClr val="0000FF"/>
                </a:solidFill>
              </a:rPr>
              <a:t>x_range=np.arange(len(x_val))</a:t>
            </a:r>
            <a:endParaRPr sz="1400">
              <a:solidFill>
                <a:srgbClr val="0000FF"/>
              </a:solidFill>
            </a:endParaRPr>
          </a:p>
          <a:p>
            <a:pPr marL="457200" lvl="0" indent="-317500" algn="l" rtl="0">
              <a:spcBef>
                <a:spcPts val="0"/>
              </a:spcBef>
              <a:spcAft>
                <a:spcPts val="0"/>
              </a:spcAft>
              <a:buClr>
                <a:srgbClr val="0000FF"/>
              </a:buClr>
              <a:buSzPts val="1400"/>
              <a:buChar char="●"/>
            </a:pPr>
            <a:r>
              <a:rPr lang="de-CH" sz="1400">
                <a:solidFill>
                  <a:srgbClr val="0000FF"/>
                </a:solidFill>
              </a:rPr>
              <a:t>width=.4</a:t>
            </a:r>
            <a:endParaRPr sz="1400">
              <a:solidFill>
                <a:srgbClr val="0000FF"/>
              </a:solidFill>
            </a:endParaRPr>
          </a:p>
          <a:p>
            <a:pPr marL="457200" lvl="0" indent="-317500" algn="l" rtl="0">
              <a:spcBef>
                <a:spcPts val="0"/>
              </a:spcBef>
              <a:spcAft>
                <a:spcPts val="0"/>
              </a:spcAft>
              <a:buClr>
                <a:srgbClr val="0000FF"/>
              </a:buClr>
              <a:buSzPts val="1400"/>
              <a:buChar char="●"/>
            </a:pPr>
            <a:r>
              <a:rPr lang="de-CH" sz="1400">
                <a:solidFill>
                  <a:srgbClr val="0000FF"/>
                </a:solidFill>
              </a:rPr>
              <a:t>y_value=[86,75,76,74,72,85]</a:t>
            </a:r>
            <a:endParaRPr sz="1400">
              <a:solidFill>
                <a:srgbClr val="0000FF"/>
              </a:solidFill>
            </a:endParaRPr>
          </a:p>
          <a:p>
            <a:pPr marL="457200" lvl="0" indent="-317500" algn="l" rtl="0">
              <a:spcBef>
                <a:spcPts val="0"/>
              </a:spcBef>
              <a:spcAft>
                <a:spcPts val="0"/>
              </a:spcAft>
              <a:buClr>
                <a:srgbClr val="0000FF"/>
              </a:buClr>
              <a:buSzPts val="1400"/>
              <a:buChar char="●"/>
            </a:pPr>
            <a:r>
              <a:rPr lang="de-CH" sz="1400">
                <a:solidFill>
                  <a:srgbClr val="0000FF"/>
                </a:solidFill>
              </a:rPr>
              <a:t>plt.bar(x_range-width,y_value,width=width,label='current weight',)</a:t>
            </a:r>
            <a:endParaRPr sz="1400">
              <a:solidFill>
                <a:srgbClr val="0000FF"/>
              </a:solidFill>
            </a:endParaRPr>
          </a:p>
          <a:p>
            <a:pPr marL="457200" lvl="0" indent="-317500" algn="l" rtl="0">
              <a:spcBef>
                <a:spcPts val="0"/>
              </a:spcBef>
              <a:spcAft>
                <a:spcPts val="0"/>
              </a:spcAft>
              <a:buClr>
                <a:srgbClr val="0000FF"/>
              </a:buClr>
              <a:buSzPts val="1400"/>
              <a:buChar char="●"/>
            </a:pPr>
            <a:r>
              <a:rPr lang="de-CH" sz="1400">
                <a:solidFill>
                  <a:srgbClr val="0000FF"/>
                </a:solidFill>
              </a:rPr>
              <a:t>y_value_2=[75,75,80,65,70,78]</a:t>
            </a:r>
            <a:endParaRPr sz="1400">
              <a:solidFill>
                <a:srgbClr val="0000FF"/>
              </a:solidFill>
            </a:endParaRPr>
          </a:p>
          <a:p>
            <a:pPr marL="457200" lvl="0" indent="-317500" algn="l" rtl="0">
              <a:spcBef>
                <a:spcPts val="0"/>
              </a:spcBef>
              <a:spcAft>
                <a:spcPts val="0"/>
              </a:spcAft>
              <a:buClr>
                <a:srgbClr val="0000FF"/>
              </a:buClr>
              <a:buSzPts val="1400"/>
              <a:buChar char="●"/>
            </a:pPr>
            <a:r>
              <a:rPr lang="de-CH" sz="1400">
                <a:solidFill>
                  <a:srgbClr val="0000FF"/>
                </a:solidFill>
              </a:rPr>
              <a:t>plt.bar(x_range,y_value_2,width=width,label='weight needed')</a:t>
            </a:r>
            <a:endParaRPr sz="1400">
              <a:solidFill>
                <a:srgbClr val="0000FF"/>
              </a:solidFill>
            </a:endParaRPr>
          </a:p>
          <a:p>
            <a:pPr marL="457200" lvl="0" indent="-317500" algn="l" rtl="0">
              <a:spcBef>
                <a:spcPts val="0"/>
              </a:spcBef>
              <a:spcAft>
                <a:spcPts val="0"/>
              </a:spcAft>
              <a:buClr>
                <a:srgbClr val="0000FF"/>
              </a:buClr>
              <a:buSzPts val="1400"/>
              <a:buChar char="●"/>
            </a:pPr>
            <a:r>
              <a:rPr lang="de-CH" sz="1400">
                <a:solidFill>
                  <a:srgbClr val="0000FF"/>
                </a:solidFill>
              </a:rPr>
              <a:t>#plt.bar(x_range+width,y_value_2,label='weight needed')</a:t>
            </a:r>
            <a:endParaRPr sz="1400">
              <a:solidFill>
                <a:srgbClr val="0000FF"/>
              </a:solidFill>
            </a:endParaRPr>
          </a:p>
          <a:p>
            <a:pPr marL="457200" lvl="0" indent="-317500" algn="l" rtl="0">
              <a:spcBef>
                <a:spcPts val="0"/>
              </a:spcBef>
              <a:spcAft>
                <a:spcPts val="0"/>
              </a:spcAft>
              <a:buClr>
                <a:srgbClr val="0000FF"/>
              </a:buClr>
              <a:buSzPts val="1400"/>
              <a:buChar char="●"/>
            </a:pPr>
            <a:r>
              <a:rPr lang="de-CH" sz="1400">
                <a:solidFill>
                  <a:srgbClr val="0000FF"/>
                </a:solidFill>
              </a:rPr>
              <a:t>plt.title('Person age Diagram..')</a:t>
            </a:r>
            <a:endParaRPr sz="1400">
              <a:solidFill>
                <a:srgbClr val="0000FF"/>
              </a:solidFill>
            </a:endParaRPr>
          </a:p>
          <a:p>
            <a:pPr marL="457200" lvl="0" indent="-317500" algn="l" rtl="0">
              <a:spcBef>
                <a:spcPts val="0"/>
              </a:spcBef>
              <a:spcAft>
                <a:spcPts val="0"/>
              </a:spcAft>
              <a:buClr>
                <a:srgbClr val="0000FF"/>
              </a:buClr>
              <a:buSzPts val="1400"/>
              <a:buChar char="●"/>
            </a:pPr>
            <a:r>
              <a:rPr lang="de-CH" sz="1400">
                <a:solidFill>
                  <a:srgbClr val="0000FF"/>
                </a:solidFill>
              </a:rPr>
              <a:t>plt.xlabel('Name')</a:t>
            </a:r>
            <a:endParaRPr sz="1400">
              <a:solidFill>
                <a:srgbClr val="0000FF"/>
              </a:solidFill>
            </a:endParaRPr>
          </a:p>
          <a:p>
            <a:pPr marL="457200" lvl="0" indent="-317500" algn="l" rtl="0">
              <a:spcBef>
                <a:spcPts val="0"/>
              </a:spcBef>
              <a:spcAft>
                <a:spcPts val="0"/>
              </a:spcAft>
              <a:buClr>
                <a:srgbClr val="0000FF"/>
              </a:buClr>
              <a:buSzPts val="1400"/>
              <a:buChar char="●"/>
            </a:pPr>
            <a:r>
              <a:rPr lang="de-CH" sz="1400">
                <a:solidFill>
                  <a:srgbClr val="0000FF"/>
                </a:solidFill>
              </a:rPr>
              <a:t>plt.ylabel('Weight')</a:t>
            </a:r>
            <a:endParaRPr sz="1400">
              <a:solidFill>
                <a:srgbClr val="0000FF"/>
              </a:solidFill>
            </a:endParaRPr>
          </a:p>
          <a:p>
            <a:pPr marL="457200" lvl="0" indent="-317500" algn="l" rtl="0">
              <a:spcBef>
                <a:spcPts val="0"/>
              </a:spcBef>
              <a:spcAft>
                <a:spcPts val="0"/>
              </a:spcAft>
              <a:buClr>
                <a:srgbClr val="0000FF"/>
              </a:buClr>
              <a:buSzPts val="1400"/>
              <a:buChar char="●"/>
            </a:pPr>
            <a:r>
              <a:rPr lang="de-CH" sz="1400">
                <a:solidFill>
                  <a:srgbClr val="0000FF"/>
                </a:solidFill>
              </a:rPr>
              <a:t>plt.xticks(ticks=x_range,labels=x_val)</a:t>
            </a:r>
            <a:endParaRPr sz="1400">
              <a:solidFill>
                <a:srgbClr val="0000FF"/>
              </a:solidFill>
            </a:endParaRPr>
          </a:p>
          <a:p>
            <a:pPr marL="457200" lvl="0" indent="-317500" algn="l" rtl="0">
              <a:spcBef>
                <a:spcPts val="0"/>
              </a:spcBef>
              <a:spcAft>
                <a:spcPts val="0"/>
              </a:spcAft>
              <a:buClr>
                <a:srgbClr val="0000FF"/>
              </a:buClr>
              <a:buSzPts val="1400"/>
              <a:buChar char="●"/>
            </a:pPr>
            <a:r>
              <a:rPr lang="de-CH" sz="1400">
                <a:solidFill>
                  <a:srgbClr val="0000FF"/>
                </a:solidFill>
              </a:rPr>
              <a:t>plt.grid(True)</a:t>
            </a:r>
            <a:endParaRPr sz="1400">
              <a:solidFill>
                <a:srgbClr val="0000FF"/>
              </a:solidFill>
            </a:endParaRPr>
          </a:p>
          <a:p>
            <a:pPr marL="457200" lvl="0" indent="-317500" algn="l" rtl="0">
              <a:spcBef>
                <a:spcPts val="0"/>
              </a:spcBef>
              <a:spcAft>
                <a:spcPts val="0"/>
              </a:spcAft>
              <a:buClr>
                <a:srgbClr val="0000FF"/>
              </a:buClr>
              <a:buSzPts val="1400"/>
              <a:buChar char="●"/>
            </a:pPr>
            <a:r>
              <a:rPr lang="de-CH" sz="1400">
                <a:solidFill>
                  <a:srgbClr val="0000FF"/>
                </a:solidFill>
              </a:rPr>
              <a:t>plt.legend()</a:t>
            </a:r>
            <a:endParaRPr sz="1400">
              <a:solidFill>
                <a:srgbClr val="0000FF"/>
              </a:solidFill>
            </a:endParaRPr>
          </a:p>
          <a:p>
            <a:pPr marL="457200" lvl="0" indent="-317500" algn="l" rtl="0">
              <a:spcBef>
                <a:spcPts val="0"/>
              </a:spcBef>
              <a:spcAft>
                <a:spcPts val="0"/>
              </a:spcAft>
              <a:buClr>
                <a:srgbClr val="0000FF"/>
              </a:buClr>
              <a:buSzPts val="1400"/>
              <a:buChar char="●"/>
            </a:pPr>
            <a:r>
              <a:rPr lang="de-CH" sz="1400">
                <a:solidFill>
                  <a:srgbClr val="0000FF"/>
                </a:solidFill>
              </a:rPr>
              <a:t>plt.style.use('dark_background')</a:t>
            </a:r>
            <a:endParaRPr sz="1400">
              <a:solidFill>
                <a:srgbClr val="0000FF"/>
              </a:solidFill>
            </a:endParaRPr>
          </a:p>
          <a:p>
            <a:pPr marL="457200" lvl="0" indent="-317500" algn="l" rtl="0">
              <a:spcBef>
                <a:spcPts val="0"/>
              </a:spcBef>
              <a:spcAft>
                <a:spcPts val="0"/>
              </a:spcAft>
              <a:buClr>
                <a:srgbClr val="0000FF"/>
              </a:buClr>
              <a:buSzPts val="1400"/>
              <a:buChar char="●"/>
            </a:pPr>
            <a:r>
              <a:rPr lang="de-CH" sz="1400">
                <a:solidFill>
                  <a:srgbClr val="0000FF"/>
                </a:solidFill>
              </a:rPr>
              <a:t>plt.show()</a:t>
            </a:r>
            <a:endParaRPr sz="1400">
              <a:solidFill>
                <a:srgbClr val="0000FF"/>
              </a:solidFill>
            </a:endParaRPr>
          </a:p>
          <a:p>
            <a:pPr marL="0" lvl="0" indent="0" algn="l" rtl="0">
              <a:spcBef>
                <a:spcPts val="1600"/>
              </a:spcBef>
              <a:spcAft>
                <a:spcPts val="1600"/>
              </a:spcAft>
              <a:buNone/>
            </a:pPr>
            <a:endParaRP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Shape 810"/>
        <p:cNvGrpSpPr/>
        <p:nvPr/>
      </p:nvGrpSpPr>
      <p:grpSpPr>
        <a:xfrm>
          <a:off x="0" y="0"/>
          <a:ext cx="0" cy="0"/>
          <a:chOff x="0" y="0"/>
          <a:chExt cx="0" cy="0"/>
        </a:xfrm>
      </p:grpSpPr>
      <p:sp>
        <p:nvSpPr>
          <p:cNvPr id="811" name="Google Shape;811;p136"/>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Horizontal barchart</a:t>
            </a:r>
            <a:endParaRPr/>
          </a:p>
        </p:txBody>
      </p:sp>
      <p:sp>
        <p:nvSpPr>
          <p:cNvPr id="812" name="Google Shape;812;p136"/>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We use barh() method to plot a horizontal barchart</a:t>
            </a:r>
            <a:endParaRPr/>
          </a:p>
        </p:txBody>
      </p:sp>
      <p:pic>
        <p:nvPicPr>
          <p:cNvPr id="813" name="Google Shape;813;p136"/>
          <p:cNvPicPr preferRelativeResize="0"/>
          <p:nvPr/>
        </p:nvPicPr>
        <p:blipFill>
          <a:blip r:embed="rId3">
            <a:alphaModFix/>
          </a:blip>
          <a:stretch>
            <a:fillRect/>
          </a:stretch>
        </p:blipFill>
        <p:spPr>
          <a:xfrm>
            <a:off x="477969" y="1683925"/>
            <a:ext cx="6064456" cy="3282825"/>
          </a:xfrm>
          <a:prstGeom prst="rect">
            <a:avLst/>
          </a:prstGeom>
          <a:noFill/>
          <a:ln>
            <a:noFill/>
          </a:ln>
        </p:spPr>
      </p:pic>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Shape 817"/>
        <p:cNvGrpSpPr/>
        <p:nvPr/>
      </p:nvGrpSpPr>
      <p:grpSpPr>
        <a:xfrm>
          <a:off x="0" y="0"/>
          <a:ext cx="0" cy="0"/>
          <a:chOff x="0" y="0"/>
          <a:chExt cx="0" cy="0"/>
        </a:xfrm>
      </p:grpSpPr>
      <p:sp>
        <p:nvSpPr>
          <p:cNvPr id="818" name="Google Shape;818;p137"/>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Pie Chart..</a:t>
            </a:r>
            <a:endParaRPr/>
          </a:p>
        </p:txBody>
      </p:sp>
      <p:sp>
        <p:nvSpPr>
          <p:cNvPr id="819" name="Google Shape;819;p137"/>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It uses a method pie()</a:t>
            </a:r>
            <a:br>
              <a:rPr lang="de-CH"/>
            </a:br>
            <a:r>
              <a:rPr lang="de-CH">
                <a:solidFill>
                  <a:srgbClr val="0000FF"/>
                </a:solidFill>
                <a:latin typeface="Spectral"/>
                <a:ea typeface="Spectral"/>
                <a:cs typeface="Spectral"/>
                <a:sym typeface="Spectral"/>
              </a:rPr>
              <a:t>from matplotlib import pyplot as plt</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slices=[30,40,20]</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labels=['men','women','kids']</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plt.title('My PiE CHART')</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plt.pie(slices,labels=labels)</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plt.show()</a:t>
            </a:r>
            <a:endParaRPr>
              <a:solidFill>
                <a:srgbClr val="0000FF"/>
              </a:solidFill>
              <a:latin typeface="Spectral"/>
              <a:ea typeface="Spectral"/>
              <a:cs typeface="Spectral"/>
              <a:sym typeface="Spectral"/>
            </a:endParaRPr>
          </a:p>
        </p:txBody>
      </p:sp>
      <p:pic>
        <p:nvPicPr>
          <p:cNvPr id="820" name="Google Shape;820;p137"/>
          <p:cNvPicPr preferRelativeResize="0"/>
          <p:nvPr/>
        </p:nvPicPr>
        <p:blipFill>
          <a:blip r:embed="rId3">
            <a:alphaModFix/>
          </a:blip>
          <a:stretch>
            <a:fillRect/>
          </a:stretch>
        </p:blipFill>
        <p:spPr>
          <a:xfrm>
            <a:off x="4954325" y="1225225"/>
            <a:ext cx="3199875" cy="3101550"/>
          </a:xfrm>
          <a:prstGeom prst="rect">
            <a:avLst/>
          </a:prstGeom>
          <a:noFill/>
          <a:ln>
            <a:noFill/>
          </a:ln>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Shape 824"/>
        <p:cNvGrpSpPr/>
        <p:nvPr/>
      </p:nvGrpSpPr>
      <p:grpSpPr>
        <a:xfrm>
          <a:off x="0" y="0"/>
          <a:ext cx="0" cy="0"/>
          <a:chOff x="0" y="0"/>
          <a:chExt cx="0" cy="0"/>
        </a:xfrm>
      </p:grpSpPr>
      <p:sp>
        <p:nvSpPr>
          <p:cNvPr id="825" name="Google Shape;825;p138"/>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Custom colors.. And wedge properties</a:t>
            </a:r>
            <a:endParaRPr/>
          </a:p>
        </p:txBody>
      </p:sp>
      <p:sp>
        <p:nvSpPr>
          <p:cNvPr id="826" name="Google Shape;826;p138"/>
          <p:cNvSpPr txBox="1">
            <a:spLocks noGrp="1"/>
          </p:cNvSpPr>
          <p:nvPr>
            <p:ph type="body" idx="1"/>
          </p:nvPr>
        </p:nvSpPr>
        <p:spPr>
          <a:xfrm>
            <a:off x="394650" y="1343750"/>
            <a:ext cx="8520600" cy="33540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from matplotlib import pyplot as plt</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slices=[30,40,20]</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labels=['men','women','kids']</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colors=['red','blue','yellow']</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plt.title('My PiE CHART')</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plt.pie(slices,labels=labels,</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colors=colors,</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wedgeprops={'linewidth':3,'edgecolor':'c'})</a:t>
            </a:r>
            <a:endParaRPr>
              <a:solidFill>
                <a:srgbClr val="0000FF"/>
              </a:solidFill>
              <a:latin typeface="Spectral"/>
              <a:ea typeface="Spectral"/>
              <a:cs typeface="Spectral"/>
              <a:sym typeface="Spectral"/>
            </a:endParaRPr>
          </a:p>
          <a:p>
            <a:pPr marL="0" lvl="0" indent="0" algn="l" rtl="0">
              <a:spcBef>
                <a:spcPts val="1600"/>
              </a:spcBef>
              <a:spcAft>
                <a:spcPts val="1600"/>
              </a:spcAft>
              <a:buNone/>
            </a:pPr>
            <a:endParaRPr/>
          </a:p>
        </p:txBody>
      </p:sp>
      <p:pic>
        <p:nvPicPr>
          <p:cNvPr id="827" name="Google Shape;827;p138"/>
          <p:cNvPicPr preferRelativeResize="0"/>
          <p:nvPr/>
        </p:nvPicPr>
        <p:blipFill>
          <a:blip r:embed="rId3">
            <a:alphaModFix/>
          </a:blip>
          <a:stretch>
            <a:fillRect/>
          </a:stretch>
        </p:blipFill>
        <p:spPr>
          <a:xfrm>
            <a:off x="4776550" y="1469575"/>
            <a:ext cx="2974700" cy="2820625"/>
          </a:xfrm>
          <a:prstGeom prst="rect">
            <a:avLst/>
          </a:prstGeom>
          <a:noFill/>
          <a:ln>
            <a:noFill/>
          </a:ln>
        </p:spPr>
      </p:pic>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Shape 831"/>
        <p:cNvGrpSpPr/>
        <p:nvPr/>
      </p:nvGrpSpPr>
      <p:grpSpPr>
        <a:xfrm>
          <a:off x="0" y="0"/>
          <a:ext cx="0" cy="0"/>
          <a:chOff x="0" y="0"/>
          <a:chExt cx="0" cy="0"/>
        </a:xfrm>
      </p:grpSpPr>
      <p:sp>
        <p:nvSpPr>
          <p:cNvPr id="832" name="Google Shape;832;p139"/>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Explodes.. And shadow</a:t>
            </a:r>
            <a:endParaRPr/>
          </a:p>
        </p:txBody>
      </p:sp>
      <p:sp>
        <p:nvSpPr>
          <p:cNvPr id="833" name="Google Shape;833;p139"/>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from matplotlib import pyplot as plt</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slices=[30,40,20]</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labels=['men','women','kids']</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colors=['red','blue','yellow']</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plt.title('My PiE CHART')</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explodes=[0,0,.2]</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plt.pie(slices,labels=labels,colors=colors,</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  wedgeprops={'linewidth':3,'edgecolor':'c'},</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   explode=explodes,shadow</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=True)</a:t>
            </a:r>
            <a:endParaRPr/>
          </a:p>
        </p:txBody>
      </p:sp>
      <p:pic>
        <p:nvPicPr>
          <p:cNvPr id="834" name="Google Shape;834;p139"/>
          <p:cNvPicPr preferRelativeResize="0"/>
          <p:nvPr/>
        </p:nvPicPr>
        <p:blipFill>
          <a:blip r:embed="rId3">
            <a:alphaModFix/>
          </a:blip>
          <a:stretch>
            <a:fillRect/>
          </a:stretch>
        </p:blipFill>
        <p:spPr>
          <a:xfrm>
            <a:off x="5215050" y="1147225"/>
            <a:ext cx="3116925" cy="2583600"/>
          </a:xfrm>
          <a:prstGeom prst="rect">
            <a:avLst/>
          </a:prstGeom>
          <a:noFill/>
          <a:ln>
            <a:noFill/>
          </a:ln>
        </p:spPr>
      </p:pic>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p140"/>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Startangle and percentage value..</a:t>
            </a:r>
            <a:endParaRPr/>
          </a:p>
        </p:txBody>
      </p:sp>
      <p:sp>
        <p:nvSpPr>
          <p:cNvPr id="840" name="Google Shape;840;p140"/>
          <p:cNvSpPr txBox="1">
            <a:spLocks noGrp="1"/>
          </p:cNvSpPr>
          <p:nvPr>
            <p:ph type="body" idx="1"/>
          </p:nvPr>
        </p:nvSpPr>
        <p:spPr>
          <a:xfrm>
            <a:off x="311700" y="1225225"/>
            <a:ext cx="8520600" cy="3657600"/>
          </a:xfrm>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from matplotlib import pyplot as plt</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slices=[30,40,20]</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labels=['men','women','kids']</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colors=['red','blue','yellow']</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plt.title('My PiE CHART')</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explodes=[0,0,.2]</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plt.pie(slices,labels=labels,colors=colors,</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startangle=190,</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autopct='%1.3f%%',</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wedgeprops={'linewidth':3,'edgecolor':'c'},</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explode=explodes,shadow=True)</a:t>
            </a:r>
            <a:endParaRPr>
              <a:solidFill>
                <a:srgbClr val="0000FF"/>
              </a:solidFill>
              <a:latin typeface="Spectral"/>
              <a:ea typeface="Spectral"/>
              <a:cs typeface="Spectral"/>
              <a:sym typeface="Spectral"/>
            </a:endParaRPr>
          </a:p>
          <a:p>
            <a:pPr marL="457200" lvl="0" indent="0" algn="l" rtl="0">
              <a:spcBef>
                <a:spcPts val="1600"/>
              </a:spcBef>
              <a:spcAft>
                <a:spcPts val="1600"/>
              </a:spcAft>
              <a:buNone/>
            </a:pPr>
            <a:endParaRPr/>
          </a:p>
        </p:txBody>
      </p:sp>
      <p:pic>
        <p:nvPicPr>
          <p:cNvPr id="841" name="Google Shape;841;p140"/>
          <p:cNvPicPr preferRelativeResize="0"/>
          <p:nvPr/>
        </p:nvPicPr>
        <p:blipFill>
          <a:blip r:embed="rId3">
            <a:alphaModFix/>
          </a:blip>
          <a:stretch>
            <a:fillRect/>
          </a:stretch>
        </p:blipFill>
        <p:spPr>
          <a:xfrm>
            <a:off x="5025450" y="1031075"/>
            <a:ext cx="3484300" cy="2915425"/>
          </a:xfrm>
          <a:prstGeom prst="rect">
            <a:avLst/>
          </a:prstGeom>
          <a:noFill/>
          <a:ln>
            <a:noFill/>
          </a:ln>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p141"/>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Scatter plots..</a:t>
            </a:r>
            <a:endParaRPr/>
          </a:p>
        </p:txBody>
      </p:sp>
      <p:sp>
        <p:nvSpPr>
          <p:cNvPr id="847" name="Google Shape;847;p141"/>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Scatter plots are great useful when you want to show the relationship between two set of datas and to find the correlation between them</a:t>
            </a:r>
            <a:br>
              <a:rPr lang="de-CH"/>
            </a:br>
            <a:r>
              <a:rPr lang="de-CH">
                <a:solidFill>
                  <a:srgbClr val="0000FF"/>
                </a:solidFill>
                <a:latin typeface="Spectral"/>
                <a:ea typeface="Spectral"/>
                <a:cs typeface="Spectral"/>
                <a:sym typeface="Spectral"/>
              </a:rPr>
              <a:t>a=np.random.randint(1,10,size=9)</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b=np.random.randint(2,15,size=9)</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plt.scatter(a,b)</a:t>
            </a:r>
            <a:endParaRPr>
              <a:solidFill>
                <a:srgbClr val="0000FF"/>
              </a:solidFill>
              <a:latin typeface="Spectral"/>
              <a:ea typeface="Spectral"/>
              <a:cs typeface="Spectral"/>
              <a:sym typeface="Spectral"/>
            </a:endParaRPr>
          </a:p>
          <a:p>
            <a:pPr marL="0" lvl="0" indent="0" algn="l" rtl="0">
              <a:spcBef>
                <a:spcPts val="1600"/>
              </a:spcBef>
              <a:spcAft>
                <a:spcPts val="1600"/>
              </a:spcAft>
              <a:buNone/>
            </a:pPr>
            <a:endParaRP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Shape 851"/>
        <p:cNvGrpSpPr/>
        <p:nvPr/>
      </p:nvGrpSpPr>
      <p:grpSpPr>
        <a:xfrm>
          <a:off x="0" y="0"/>
          <a:ext cx="0" cy="0"/>
          <a:chOff x="0" y="0"/>
          <a:chExt cx="0" cy="0"/>
        </a:xfrm>
      </p:grpSpPr>
      <p:sp>
        <p:nvSpPr>
          <p:cNvPr id="852" name="Google Shape;852;p142"/>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Scalar plot..</a:t>
            </a:r>
            <a:endParaRPr/>
          </a:p>
        </p:txBody>
      </p:sp>
      <p:sp>
        <p:nvSpPr>
          <p:cNvPr id="853" name="Google Shape;853;p142"/>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FF"/>
              </a:buClr>
              <a:buSzPts val="1800"/>
              <a:buFont typeface="Spectral"/>
              <a:buAutoNum type="arabicPeriod"/>
            </a:pPr>
            <a:r>
              <a:rPr lang="de-CH">
                <a:solidFill>
                  <a:srgbClr val="0000FF"/>
                </a:solidFill>
                <a:latin typeface="Spectral"/>
                <a:ea typeface="Spectral"/>
                <a:cs typeface="Spectral"/>
                <a:sym typeface="Spectral"/>
              </a:rPr>
              <a:t>a=np.random.randint(1,10,size=9)</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AutoNum type="arabicPeriod"/>
            </a:pPr>
            <a:r>
              <a:rPr lang="de-CH">
                <a:solidFill>
                  <a:srgbClr val="0000FF"/>
                </a:solidFill>
                <a:latin typeface="Spectral"/>
                <a:ea typeface="Spectral"/>
                <a:cs typeface="Spectral"/>
                <a:sym typeface="Spectral"/>
              </a:rPr>
              <a:t>b=np.random.randint(2,15,size=9)</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AutoNum type="arabicPeriod"/>
            </a:pPr>
            <a:r>
              <a:rPr lang="de-CH">
                <a:solidFill>
                  <a:srgbClr val="0000FF"/>
                </a:solidFill>
                <a:latin typeface="Spectral"/>
                <a:ea typeface="Spectral"/>
                <a:cs typeface="Spectral"/>
                <a:sym typeface="Spectral"/>
              </a:rPr>
              <a:t>plt.style.use('seaborn')</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AutoNum type="arabicPeriod"/>
            </a:pPr>
            <a:r>
              <a:rPr lang="de-CH">
                <a:solidFill>
                  <a:srgbClr val="0000FF"/>
                </a:solidFill>
                <a:latin typeface="Spectral"/>
                <a:ea typeface="Spectral"/>
                <a:cs typeface="Spectral"/>
                <a:sym typeface="Spectral"/>
              </a:rPr>
              <a:t>plt.scatter(a,b,s=100,color='red',marker='s',edgecolors='black',linewidths=2)</a:t>
            </a:r>
            <a:endParaRPr>
              <a:solidFill>
                <a:srgbClr val="0000FF"/>
              </a:solidFill>
              <a:latin typeface="Spectral"/>
              <a:ea typeface="Spectral"/>
              <a:cs typeface="Spectral"/>
              <a:sym typeface="Spectral"/>
            </a:endParaRPr>
          </a:p>
          <a:p>
            <a:pPr marL="0" lvl="0" indent="0" algn="l" rtl="0">
              <a:spcBef>
                <a:spcPts val="1600"/>
              </a:spcBef>
              <a:spcAft>
                <a:spcPts val="1600"/>
              </a:spcAft>
              <a:buNone/>
            </a:pPr>
            <a:endParaRP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p143"/>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continue..</a:t>
            </a:r>
            <a:endParaRPr/>
          </a:p>
        </p:txBody>
      </p:sp>
      <p:sp>
        <p:nvSpPr>
          <p:cNvPr id="859" name="Google Shape;859;p143"/>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a=np.random.randint(1,10,size=9)</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b=np.random.randint(2,15,size=9)</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colors=b</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plt.style.use('seaborn')</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plt.scatter(a,b,s=100,marker='s',</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            c=colors,cmap='Greens',</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            edgecolors='black',linewidths=2)</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cbar=plt.colorbar()</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cbar.set_label('color variation')</a:t>
            </a:r>
            <a:endParaRPr>
              <a:solidFill>
                <a:srgbClr val="0000FF"/>
              </a:solidFill>
              <a:latin typeface="Spectral"/>
              <a:ea typeface="Spectral"/>
              <a:cs typeface="Spectral"/>
              <a:sym typeface="Spectral"/>
            </a:endParaRPr>
          </a:p>
          <a:p>
            <a:pPr marL="0" lvl="0" indent="0" algn="l" rtl="0">
              <a:spcBef>
                <a:spcPts val="1600"/>
              </a:spcBef>
              <a:spcAft>
                <a:spcPts val="1600"/>
              </a:spcAft>
              <a:buNone/>
            </a:pPr>
            <a:endParaRPr/>
          </a:p>
        </p:txBody>
      </p:sp>
      <p:pic>
        <p:nvPicPr>
          <p:cNvPr id="860" name="Google Shape;860;p143"/>
          <p:cNvPicPr preferRelativeResize="0"/>
          <p:nvPr/>
        </p:nvPicPr>
        <p:blipFill>
          <a:blip r:embed="rId3">
            <a:alphaModFix/>
          </a:blip>
          <a:stretch>
            <a:fillRect/>
          </a:stretch>
        </p:blipFill>
        <p:spPr>
          <a:xfrm>
            <a:off x="5193799" y="800475"/>
            <a:ext cx="3895775" cy="3162300"/>
          </a:xfrm>
          <a:prstGeom prst="rect">
            <a:avLst/>
          </a:prstGeom>
          <a:noFill/>
          <a:ln>
            <a:noFill/>
          </a:ln>
        </p:spPr>
      </p:pic>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Shape 864"/>
        <p:cNvGrpSpPr/>
        <p:nvPr/>
      </p:nvGrpSpPr>
      <p:grpSpPr>
        <a:xfrm>
          <a:off x="0" y="0"/>
          <a:ext cx="0" cy="0"/>
          <a:chOff x="0" y="0"/>
          <a:chExt cx="0" cy="0"/>
        </a:xfrm>
      </p:grpSpPr>
      <p:sp>
        <p:nvSpPr>
          <p:cNvPr id="865" name="Google Shape;865;p144"/>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continues...</a:t>
            </a:r>
            <a:endParaRPr/>
          </a:p>
        </p:txBody>
      </p:sp>
      <p:sp>
        <p:nvSpPr>
          <p:cNvPr id="866" name="Google Shape;866;p144"/>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a=np.random.randint(1,10,size=9)</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b=np.random.randint(2,15,size=9)</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colors=b</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sizes=b*100</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plt.style.use('seaborn')</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plt.scatter(a,b,s=sizes,marker='s',</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            c=colors,cmap='Greens',</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            edgecolors='black',linewidths=2)</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cbar=plt.colorbar()</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cbar.set_label('color variation')</a:t>
            </a:r>
            <a:endParaRPr>
              <a:solidFill>
                <a:srgbClr val="0000FF"/>
              </a:solidFill>
              <a:latin typeface="Spectral"/>
              <a:ea typeface="Spectral"/>
              <a:cs typeface="Spectral"/>
              <a:sym typeface="Spectral"/>
            </a:endParaRPr>
          </a:p>
          <a:p>
            <a:pPr marL="0" lvl="0" indent="0" algn="l" rtl="0">
              <a:spcBef>
                <a:spcPts val="1600"/>
              </a:spcBef>
              <a:spcAft>
                <a:spcPts val="1600"/>
              </a:spcAft>
              <a:buNone/>
            </a:pPr>
            <a:endParaRPr/>
          </a:p>
        </p:txBody>
      </p:sp>
      <p:pic>
        <p:nvPicPr>
          <p:cNvPr id="867" name="Google Shape;867;p144"/>
          <p:cNvPicPr preferRelativeResize="0"/>
          <p:nvPr/>
        </p:nvPicPr>
        <p:blipFill>
          <a:blip r:embed="rId3">
            <a:alphaModFix/>
          </a:blip>
          <a:stretch>
            <a:fillRect/>
          </a:stretch>
        </p:blipFill>
        <p:spPr>
          <a:xfrm>
            <a:off x="5320717" y="1147225"/>
            <a:ext cx="3823283" cy="2765425"/>
          </a:xfrm>
          <a:prstGeom prst="rect">
            <a:avLst/>
          </a:prstGeom>
          <a:noFill/>
          <a:ln>
            <a:noFill/>
          </a:ln>
        </p:spPr>
      </p:pic>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Shape 871"/>
        <p:cNvGrpSpPr/>
        <p:nvPr/>
      </p:nvGrpSpPr>
      <p:grpSpPr>
        <a:xfrm>
          <a:off x="0" y="0"/>
          <a:ext cx="0" cy="0"/>
          <a:chOff x="0" y="0"/>
          <a:chExt cx="0" cy="0"/>
        </a:xfrm>
      </p:grpSpPr>
      <p:sp>
        <p:nvSpPr>
          <p:cNvPr id="872" name="Google Shape;872;p145"/>
          <p:cNvSpPr txBox="1">
            <a:spLocks noGrp="1"/>
          </p:cNvSpPr>
          <p:nvPr>
            <p:ph type="ctr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  STATISTICS FOR DATA SCIENCE</a:t>
            </a:r>
            <a:endParaRP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Shape 876"/>
        <p:cNvGrpSpPr/>
        <p:nvPr/>
      </p:nvGrpSpPr>
      <p:grpSpPr>
        <a:xfrm>
          <a:off x="0" y="0"/>
          <a:ext cx="0" cy="0"/>
          <a:chOff x="0" y="0"/>
          <a:chExt cx="0" cy="0"/>
        </a:xfrm>
      </p:grpSpPr>
      <p:sp>
        <p:nvSpPr>
          <p:cNvPr id="877" name="Google Shape;877;p146"/>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Statistics</a:t>
            </a:r>
            <a:endParaRPr/>
          </a:p>
        </p:txBody>
      </p:sp>
      <p:sp>
        <p:nvSpPr>
          <p:cNvPr id="878" name="Google Shape;878;p146"/>
          <p:cNvSpPr txBox="1">
            <a:spLocks noGrp="1"/>
          </p:cNvSpPr>
          <p:nvPr>
            <p:ph type="body" idx="1"/>
          </p:nvPr>
        </p:nvSpPr>
        <p:spPr>
          <a:prstGeom prst="rect">
            <a:avLst/>
          </a:prstGeom>
        </p:spPr>
        <p:txBody>
          <a:bodyPr spcFirstLastPara="1" wrap="square" lIns="91425" tIns="91425" rIns="91425" bIns="91425" anchor="t" anchorCtr="0">
            <a:noAutofit/>
          </a:bodyPr>
          <a:lstStyle/>
          <a:p>
            <a:pPr marL="114300" lvl="0" indent="0" algn="l" rtl="0">
              <a:spcBef>
                <a:spcPts val="300"/>
              </a:spcBef>
              <a:spcAft>
                <a:spcPts val="0"/>
              </a:spcAft>
              <a:buNone/>
            </a:pPr>
            <a:r>
              <a:rPr lang="de-CH" b="1" i="1">
                <a:latin typeface="Georgia"/>
                <a:ea typeface="Georgia"/>
                <a:cs typeface="Georgia"/>
                <a:sym typeface="Georgia"/>
              </a:rPr>
              <a:t>The discipline concerned with the collection, organization, analysis, interpretation and presentation of data.</a:t>
            </a:r>
            <a:endParaRPr b="1" i="1">
              <a:latin typeface="Georgia"/>
              <a:ea typeface="Georgia"/>
              <a:cs typeface="Georgia"/>
              <a:sym typeface="Georgia"/>
            </a:endParaRPr>
          </a:p>
          <a:p>
            <a:pPr marL="114300" lvl="0" indent="0" algn="l" rtl="0">
              <a:spcBef>
                <a:spcPts val="300"/>
              </a:spcBef>
              <a:spcAft>
                <a:spcPts val="0"/>
              </a:spcAft>
              <a:buNone/>
            </a:pPr>
            <a:endParaRPr i="1">
              <a:latin typeface="Georgia"/>
              <a:ea typeface="Georgia"/>
              <a:cs typeface="Georgia"/>
              <a:sym typeface="Georgia"/>
            </a:endParaRPr>
          </a:p>
          <a:p>
            <a:pPr marL="114300" lvl="0" indent="0" algn="l" rtl="0">
              <a:spcBef>
                <a:spcPts val="300"/>
              </a:spcBef>
              <a:spcAft>
                <a:spcPts val="0"/>
              </a:spcAft>
              <a:buNone/>
            </a:pPr>
            <a:r>
              <a:rPr lang="de-CH">
                <a:latin typeface="Georgia"/>
                <a:ea typeface="Georgia"/>
                <a:cs typeface="Georgia"/>
                <a:sym typeface="Georgia"/>
              </a:rPr>
              <a:t>Mainly there are 2 types of statistics: </a:t>
            </a:r>
            <a:r>
              <a:rPr lang="de-CH" b="1">
                <a:latin typeface="Georgia"/>
                <a:ea typeface="Georgia"/>
                <a:cs typeface="Georgia"/>
                <a:sym typeface="Georgia"/>
              </a:rPr>
              <a:t>descriptive</a:t>
            </a:r>
            <a:r>
              <a:rPr lang="de-CH">
                <a:latin typeface="Georgia"/>
                <a:ea typeface="Georgia"/>
                <a:cs typeface="Georgia"/>
                <a:sym typeface="Georgia"/>
              </a:rPr>
              <a:t> and </a:t>
            </a:r>
            <a:r>
              <a:rPr lang="de-CH" b="1">
                <a:latin typeface="Georgia"/>
                <a:ea typeface="Georgia"/>
                <a:cs typeface="Georgia"/>
                <a:sym typeface="Georgia"/>
              </a:rPr>
              <a:t>inferential</a:t>
            </a:r>
            <a:r>
              <a:rPr lang="de-CH">
                <a:latin typeface="Georgia"/>
                <a:ea typeface="Georgia"/>
                <a:cs typeface="Georgia"/>
                <a:sym typeface="Georgia"/>
              </a:rPr>
              <a:t> statistics.</a:t>
            </a:r>
            <a:endParaRPr>
              <a:latin typeface="Georgia"/>
              <a:ea typeface="Georgia"/>
              <a:cs typeface="Georgia"/>
              <a:sym typeface="Georgia"/>
            </a:endParaRPr>
          </a:p>
          <a:p>
            <a:pPr marL="457200" lvl="0" indent="-342900" algn="l" rtl="0">
              <a:spcBef>
                <a:spcPts val="300"/>
              </a:spcBef>
              <a:spcAft>
                <a:spcPts val="0"/>
              </a:spcAft>
              <a:buSzPts val="1800"/>
              <a:buFont typeface="Georgia"/>
              <a:buChar char="●"/>
            </a:pPr>
            <a:r>
              <a:rPr lang="de-CH">
                <a:latin typeface="Georgia"/>
                <a:ea typeface="Georgia"/>
                <a:cs typeface="Georgia"/>
                <a:sym typeface="Georgia"/>
              </a:rPr>
              <a:t>Descriptive statistics deals with the summarization of the data.</a:t>
            </a:r>
            <a:endParaRPr>
              <a:latin typeface="Georgia"/>
              <a:ea typeface="Georgia"/>
              <a:cs typeface="Georgia"/>
              <a:sym typeface="Georgia"/>
            </a:endParaRPr>
          </a:p>
          <a:p>
            <a:pPr marL="457200" lvl="0" indent="-342900" algn="l" rtl="0">
              <a:spcBef>
                <a:spcPts val="0"/>
              </a:spcBef>
              <a:spcAft>
                <a:spcPts val="0"/>
              </a:spcAft>
              <a:buSzPts val="1800"/>
              <a:buFont typeface="Georgia"/>
              <a:buChar char="●"/>
            </a:pPr>
            <a:r>
              <a:rPr lang="de-CH">
                <a:latin typeface="Georgia"/>
                <a:ea typeface="Georgia"/>
                <a:cs typeface="Georgia"/>
                <a:sym typeface="Georgia"/>
              </a:rPr>
              <a:t>Inferential statistics deals with the interpretation of the data i.e., the analysis is used to describe the meaning of the data.</a:t>
            </a:r>
            <a:endParaRPr>
              <a:latin typeface="Georgia"/>
              <a:ea typeface="Georgia"/>
              <a:cs typeface="Georgia"/>
              <a:sym typeface="Georgia"/>
            </a:endParaRPr>
          </a:p>
          <a:p>
            <a:pPr marL="114300" lvl="0" indent="0" algn="l" rtl="0">
              <a:spcBef>
                <a:spcPts val="300"/>
              </a:spcBef>
              <a:spcAft>
                <a:spcPts val="0"/>
              </a:spcAft>
              <a:buClr>
                <a:schemeClr val="dk1"/>
              </a:buClr>
              <a:buSzPts val="1100"/>
              <a:buFont typeface="Arial"/>
              <a:buNone/>
            </a:pPr>
            <a:endParaRPr>
              <a:latin typeface="Georgia"/>
              <a:ea typeface="Georgia"/>
              <a:cs typeface="Georgia"/>
              <a:sym typeface="Georgia"/>
            </a:endParaRPr>
          </a:p>
          <a:p>
            <a:pPr marL="0" lvl="0" indent="0" algn="l" rtl="0">
              <a:spcBef>
                <a:spcPts val="0"/>
              </a:spcBef>
              <a:spcAft>
                <a:spcPts val="1600"/>
              </a:spcAft>
              <a:buNone/>
            </a:pPr>
            <a:endParaRP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Shape 882"/>
        <p:cNvGrpSpPr/>
        <p:nvPr/>
      </p:nvGrpSpPr>
      <p:grpSpPr>
        <a:xfrm>
          <a:off x="0" y="0"/>
          <a:ext cx="0" cy="0"/>
          <a:chOff x="0" y="0"/>
          <a:chExt cx="0" cy="0"/>
        </a:xfrm>
      </p:grpSpPr>
      <p:sp>
        <p:nvSpPr>
          <p:cNvPr id="883" name="Google Shape;883;p147"/>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What is Data??</a:t>
            </a:r>
            <a:endParaRPr/>
          </a:p>
        </p:txBody>
      </p:sp>
      <p:sp>
        <p:nvSpPr>
          <p:cNvPr id="884" name="Google Shape;884;p147"/>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a:solidFill>
                  <a:srgbClr val="434343"/>
                </a:solidFill>
                <a:highlight>
                  <a:srgbClr val="FFFFFF"/>
                </a:highlight>
                <a:latin typeface="Arial"/>
                <a:ea typeface="Arial"/>
                <a:cs typeface="Arial"/>
                <a:sym typeface="Arial"/>
              </a:rPr>
              <a:t>Data are measurements or observations that are collected as a source of information.</a:t>
            </a:r>
            <a:r>
              <a:rPr lang="de-CH">
                <a:solidFill>
                  <a:srgbClr val="434343"/>
                </a:solidFill>
                <a:highlight>
                  <a:srgbClr val="FFFFFF"/>
                </a:highlight>
                <a:latin typeface="Arial"/>
                <a:ea typeface="Arial"/>
                <a:cs typeface="Arial"/>
                <a:sym typeface="Arial"/>
              </a:rPr>
              <a:t> </a:t>
            </a:r>
            <a:endParaRPr>
              <a:solidFill>
                <a:srgbClr val="434343"/>
              </a:solidFill>
              <a:highlight>
                <a:srgbClr val="FFFFFF"/>
              </a:highlight>
              <a:latin typeface="Arial"/>
              <a:ea typeface="Arial"/>
              <a:cs typeface="Arial"/>
              <a:sym typeface="Arial"/>
            </a:endParaRPr>
          </a:p>
          <a:p>
            <a:pPr marL="0" lvl="0" indent="0" algn="l" rtl="0">
              <a:spcBef>
                <a:spcPts val="1600"/>
              </a:spcBef>
              <a:spcAft>
                <a:spcPts val="0"/>
              </a:spcAft>
              <a:buNone/>
            </a:pPr>
            <a:r>
              <a:rPr lang="de-CH">
                <a:solidFill>
                  <a:srgbClr val="434343"/>
                </a:solidFill>
                <a:highlight>
                  <a:srgbClr val="FFFFFF"/>
                </a:highlight>
                <a:latin typeface="Arial"/>
                <a:ea typeface="Arial"/>
                <a:cs typeface="Arial"/>
                <a:sym typeface="Arial"/>
              </a:rPr>
              <a:t>There are a variety of different types of data, and different ways to represent data.</a:t>
            </a:r>
            <a:endParaRPr>
              <a:solidFill>
                <a:srgbClr val="434343"/>
              </a:solidFill>
              <a:highlight>
                <a:srgbClr val="FFFFFF"/>
              </a:highlight>
              <a:latin typeface="Arial"/>
              <a:ea typeface="Arial"/>
              <a:cs typeface="Arial"/>
              <a:sym typeface="Arial"/>
            </a:endParaRPr>
          </a:p>
          <a:p>
            <a:pPr marL="0" lvl="0" indent="0" algn="l" rtl="0">
              <a:spcBef>
                <a:spcPts val="1600"/>
              </a:spcBef>
              <a:spcAft>
                <a:spcPts val="0"/>
              </a:spcAft>
              <a:buNone/>
            </a:pPr>
            <a:r>
              <a:rPr lang="de-CH">
                <a:solidFill>
                  <a:srgbClr val="434343"/>
                </a:solidFill>
                <a:highlight>
                  <a:srgbClr val="FFFFFF"/>
                </a:highlight>
                <a:latin typeface="Arial"/>
                <a:ea typeface="Arial"/>
                <a:cs typeface="Arial"/>
                <a:sym typeface="Arial"/>
              </a:rPr>
              <a:t>Eg:</a:t>
            </a:r>
            <a:endParaRPr>
              <a:solidFill>
                <a:srgbClr val="434343"/>
              </a:solidFill>
              <a:highlight>
                <a:srgbClr val="FFFFFF"/>
              </a:highlight>
              <a:latin typeface="Arial"/>
              <a:ea typeface="Arial"/>
              <a:cs typeface="Arial"/>
              <a:sym typeface="Arial"/>
            </a:endParaRPr>
          </a:p>
          <a:p>
            <a:pPr marL="0" lvl="0" indent="0" algn="l" rtl="0">
              <a:spcBef>
                <a:spcPts val="1600"/>
              </a:spcBef>
              <a:spcAft>
                <a:spcPts val="0"/>
              </a:spcAft>
              <a:buClr>
                <a:schemeClr val="dk1"/>
              </a:buClr>
              <a:buSzPts val="1100"/>
              <a:buFont typeface="Arial"/>
              <a:buNone/>
            </a:pPr>
            <a:r>
              <a:rPr lang="de-CH">
                <a:solidFill>
                  <a:srgbClr val="333333"/>
                </a:solidFill>
                <a:highlight>
                  <a:srgbClr val="FFFFFF"/>
                </a:highlight>
                <a:latin typeface="Arial"/>
                <a:ea typeface="Arial"/>
                <a:cs typeface="Arial"/>
                <a:sym typeface="Arial"/>
              </a:rPr>
              <a:t>The value of sales of a particular product, or the number of times India has won a cricket match, are all examples of data.</a:t>
            </a:r>
            <a:endParaRPr>
              <a:solidFill>
                <a:srgbClr val="333333"/>
              </a:solidFill>
              <a:highlight>
                <a:srgbClr val="FFFFFF"/>
              </a:highlight>
              <a:latin typeface="Arial"/>
              <a:ea typeface="Arial"/>
              <a:cs typeface="Arial"/>
              <a:sym typeface="Arial"/>
            </a:endParaRPr>
          </a:p>
          <a:p>
            <a:pPr marL="0" lvl="0" indent="0" algn="l" rtl="0">
              <a:spcBef>
                <a:spcPts val="1600"/>
              </a:spcBef>
              <a:spcAft>
                <a:spcPts val="1600"/>
              </a:spcAft>
              <a:buNone/>
            </a:pPr>
            <a:endParaRPr>
              <a:solidFill>
                <a:srgbClr val="434343"/>
              </a:solidFill>
              <a:highlight>
                <a:srgbClr val="FFFFFF"/>
              </a:highlight>
              <a:latin typeface="Arial"/>
              <a:ea typeface="Arial"/>
              <a:cs typeface="Arial"/>
              <a:sym typeface="Arial"/>
            </a:endParaRP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Shape 888"/>
        <p:cNvGrpSpPr/>
        <p:nvPr/>
      </p:nvGrpSpPr>
      <p:grpSpPr>
        <a:xfrm>
          <a:off x="0" y="0"/>
          <a:ext cx="0" cy="0"/>
          <a:chOff x="0" y="0"/>
          <a:chExt cx="0" cy="0"/>
        </a:xfrm>
      </p:grpSpPr>
      <p:sp>
        <p:nvSpPr>
          <p:cNvPr id="889" name="Google Shape;889;p148"/>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Data..</a:t>
            </a:r>
            <a:endParaRPr/>
          </a:p>
        </p:txBody>
      </p:sp>
      <p:sp>
        <p:nvSpPr>
          <p:cNvPr id="890" name="Google Shape;890;p148"/>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a:t>Data unit</a:t>
            </a:r>
            <a:r>
              <a:rPr lang="de-CH"/>
              <a:t>: </a:t>
            </a:r>
            <a:r>
              <a:rPr lang="de-CH" sz="1400" b="1">
                <a:highlight>
                  <a:srgbClr val="FFFFFF"/>
                </a:highlight>
                <a:latin typeface="Arial"/>
                <a:ea typeface="Arial"/>
                <a:cs typeface="Arial"/>
                <a:sym typeface="Arial"/>
              </a:rPr>
              <a:t>A data unit is one entity in the set of all data (population)being studied, about which data are collected.</a:t>
            </a:r>
            <a:r>
              <a:rPr lang="de-CH" sz="1400">
                <a:highlight>
                  <a:srgbClr val="FFFFFF"/>
                </a:highlight>
                <a:latin typeface="Arial"/>
                <a:ea typeface="Arial"/>
                <a:cs typeface="Arial"/>
                <a:sym typeface="Arial"/>
              </a:rPr>
              <a:t> A data unit is also referred to as a unit record or record.</a:t>
            </a:r>
            <a:endParaRPr sz="1400">
              <a:highlight>
                <a:srgbClr val="FFFFFF"/>
              </a:highlight>
              <a:latin typeface="Arial"/>
              <a:ea typeface="Arial"/>
              <a:cs typeface="Arial"/>
              <a:sym typeface="Arial"/>
            </a:endParaRPr>
          </a:p>
          <a:p>
            <a:pPr marL="0" lvl="0" indent="0" algn="l" rtl="0">
              <a:spcBef>
                <a:spcPts val="1600"/>
              </a:spcBef>
              <a:spcAft>
                <a:spcPts val="0"/>
              </a:spcAft>
              <a:buNone/>
            </a:pPr>
            <a:r>
              <a:rPr lang="de-CH" b="1">
                <a:highlight>
                  <a:srgbClr val="FFFFFF"/>
                </a:highlight>
                <a:latin typeface="Arial"/>
                <a:ea typeface="Arial"/>
                <a:cs typeface="Arial"/>
                <a:sym typeface="Arial"/>
              </a:rPr>
              <a:t>Data Item:</a:t>
            </a:r>
            <a:r>
              <a:rPr lang="de-CH" sz="1400" b="1">
                <a:highlight>
                  <a:srgbClr val="FFFFFF"/>
                </a:highlight>
                <a:latin typeface="Arial"/>
                <a:ea typeface="Arial"/>
                <a:cs typeface="Arial"/>
                <a:sym typeface="Arial"/>
              </a:rPr>
              <a:t> A data item is a characteristic (or attribute) of a data unit which is measured or counted, such as height, country of birth, or income. </a:t>
            </a:r>
            <a:r>
              <a:rPr lang="de-CH" sz="1400">
                <a:highlight>
                  <a:srgbClr val="FFFFFF"/>
                </a:highlight>
                <a:latin typeface="Arial"/>
                <a:ea typeface="Arial"/>
                <a:cs typeface="Arial"/>
                <a:sym typeface="Arial"/>
              </a:rPr>
              <a:t>A data item is also referred to as a </a:t>
            </a:r>
            <a:r>
              <a:rPr lang="de-CH" sz="1400" b="1">
                <a:highlight>
                  <a:srgbClr val="FFFFFF"/>
                </a:highlight>
                <a:uFill>
                  <a:noFill/>
                </a:uFill>
                <a:latin typeface="Arial"/>
                <a:ea typeface="Arial"/>
                <a:cs typeface="Arial"/>
                <a:sym typeface="Arial"/>
                <a:hlinkClick r:id="rId3"/>
              </a:rPr>
              <a:t>variable</a:t>
            </a:r>
            <a:r>
              <a:rPr lang="de-CH" sz="1400">
                <a:highlight>
                  <a:srgbClr val="FFFFFF"/>
                </a:highlight>
                <a:latin typeface="Arial"/>
                <a:ea typeface="Arial"/>
                <a:cs typeface="Arial"/>
                <a:sym typeface="Arial"/>
              </a:rPr>
              <a:t> because the characteristic may vary between data units, and may vary over time.</a:t>
            </a:r>
            <a:endParaRPr sz="1400">
              <a:highlight>
                <a:srgbClr val="FFFFFF"/>
              </a:highlight>
              <a:latin typeface="Arial"/>
              <a:ea typeface="Arial"/>
              <a:cs typeface="Arial"/>
              <a:sym typeface="Arial"/>
            </a:endParaRPr>
          </a:p>
          <a:p>
            <a:pPr marL="0" lvl="0" indent="0" algn="l" rtl="0">
              <a:spcBef>
                <a:spcPts val="1600"/>
              </a:spcBef>
              <a:spcAft>
                <a:spcPts val="0"/>
              </a:spcAft>
              <a:buClr>
                <a:schemeClr val="dk1"/>
              </a:buClr>
              <a:buSzPts val="1100"/>
              <a:buFont typeface="Arial"/>
              <a:buNone/>
            </a:pPr>
            <a:r>
              <a:rPr lang="de-CH" b="1">
                <a:highlight>
                  <a:srgbClr val="FFFFFF"/>
                </a:highlight>
                <a:latin typeface="Arial"/>
                <a:ea typeface="Arial"/>
                <a:cs typeface="Arial"/>
                <a:sym typeface="Arial"/>
              </a:rPr>
              <a:t>Observation</a:t>
            </a:r>
            <a:r>
              <a:rPr lang="de-CH" sz="1400" b="1">
                <a:highlight>
                  <a:srgbClr val="FFFFFF"/>
                </a:highlight>
                <a:latin typeface="Arial"/>
                <a:ea typeface="Arial"/>
                <a:cs typeface="Arial"/>
                <a:sym typeface="Arial"/>
              </a:rPr>
              <a:t>:An observation is an occurrence of a specific data item that is recorded about a data unit</a:t>
            </a:r>
            <a:r>
              <a:rPr lang="de-CH" sz="1000" b="1">
                <a:highlight>
                  <a:srgbClr val="FFFFFF"/>
                </a:highlight>
                <a:latin typeface="Arial"/>
                <a:ea typeface="Arial"/>
                <a:cs typeface="Arial"/>
                <a:sym typeface="Arial"/>
              </a:rPr>
              <a:t>.</a:t>
            </a:r>
            <a:endParaRPr sz="1400">
              <a:highlight>
                <a:srgbClr val="FFFFFF"/>
              </a:highlight>
              <a:latin typeface="Arial"/>
              <a:ea typeface="Arial"/>
              <a:cs typeface="Arial"/>
              <a:sym typeface="Arial"/>
            </a:endParaRPr>
          </a:p>
          <a:p>
            <a:pPr marL="0" lvl="0" indent="0" algn="l" rtl="0">
              <a:spcBef>
                <a:spcPts val="1600"/>
              </a:spcBef>
              <a:spcAft>
                <a:spcPts val="0"/>
              </a:spcAft>
              <a:buNone/>
            </a:pPr>
            <a:r>
              <a:rPr lang="de-CH" b="1">
                <a:highlight>
                  <a:srgbClr val="FFFFFF"/>
                </a:highlight>
                <a:latin typeface="Arial"/>
                <a:ea typeface="Arial"/>
                <a:cs typeface="Arial"/>
                <a:sym typeface="Arial"/>
              </a:rPr>
              <a:t>DATASET </a:t>
            </a:r>
            <a:r>
              <a:rPr lang="de-CH" sz="1400" b="1">
                <a:highlight>
                  <a:srgbClr val="FFFFFF"/>
                </a:highlight>
                <a:latin typeface="Arial"/>
                <a:ea typeface="Arial"/>
                <a:cs typeface="Arial"/>
                <a:sym typeface="Arial"/>
              </a:rPr>
              <a:t>: A dataset is a complete collection of all observations.</a:t>
            </a:r>
            <a:endParaRPr sz="1400">
              <a:highlight>
                <a:srgbClr val="FFFFFF"/>
              </a:highlight>
              <a:latin typeface="Arial"/>
              <a:ea typeface="Arial"/>
              <a:cs typeface="Arial"/>
              <a:sym typeface="Arial"/>
            </a:endParaRPr>
          </a:p>
          <a:p>
            <a:pPr marL="0" lvl="0" indent="0" algn="l" rtl="0">
              <a:spcBef>
                <a:spcPts val="1600"/>
              </a:spcBef>
              <a:spcAft>
                <a:spcPts val="1600"/>
              </a:spcAft>
              <a:buNone/>
            </a:pPr>
            <a:endParaRPr>
              <a:solidFill>
                <a:srgbClr val="000000"/>
              </a:solidFill>
            </a:endParaRP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Shape 894"/>
        <p:cNvGrpSpPr/>
        <p:nvPr/>
      </p:nvGrpSpPr>
      <p:grpSpPr>
        <a:xfrm>
          <a:off x="0" y="0"/>
          <a:ext cx="0" cy="0"/>
          <a:chOff x="0" y="0"/>
          <a:chExt cx="0" cy="0"/>
        </a:xfrm>
      </p:grpSpPr>
      <p:sp>
        <p:nvSpPr>
          <p:cNvPr id="895" name="Google Shape;895;p149"/>
          <p:cNvSpPr txBox="1">
            <a:spLocks noGrp="1"/>
          </p:cNvSpPr>
          <p:nvPr>
            <p:ph type="title"/>
          </p:nvPr>
        </p:nvSpPr>
        <p:spPr>
          <a:xfrm>
            <a:off x="311700" y="114800"/>
            <a:ext cx="8520600" cy="8313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a:t>
            </a:r>
            <a:endParaRPr/>
          </a:p>
        </p:txBody>
      </p:sp>
      <p:sp>
        <p:nvSpPr>
          <p:cNvPr id="896" name="Google Shape;896;p149"/>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897" name="Google Shape;897;p149"/>
          <p:cNvPicPr preferRelativeResize="0"/>
          <p:nvPr/>
        </p:nvPicPr>
        <p:blipFill>
          <a:blip r:embed="rId3">
            <a:alphaModFix/>
          </a:blip>
          <a:stretch>
            <a:fillRect/>
          </a:stretch>
        </p:blipFill>
        <p:spPr>
          <a:xfrm>
            <a:off x="271063" y="946112"/>
            <a:ext cx="8601875" cy="3486775"/>
          </a:xfrm>
          <a:prstGeom prst="rect">
            <a:avLst/>
          </a:prstGeom>
          <a:noFill/>
          <a:ln>
            <a:noFill/>
          </a:ln>
        </p:spPr>
      </p:pic>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Shape 901"/>
        <p:cNvGrpSpPr/>
        <p:nvPr/>
      </p:nvGrpSpPr>
      <p:grpSpPr>
        <a:xfrm>
          <a:off x="0" y="0"/>
          <a:ext cx="0" cy="0"/>
          <a:chOff x="0" y="0"/>
          <a:chExt cx="0" cy="0"/>
        </a:xfrm>
      </p:grpSpPr>
      <p:sp>
        <p:nvSpPr>
          <p:cNvPr id="902" name="Google Shape;902;p150"/>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Quantitative and qualitative data..</a:t>
            </a:r>
            <a:endParaRPr/>
          </a:p>
        </p:txBody>
      </p:sp>
      <p:sp>
        <p:nvSpPr>
          <p:cNvPr id="903" name="Google Shape;903;p150"/>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endParaRPr sz="1200" b="1">
              <a:solidFill>
                <a:srgbClr val="620042"/>
              </a:solidFill>
              <a:highlight>
                <a:srgbClr val="FFFFFF"/>
              </a:highlight>
              <a:latin typeface="Arial"/>
              <a:ea typeface="Arial"/>
              <a:cs typeface="Arial"/>
              <a:sym typeface="Arial"/>
            </a:endParaRPr>
          </a:p>
          <a:p>
            <a:pPr marL="0" lvl="0" indent="0" algn="l" rtl="0">
              <a:lnSpc>
                <a:spcPct val="100000"/>
              </a:lnSpc>
              <a:spcBef>
                <a:spcPts val="0"/>
              </a:spcBef>
              <a:spcAft>
                <a:spcPts val="0"/>
              </a:spcAft>
              <a:buNone/>
            </a:pPr>
            <a:endParaRPr sz="1200" b="1">
              <a:solidFill>
                <a:srgbClr val="620042"/>
              </a:solidFill>
              <a:highlight>
                <a:srgbClr val="FFFFFF"/>
              </a:highlight>
              <a:latin typeface="Arial"/>
              <a:ea typeface="Arial"/>
              <a:cs typeface="Arial"/>
              <a:sym typeface="Arial"/>
            </a:endParaRPr>
          </a:p>
          <a:p>
            <a:pPr marL="0" lvl="0" indent="0" algn="l" rtl="0">
              <a:lnSpc>
                <a:spcPct val="100000"/>
              </a:lnSpc>
              <a:spcBef>
                <a:spcPts val="0"/>
              </a:spcBef>
              <a:spcAft>
                <a:spcPts val="0"/>
              </a:spcAft>
              <a:buNone/>
            </a:pPr>
            <a:r>
              <a:rPr lang="de-CH" b="1">
                <a:solidFill>
                  <a:srgbClr val="434343"/>
                </a:solidFill>
                <a:highlight>
                  <a:srgbClr val="FFFFFF"/>
                </a:highlight>
                <a:latin typeface="Arial"/>
                <a:ea typeface="Arial"/>
                <a:cs typeface="Arial"/>
                <a:sym typeface="Arial"/>
              </a:rPr>
              <a:t>Quantitative data</a:t>
            </a:r>
            <a:r>
              <a:rPr lang="de-CH" sz="1400" b="1">
                <a:solidFill>
                  <a:srgbClr val="434343"/>
                </a:solidFill>
                <a:highlight>
                  <a:srgbClr val="FFFFFF"/>
                </a:highlight>
                <a:latin typeface="Arial"/>
                <a:ea typeface="Arial"/>
                <a:cs typeface="Arial"/>
                <a:sym typeface="Arial"/>
              </a:rPr>
              <a:t> are measures of values or counts and are expressed as numbers.</a:t>
            </a:r>
            <a:endParaRPr sz="1400" b="1">
              <a:solidFill>
                <a:srgbClr val="434343"/>
              </a:solidFill>
              <a:highlight>
                <a:srgbClr val="FFFFFF"/>
              </a:highlight>
              <a:latin typeface="Arial"/>
              <a:ea typeface="Arial"/>
              <a:cs typeface="Arial"/>
              <a:sym typeface="Arial"/>
            </a:endParaRPr>
          </a:p>
          <a:p>
            <a:pPr marL="0" lvl="0" indent="0" algn="l" rtl="0">
              <a:lnSpc>
                <a:spcPct val="100000"/>
              </a:lnSpc>
              <a:spcBef>
                <a:spcPts val="0"/>
              </a:spcBef>
              <a:spcAft>
                <a:spcPts val="0"/>
              </a:spcAft>
              <a:buNone/>
            </a:pPr>
            <a:endParaRPr sz="1400">
              <a:solidFill>
                <a:srgbClr val="434343"/>
              </a:solidFill>
              <a:highlight>
                <a:srgbClr val="FFFFFF"/>
              </a:highlight>
              <a:latin typeface="Arial"/>
              <a:ea typeface="Arial"/>
              <a:cs typeface="Arial"/>
              <a:sym typeface="Arial"/>
            </a:endParaRPr>
          </a:p>
          <a:p>
            <a:pPr marL="0" lvl="0" indent="0" algn="l" rtl="0">
              <a:lnSpc>
                <a:spcPct val="100000"/>
              </a:lnSpc>
              <a:spcBef>
                <a:spcPts val="0"/>
              </a:spcBef>
              <a:spcAft>
                <a:spcPts val="0"/>
              </a:spcAft>
              <a:buNone/>
            </a:pPr>
            <a:r>
              <a:rPr lang="de-CH" sz="1400">
                <a:solidFill>
                  <a:srgbClr val="434343"/>
                </a:solidFill>
                <a:highlight>
                  <a:srgbClr val="FFFFFF"/>
                </a:highlight>
                <a:latin typeface="Arial"/>
                <a:ea typeface="Arial"/>
                <a:cs typeface="Arial"/>
                <a:sym typeface="Arial"/>
              </a:rPr>
              <a:t>Quantitative data are data about </a:t>
            </a:r>
            <a:r>
              <a:rPr lang="de-CH" sz="1400" b="1">
                <a:solidFill>
                  <a:srgbClr val="434343"/>
                </a:solidFill>
                <a:highlight>
                  <a:srgbClr val="FFFFFF"/>
                </a:highlight>
                <a:latin typeface="Arial"/>
                <a:ea typeface="Arial"/>
                <a:cs typeface="Arial"/>
                <a:sym typeface="Arial"/>
              </a:rPr>
              <a:t>numeric variables</a:t>
            </a:r>
            <a:r>
              <a:rPr lang="de-CH" sz="1400">
                <a:solidFill>
                  <a:srgbClr val="434343"/>
                </a:solidFill>
                <a:highlight>
                  <a:srgbClr val="FFFFFF"/>
                </a:highlight>
                <a:latin typeface="Arial"/>
                <a:ea typeface="Arial"/>
                <a:cs typeface="Arial"/>
                <a:sym typeface="Arial"/>
              </a:rPr>
              <a:t> (e.g. how many; how much; or how often).</a:t>
            </a:r>
            <a:endParaRPr sz="1400">
              <a:solidFill>
                <a:srgbClr val="434343"/>
              </a:solidFill>
              <a:highlight>
                <a:srgbClr val="FFFFFF"/>
              </a:highlight>
              <a:latin typeface="Arial"/>
              <a:ea typeface="Arial"/>
              <a:cs typeface="Arial"/>
              <a:sym typeface="Arial"/>
            </a:endParaRPr>
          </a:p>
          <a:p>
            <a:pPr marL="0" lvl="0" indent="0" algn="l" rtl="0">
              <a:lnSpc>
                <a:spcPct val="100000"/>
              </a:lnSpc>
              <a:spcBef>
                <a:spcPts val="0"/>
              </a:spcBef>
              <a:spcAft>
                <a:spcPts val="0"/>
              </a:spcAft>
              <a:buNone/>
            </a:pPr>
            <a:endParaRPr sz="1400">
              <a:solidFill>
                <a:srgbClr val="434343"/>
              </a:solidFill>
              <a:highlight>
                <a:srgbClr val="FFFFFF"/>
              </a:highlight>
              <a:latin typeface="Arial"/>
              <a:ea typeface="Arial"/>
              <a:cs typeface="Arial"/>
              <a:sym typeface="Arial"/>
            </a:endParaRPr>
          </a:p>
          <a:p>
            <a:pPr marL="0" lvl="0" indent="0" algn="l" rtl="0">
              <a:lnSpc>
                <a:spcPct val="100000"/>
              </a:lnSpc>
              <a:spcBef>
                <a:spcPts val="0"/>
              </a:spcBef>
              <a:spcAft>
                <a:spcPts val="0"/>
              </a:spcAft>
              <a:buNone/>
            </a:pPr>
            <a:endParaRPr sz="1400">
              <a:solidFill>
                <a:srgbClr val="434343"/>
              </a:solidFill>
              <a:highlight>
                <a:srgbClr val="FFFFFF"/>
              </a:highlight>
              <a:latin typeface="Arial"/>
              <a:ea typeface="Arial"/>
              <a:cs typeface="Arial"/>
              <a:sym typeface="Arial"/>
            </a:endParaRPr>
          </a:p>
          <a:p>
            <a:pPr marL="0" lvl="0" indent="0" algn="l" rtl="0">
              <a:lnSpc>
                <a:spcPct val="100000"/>
              </a:lnSpc>
              <a:spcBef>
                <a:spcPts val="0"/>
              </a:spcBef>
              <a:spcAft>
                <a:spcPts val="0"/>
              </a:spcAft>
              <a:buNone/>
            </a:pPr>
            <a:r>
              <a:rPr lang="de-CH" b="1">
                <a:solidFill>
                  <a:srgbClr val="434343"/>
                </a:solidFill>
                <a:highlight>
                  <a:srgbClr val="FFFFFF"/>
                </a:highlight>
                <a:latin typeface="Arial"/>
                <a:ea typeface="Arial"/>
                <a:cs typeface="Arial"/>
                <a:sym typeface="Arial"/>
              </a:rPr>
              <a:t>Qualitative data</a:t>
            </a:r>
            <a:r>
              <a:rPr lang="de-CH" sz="1400" b="1">
                <a:solidFill>
                  <a:srgbClr val="434343"/>
                </a:solidFill>
                <a:highlight>
                  <a:srgbClr val="FFFFFF"/>
                </a:highlight>
                <a:latin typeface="Arial"/>
                <a:ea typeface="Arial"/>
                <a:cs typeface="Arial"/>
                <a:sym typeface="Arial"/>
              </a:rPr>
              <a:t> are measures of 'types' and may be represented by a name, symbol, or a number code.</a:t>
            </a:r>
            <a:endParaRPr sz="1400" b="1">
              <a:solidFill>
                <a:srgbClr val="434343"/>
              </a:solidFill>
              <a:highlight>
                <a:srgbClr val="FFFFFF"/>
              </a:highlight>
              <a:latin typeface="Arial"/>
              <a:ea typeface="Arial"/>
              <a:cs typeface="Arial"/>
              <a:sym typeface="Arial"/>
            </a:endParaRPr>
          </a:p>
          <a:p>
            <a:pPr marL="0" lvl="0" indent="0" algn="l" rtl="0">
              <a:lnSpc>
                <a:spcPct val="100000"/>
              </a:lnSpc>
              <a:spcBef>
                <a:spcPts val="0"/>
              </a:spcBef>
              <a:spcAft>
                <a:spcPts val="0"/>
              </a:spcAft>
              <a:buNone/>
            </a:pPr>
            <a:endParaRPr sz="1400">
              <a:solidFill>
                <a:srgbClr val="434343"/>
              </a:solidFill>
              <a:highlight>
                <a:srgbClr val="FFFFFF"/>
              </a:highlight>
              <a:latin typeface="Arial"/>
              <a:ea typeface="Arial"/>
              <a:cs typeface="Arial"/>
              <a:sym typeface="Arial"/>
            </a:endParaRPr>
          </a:p>
          <a:p>
            <a:pPr marL="0" lvl="0" indent="0" algn="l" rtl="0">
              <a:lnSpc>
                <a:spcPct val="100000"/>
              </a:lnSpc>
              <a:spcBef>
                <a:spcPts val="0"/>
              </a:spcBef>
              <a:spcAft>
                <a:spcPts val="0"/>
              </a:spcAft>
              <a:buNone/>
            </a:pPr>
            <a:r>
              <a:rPr lang="de-CH" sz="1400">
                <a:solidFill>
                  <a:srgbClr val="434343"/>
                </a:solidFill>
                <a:highlight>
                  <a:srgbClr val="FFFFFF"/>
                </a:highlight>
                <a:latin typeface="Arial"/>
                <a:ea typeface="Arial"/>
                <a:cs typeface="Arial"/>
                <a:sym typeface="Arial"/>
              </a:rPr>
              <a:t>Qualitative data are data about </a:t>
            </a:r>
            <a:r>
              <a:rPr lang="de-CH" sz="1400" b="1">
                <a:solidFill>
                  <a:srgbClr val="434343"/>
                </a:solidFill>
                <a:highlight>
                  <a:srgbClr val="FFFFFF"/>
                </a:highlight>
                <a:latin typeface="Arial"/>
                <a:ea typeface="Arial"/>
                <a:cs typeface="Arial"/>
                <a:sym typeface="Arial"/>
              </a:rPr>
              <a:t>categorical variables</a:t>
            </a:r>
            <a:r>
              <a:rPr lang="de-CH" sz="1400">
                <a:solidFill>
                  <a:srgbClr val="434343"/>
                </a:solidFill>
                <a:highlight>
                  <a:srgbClr val="FFFFFF"/>
                </a:highlight>
                <a:latin typeface="Arial"/>
                <a:ea typeface="Arial"/>
                <a:cs typeface="Arial"/>
                <a:sym typeface="Arial"/>
              </a:rPr>
              <a:t> (e.g. what type).</a:t>
            </a:r>
            <a:endParaRPr sz="1400">
              <a:solidFill>
                <a:srgbClr val="434343"/>
              </a:solidFill>
              <a:highlight>
                <a:srgbClr val="FFFFFF"/>
              </a:highlight>
              <a:latin typeface="Arial"/>
              <a:ea typeface="Arial"/>
              <a:cs typeface="Arial"/>
              <a:sym typeface="Arial"/>
            </a:endParaRPr>
          </a:p>
          <a:p>
            <a:pPr marL="0" lvl="0" indent="0" algn="ctr" rtl="0">
              <a:spcBef>
                <a:spcPts val="0"/>
              </a:spcBef>
              <a:spcAft>
                <a:spcPts val="0"/>
              </a:spcAft>
              <a:buNone/>
            </a:pPr>
            <a:r>
              <a:rPr lang="de-CH" b="1">
                <a:solidFill>
                  <a:srgbClr val="000000"/>
                </a:solidFill>
                <a:highlight>
                  <a:srgbClr val="FFFFFF"/>
                </a:highlight>
                <a:latin typeface="Arial"/>
                <a:ea typeface="Arial"/>
                <a:cs typeface="Arial"/>
                <a:sym typeface="Arial"/>
              </a:rPr>
              <a:t>Quantitative = Quantity</a:t>
            </a:r>
            <a:endParaRPr b="1">
              <a:solidFill>
                <a:srgbClr val="000000"/>
              </a:solidFill>
              <a:highlight>
                <a:srgbClr val="FFFFFF"/>
              </a:highlight>
              <a:latin typeface="Arial"/>
              <a:ea typeface="Arial"/>
              <a:cs typeface="Arial"/>
              <a:sym typeface="Arial"/>
            </a:endParaRPr>
          </a:p>
          <a:p>
            <a:pPr marL="0" lvl="0" indent="0" algn="ctr" rtl="0">
              <a:spcBef>
                <a:spcPts val="0"/>
              </a:spcBef>
              <a:spcAft>
                <a:spcPts val="0"/>
              </a:spcAft>
              <a:buNone/>
            </a:pPr>
            <a:r>
              <a:rPr lang="de-CH" b="1">
                <a:solidFill>
                  <a:srgbClr val="000000"/>
                </a:solidFill>
                <a:highlight>
                  <a:srgbClr val="FFFFFF"/>
                </a:highlight>
                <a:latin typeface="Arial"/>
                <a:ea typeface="Arial"/>
                <a:cs typeface="Arial"/>
                <a:sym typeface="Arial"/>
              </a:rPr>
              <a:t>Qualitative = Quality</a:t>
            </a:r>
            <a:endParaRPr b="1">
              <a:solidFill>
                <a:srgbClr val="000000"/>
              </a:solidFill>
              <a:highlight>
                <a:srgbClr val="FFFFFF"/>
              </a:highlight>
              <a:latin typeface="Arial"/>
              <a:ea typeface="Arial"/>
              <a:cs typeface="Arial"/>
              <a:sym typeface="Arial"/>
            </a:endParaRPr>
          </a:p>
          <a:p>
            <a:pPr marL="0" lvl="0" indent="0" algn="l" rtl="0">
              <a:spcBef>
                <a:spcPts val="0"/>
              </a:spcBef>
              <a:spcAft>
                <a:spcPts val="0"/>
              </a:spcAft>
              <a:buNone/>
            </a:pPr>
            <a:endParaRPr b="1">
              <a:solidFill>
                <a:srgbClr val="000000"/>
              </a:solidFill>
              <a:highlight>
                <a:srgbClr val="FFFFFF"/>
              </a:highlight>
              <a:latin typeface="Arial"/>
              <a:ea typeface="Arial"/>
              <a:cs typeface="Arial"/>
              <a:sym typeface="Arial"/>
            </a:endParaRPr>
          </a:p>
          <a:p>
            <a:pPr marL="0" lvl="0" indent="0" algn="l" rtl="0">
              <a:spcBef>
                <a:spcPts val="0"/>
              </a:spcBef>
              <a:spcAft>
                <a:spcPts val="1600"/>
              </a:spcAft>
              <a:buNone/>
            </a:pPr>
            <a:endParaRPr sz="1400">
              <a:latin typeface="Arial"/>
              <a:ea typeface="Arial"/>
              <a:cs typeface="Arial"/>
              <a:sym typeface="Arial"/>
            </a:endParaRP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Shape 907"/>
        <p:cNvGrpSpPr/>
        <p:nvPr/>
      </p:nvGrpSpPr>
      <p:grpSpPr>
        <a:xfrm>
          <a:off x="0" y="0"/>
          <a:ext cx="0" cy="0"/>
          <a:chOff x="0" y="0"/>
          <a:chExt cx="0" cy="0"/>
        </a:xfrm>
      </p:grpSpPr>
      <p:sp>
        <p:nvSpPr>
          <p:cNvPr id="908" name="Google Shape;908;p151"/>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VARIABLE..</a:t>
            </a:r>
            <a:endParaRPr/>
          </a:p>
        </p:txBody>
      </p:sp>
      <p:sp>
        <p:nvSpPr>
          <p:cNvPr id="909" name="Google Shape;909;p151"/>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a:solidFill>
                  <a:srgbClr val="434343"/>
                </a:solidFill>
                <a:highlight>
                  <a:srgbClr val="FFFFFF"/>
                </a:highlight>
                <a:latin typeface="Arial"/>
                <a:ea typeface="Arial"/>
                <a:cs typeface="Arial"/>
                <a:sym typeface="Arial"/>
              </a:rPr>
              <a:t>A variable is any characteristics, number, or quantity that can be measured or counted</a:t>
            </a:r>
            <a:r>
              <a:rPr lang="de-CH">
                <a:solidFill>
                  <a:srgbClr val="434343"/>
                </a:solidFill>
                <a:highlight>
                  <a:srgbClr val="FFFFFF"/>
                </a:highlight>
                <a:latin typeface="Arial"/>
                <a:ea typeface="Arial"/>
                <a:cs typeface="Arial"/>
                <a:sym typeface="Arial"/>
              </a:rPr>
              <a:t>. </a:t>
            </a:r>
            <a:endParaRPr>
              <a:solidFill>
                <a:srgbClr val="434343"/>
              </a:solidFill>
              <a:highlight>
                <a:srgbClr val="FFFFFF"/>
              </a:highlight>
              <a:latin typeface="Arial"/>
              <a:ea typeface="Arial"/>
              <a:cs typeface="Arial"/>
              <a:sym typeface="Arial"/>
            </a:endParaRPr>
          </a:p>
          <a:p>
            <a:pPr marL="0" lvl="0" indent="0" algn="l" rtl="0">
              <a:spcBef>
                <a:spcPts val="1600"/>
              </a:spcBef>
              <a:spcAft>
                <a:spcPts val="0"/>
              </a:spcAft>
              <a:buNone/>
            </a:pPr>
            <a:r>
              <a:rPr lang="de-CH">
                <a:solidFill>
                  <a:srgbClr val="434343"/>
                </a:solidFill>
                <a:highlight>
                  <a:srgbClr val="FFFFFF"/>
                </a:highlight>
                <a:latin typeface="Arial"/>
                <a:ea typeface="Arial"/>
                <a:cs typeface="Arial"/>
                <a:sym typeface="Arial"/>
              </a:rPr>
              <a:t>A variable may also be called a</a:t>
            </a:r>
            <a:r>
              <a:rPr lang="de-CH" b="1">
                <a:solidFill>
                  <a:srgbClr val="434343"/>
                </a:solidFill>
                <a:highlight>
                  <a:srgbClr val="FFFFFF"/>
                </a:highlight>
                <a:latin typeface="Arial"/>
                <a:ea typeface="Arial"/>
                <a:cs typeface="Arial"/>
                <a:sym typeface="Arial"/>
              </a:rPr>
              <a:t> data item</a:t>
            </a:r>
            <a:r>
              <a:rPr lang="de-CH">
                <a:solidFill>
                  <a:srgbClr val="434343"/>
                </a:solidFill>
                <a:highlight>
                  <a:srgbClr val="FFFFFF"/>
                </a:highlight>
                <a:latin typeface="Arial"/>
                <a:ea typeface="Arial"/>
                <a:cs typeface="Arial"/>
                <a:sym typeface="Arial"/>
              </a:rPr>
              <a:t>. </a:t>
            </a:r>
            <a:endParaRPr>
              <a:solidFill>
                <a:srgbClr val="434343"/>
              </a:solidFill>
              <a:highlight>
                <a:srgbClr val="FFFFFF"/>
              </a:highlight>
              <a:latin typeface="Arial"/>
              <a:ea typeface="Arial"/>
              <a:cs typeface="Arial"/>
              <a:sym typeface="Arial"/>
            </a:endParaRPr>
          </a:p>
          <a:p>
            <a:pPr marL="0" lvl="0" indent="0" algn="l" rtl="0">
              <a:spcBef>
                <a:spcPts val="1600"/>
              </a:spcBef>
              <a:spcAft>
                <a:spcPts val="1600"/>
              </a:spcAft>
              <a:buNone/>
            </a:pPr>
            <a:r>
              <a:rPr lang="de-CH">
                <a:solidFill>
                  <a:srgbClr val="434343"/>
                </a:solidFill>
                <a:highlight>
                  <a:srgbClr val="FFFFFF"/>
                </a:highlight>
                <a:latin typeface="Arial"/>
                <a:ea typeface="Arial"/>
                <a:cs typeface="Arial"/>
                <a:sym typeface="Arial"/>
              </a:rPr>
              <a:t>Age, sex, business income and expenses, country of birth, capital expenditure, class grades, eye colour and vehicle type are examples of variables. </a:t>
            </a:r>
            <a:br>
              <a:rPr lang="de-CH">
                <a:solidFill>
                  <a:srgbClr val="434343"/>
                </a:solidFill>
                <a:highlight>
                  <a:srgbClr val="FFFFFF"/>
                </a:highlight>
                <a:latin typeface="Arial"/>
                <a:ea typeface="Arial"/>
                <a:cs typeface="Arial"/>
                <a:sym typeface="Arial"/>
              </a:rPr>
            </a:br>
            <a:r>
              <a:rPr lang="de-CH">
                <a:solidFill>
                  <a:srgbClr val="434343"/>
                </a:solidFill>
                <a:highlight>
                  <a:srgbClr val="FFFFFF"/>
                </a:highlight>
                <a:latin typeface="Arial"/>
                <a:ea typeface="Arial"/>
                <a:cs typeface="Arial"/>
                <a:sym typeface="Arial"/>
              </a:rPr>
              <a:t>It is called a variable because the value may vary between data units </a:t>
            </a:r>
            <a:endParaRPr>
              <a:solidFill>
                <a:srgbClr val="434343"/>
              </a:solidFill>
            </a:endParaRP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Shape 913"/>
        <p:cNvGrpSpPr/>
        <p:nvPr/>
      </p:nvGrpSpPr>
      <p:grpSpPr>
        <a:xfrm>
          <a:off x="0" y="0"/>
          <a:ext cx="0" cy="0"/>
          <a:chOff x="0" y="0"/>
          <a:chExt cx="0" cy="0"/>
        </a:xfrm>
      </p:grpSpPr>
      <p:sp>
        <p:nvSpPr>
          <p:cNvPr id="914" name="Google Shape;914;p152"/>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TYPES oF Variables..</a:t>
            </a:r>
            <a:endParaRPr/>
          </a:p>
        </p:txBody>
      </p:sp>
      <p:sp>
        <p:nvSpPr>
          <p:cNvPr id="915" name="Google Shape;915;p152"/>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916" name="Google Shape;916;p152"/>
          <p:cNvPicPr preferRelativeResize="0"/>
          <p:nvPr/>
        </p:nvPicPr>
        <p:blipFill>
          <a:blip r:embed="rId3">
            <a:alphaModFix/>
          </a:blip>
          <a:stretch>
            <a:fillRect/>
          </a:stretch>
        </p:blipFill>
        <p:spPr>
          <a:xfrm>
            <a:off x="311700" y="1225225"/>
            <a:ext cx="7694026" cy="3200400"/>
          </a:xfrm>
          <a:prstGeom prst="rect">
            <a:avLst/>
          </a:prstGeom>
          <a:noFill/>
          <a:ln>
            <a:noFill/>
          </a:ln>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Shape 920"/>
        <p:cNvGrpSpPr/>
        <p:nvPr/>
      </p:nvGrpSpPr>
      <p:grpSpPr>
        <a:xfrm>
          <a:off x="0" y="0"/>
          <a:ext cx="0" cy="0"/>
          <a:chOff x="0" y="0"/>
          <a:chExt cx="0" cy="0"/>
        </a:xfrm>
      </p:grpSpPr>
      <p:sp>
        <p:nvSpPr>
          <p:cNvPr id="921" name="Google Shape;921;p153"/>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Numeric Variables..</a:t>
            </a:r>
            <a:endParaRPr/>
          </a:p>
        </p:txBody>
      </p:sp>
      <p:sp>
        <p:nvSpPr>
          <p:cNvPr id="922" name="Google Shape;922;p153"/>
          <p:cNvSpPr txBox="1">
            <a:spLocks noGrp="1"/>
          </p:cNvSpPr>
          <p:nvPr>
            <p:ph type="body" idx="1"/>
          </p:nvPr>
        </p:nvSpPr>
        <p:spPr>
          <a:xfrm>
            <a:off x="311700" y="1225225"/>
            <a:ext cx="8520600" cy="391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a:solidFill>
                  <a:srgbClr val="434343"/>
                </a:solidFill>
                <a:highlight>
                  <a:srgbClr val="FFFFFF"/>
                </a:highlight>
                <a:latin typeface="Arial"/>
                <a:ea typeface="Arial"/>
                <a:cs typeface="Arial"/>
                <a:sym typeface="Arial"/>
              </a:rPr>
              <a:t>Numeric variables have values that describe a measurable quantity as a number, like 'how many' or 'how much'.</a:t>
            </a:r>
            <a:r>
              <a:rPr lang="de-CH">
                <a:solidFill>
                  <a:srgbClr val="434343"/>
                </a:solidFill>
                <a:highlight>
                  <a:srgbClr val="FFFFFF"/>
                </a:highlight>
                <a:latin typeface="Arial"/>
                <a:ea typeface="Arial"/>
                <a:cs typeface="Arial"/>
                <a:sym typeface="Arial"/>
              </a:rPr>
              <a:t> Therefore numeric variables are quantitative variables</a:t>
            </a:r>
            <a:endParaRPr>
              <a:solidFill>
                <a:srgbClr val="434343"/>
              </a:solidFill>
              <a:highlight>
                <a:srgbClr val="FFFFFF"/>
              </a:highlight>
              <a:latin typeface="Arial"/>
              <a:ea typeface="Arial"/>
              <a:cs typeface="Arial"/>
              <a:sym typeface="Arial"/>
            </a:endParaRPr>
          </a:p>
          <a:p>
            <a:pPr marL="457200" lvl="0" indent="-317500" algn="l" rtl="0">
              <a:spcBef>
                <a:spcPts val="1600"/>
              </a:spcBef>
              <a:spcAft>
                <a:spcPts val="0"/>
              </a:spcAft>
              <a:buClr>
                <a:srgbClr val="000000"/>
              </a:buClr>
              <a:buSzPts val="1400"/>
              <a:buFont typeface="Arial"/>
              <a:buChar char="●"/>
            </a:pPr>
            <a:r>
              <a:rPr lang="de-CH" sz="1400" b="1">
                <a:solidFill>
                  <a:srgbClr val="000000"/>
                </a:solidFill>
                <a:highlight>
                  <a:srgbClr val="FFFFFF"/>
                </a:highlight>
                <a:latin typeface="Arial"/>
                <a:ea typeface="Arial"/>
                <a:cs typeface="Arial"/>
                <a:sym typeface="Arial"/>
              </a:rPr>
              <a:t>A continuous variable is a numeric variable. Observations can take any value between a certain set of real numbers. </a:t>
            </a:r>
            <a:r>
              <a:rPr lang="de-CH" sz="1400">
                <a:solidFill>
                  <a:srgbClr val="000000"/>
                </a:solidFill>
                <a:highlight>
                  <a:srgbClr val="FFFFFF"/>
                </a:highlight>
                <a:latin typeface="Arial"/>
                <a:ea typeface="Arial"/>
                <a:cs typeface="Arial"/>
                <a:sym typeface="Arial"/>
              </a:rPr>
              <a:t>The value given to an observation for a continuous variable can include values as small as the instrument of measurement allows. Examples of continuous variables include height, time, age, and temperature.</a:t>
            </a:r>
            <a:endParaRPr sz="1400">
              <a:solidFill>
                <a:srgbClr val="000000"/>
              </a:solidFill>
              <a:highlight>
                <a:srgbClr val="FFFFFF"/>
              </a:highlight>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de-CH" sz="1400" b="1">
                <a:solidFill>
                  <a:srgbClr val="000000"/>
                </a:solidFill>
                <a:highlight>
                  <a:srgbClr val="FFFFFF"/>
                </a:highlight>
                <a:latin typeface="Arial"/>
                <a:ea typeface="Arial"/>
                <a:cs typeface="Arial"/>
                <a:sym typeface="Arial"/>
              </a:rPr>
              <a:t>A discrete variable is a numeric variable. Observations can take a value based on a count from a set of distinct whole values.</a:t>
            </a:r>
            <a:r>
              <a:rPr lang="de-CH" sz="1400">
                <a:solidFill>
                  <a:srgbClr val="000000"/>
                </a:solidFill>
                <a:highlight>
                  <a:srgbClr val="FFFFFF"/>
                </a:highlight>
                <a:latin typeface="Arial"/>
                <a:ea typeface="Arial"/>
                <a:cs typeface="Arial"/>
                <a:sym typeface="Arial"/>
              </a:rPr>
              <a:t> A discrete variable cannot take the value of a fraction between one value and the next closest value. Examples of discrete variables include the number of registered cars, number of business locations, and number of children in a family, all of of which measured as whole units (i.e. 1, 2, 3 cars).</a:t>
            </a:r>
            <a:endParaRPr sz="1400">
              <a:solidFill>
                <a:srgbClr val="000000"/>
              </a:solidFill>
              <a:highlight>
                <a:srgbClr val="FFFFFF"/>
              </a:highlight>
              <a:latin typeface="Arial"/>
              <a:ea typeface="Arial"/>
              <a:cs typeface="Arial"/>
              <a:sym typeface="Arial"/>
            </a:endParaRPr>
          </a:p>
          <a:p>
            <a:pPr marL="0" lvl="0" indent="0" algn="l" rtl="0">
              <a:spcBef>
                <a:spcPts val="0"/>
              </a:spcBef>
              <a:spcAft>
                <a:spcPts val="1600"/>
              </a:spcAft>
              <a:buNone/>
            </a:pPr>
            <a:endParaRPr sz="1400">
              <a:solidFill>
                <a:srgbClr val="434343"/>
              </a:solidFill>
              <a:highlight>
                <a:srgbClr val="FFFFFF"/>
              </a:highlight>
              <a:latin typeface="Arial"/>
              <a:ea typeface="Arial"/>
              <a:cs typeface="Arial"/>
              <a:sym typeface="Arial"/>
            </a:endParaRPr>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Shape 926"/>
        <p:cNvGrpSpPr/>
        <p:nvPr/>
      </p:nvGrpSpPr>
      <p:grpSpPr>
        <a:xfrm>
          <a:off x="0" y="0"/>
          <a:ext cx="0" cy="0"/>
          <a:chOff x="0" y="0"/>
          <a:chExt cx="0" cy="0"/>
        </a:xfrm>
      </p:grpSpPr>
      <p:sp>
        <p:nvSpPr>
          <p:cNvPr id="927" name="Google Shape;927;p154"/>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Categorical Variable..</a:t>
            </a:r>
            <a:endParaRPr/>
          </a:p>
        </p:txBody>
      </p:sp>
      <p:sp>
        <p:nvSpPr>
          <p:cNvPr id="928" name="Google Shape;928;p154"/>
          <p:cNvSpPr txBox="1">
            <a:spLocks noGrp="1"/>
          </p:cNvSpPr>
          <p:nvPr>
            <p:ph type="body" idx="1"/>
          </p:nvPr>
        </p:nvSpPr>
        <p:spPr>
          <a:xfrm>
            <a:off x="311700" y="1225225"/>
            <a:ext cx="8520600" cy="376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a:solidFill>
                  <a:srgbClr val="000000"/>
                </a:solidFill>
                <a:highlight>
                  <a:srgbClr val="FFFFFF"/>
                </a:highlight>
                <a:latin typeface="Arial"/>
                <a:ea typeface="Arial"/>
                <a:cs typeface="Arial"/>
                <a:sym typeface="Arial"/>
              </a:rPr>
              <a:t>Categorical variables have values that describe a 'quality' or 'characteristic' of a data unit, like 'what type' or 'which category'.</a:t>
            </a:r>
            <a:r>
              <a:rPr lang="de-CH">
                <a:solidFill>
                  <a:srgbClr val="000000"/>
                </a:solidFill>
                <a:highlight>
                  <a:srgbClr val="FFFFFF"/>
                </a:highlight>
                <a:latin typeface="Arial"/>
                <a:ea typeface="Arial"/>
                <a:cs typeface="Arial"/>
                <a:sym typeface="Arial"/>
              </a:rPr>
              <a:t> Categorical variables are qualitative variables and tend to be represented by a non-numeric value.</a:t>
            </a:r>
            <a:endParaRPr>
              <a:solidFill>
                <a:srgbClr val="000000"/>
              </a:solidFill>
              <a:highlight>
                <a:srgbClr val="FFFFFF"/>
              </a:highlight>
              <a:latin typeface="Arial"/>
              <a:ea typeface="Arial"/>
              <a:cs typeface="Arial"/>
              <a:sym typeface="Arial"/>
            </a:endParaRPr>
          </a:p>
          <a:p>
            <a:pPr marL="457200" lvl="0" indent="-317500" algn="l" rtl="0">
              <a:spcBef>
                <a:spcPts val="1600"/>
              </a:spcBef>
              <a:spcAft>
                <a:spcPts val="0"/>
              </a:spcAft>
              <a:buClr>
                <a:srgbClr val="333333"/>
              </a:buClr>
              <a:buSzPts val="1400"/>
              <a:buFont typeface="Arial"/>
              <a:buChar char="●"/>
            </a:pPr>
            <a:r>
              <a:rPr lang="de-CH" sz="1400" b="1">
                <a:solidFill>
                  <a:srgbClr val="333333"/>
                </a:solidFill>
                <a:highlight>
                  <a:srgbClr val="FFFFFF"/>
                </a:highlight>
                <a:latin typeface="Arial"/>
                <a:ea typeface="Arial"/>
                <a:cs typeface="Arial"/>
                <a:sym typeface="Arial"/>
              </a:rPr>
              <a:t>An </a:t>
            </a:r>
            <a:r>
              <a:rPr lang="de-CH" sz="1400" b="1">
                <a:solidFill>
                  <a:srgbClr val="00A000"/>
                </a:solidFill>
                <a:highlight>
                  <a:srgbClr val="FFFFFF"/>
                </a:highlight>
                <a:latin typeface="Arial"/>
                <a:ea typeface="Arial"/>
                <a:cs typeface="Arial"/>
                <a:sym typeface="Arial"/>
              </a:rPr>
              <a:t>ordinal variable</a:t>
            </a:r>
            <a:r>
              <a:rPr lang="de-CH" sz="1400" b="1">
                <a:solidFill>
                  <a:srgbClr val="620042"/>
                </a:solidFill>
                <a:highlight>
                  <a:srgbClr val="FFFFFF"/>
                </a:highlight>
                <a:latin typeface="Arial"/>
                <a:ea typeface="Arial"/>
                <a:cs typeface="Arial"/>
                <a:sym typeface="Arial"/>
              </a:rPr>
              <a:t> </a:t>
            </a:r>
            <a:r>
              <a:rPr lang="de-CH" sz="1400" b="1">
                <a:solidFill>
                  <a:srgbClr val="333333"/>
                </a:solidFill>
                <a:highlight>
                  <a:srgbClr val="FFFFFF"/>
                </a:highlight>
                <a:latin typeface="Arial"/>
                <a:ea typeface="Arial"/>
                <a:cs typeface="Arial"/>
                <a:sym typeface="Arial"/>
              </a:rPr>
              <a:t>is a categorical variable. Observations can take a value that can be logically ordered or ranked. </a:t>
            </a:r>
            <a:r>
              <a:rPr lang="de-CH" sz="1400">
                <a:solidFill>
                  <a:srgbClr val="333333"/>
                </a:solidFill>
                <a:highlight>
                  <a:srgbClr val="FFFFFF"/>
                </a:highlight>
                <a:latin typeface="Arial"/>
                <a:ea typeface="Arial"/>
                <a:cs typeface="Arial"/>
                <a:sym typeface="Arial"/>
              </a:rPr>
              <a:t>The categories associated with ordinal variables can be ranked higher or lower than another, but do not necessarily establish a numeric difference between each category. Examples of ordinal categorical variables include academic grades (i.e. A, B, C), clothing size (i.e. small, medium, large, extra large) and attitudes (i.e. strongly agree, agree, disagree, strongly disagree).</a:t>
            </a:r>
            <a:endParaRPr sz="1400">
              <a:solidFill>
                <a:srgbClr val="333333"/>
              </a:solidFill>
              <a:highlight>
                <a:srgbClr val="FFFFFF"/>
              </a:highlight>
              <a:latin typeface="Arial"/>
              <a:ea typeface="Arial"/>
              <a:cs typeface="Arial"/>
              <a:sym typeface="Arial"/>
            </a:endParaRPr>
          </a:p>
          <a:p>
            <a:pPr marL="457200" lvl="0" indent="-317500" algn="l" rtl="0">
              <a:spcBef>
                <a:spcPts val="0"/>
              </a:spcBef>
              <a:spcAft>
                <a:spcPts val="0"/>
              </a:spcAft>
              <a:buClr>
                <a:srgbClr val="333333"/>
              </a:buClr>
              <a:buSzPts val="1400"/>
              <a:buFont typeface="Arial"/>
              <a:buChar char="●"/>
            </a:pPr>
            <a:r>
              <a:rPr lang="de-CH" sz="1400" b="1">
                <a:solidFill>
                  <a:srgbClr val="333333"/>
                </a:solidFill>
                <a:highlight>
                  <a:srgbClr val="FFFFFF"/>
                </a:highlight>
                <a:latin typeface="Arial"/>
                <a:ea typeface="Arial"/>
                <a:cs typeface="Arial"/>
                <a:sym typeface="Arial"/>
              </a:rPr>
              <a:t>A </a:t>
            </a:r>
            <a:r>
              <a:rPr lang="de-CH" sz="1400" b="1">
                <a:solidFill>
                  <a:srgbClr val="00A000"/>
                </a:solidFill>
                <a:highlight>
                  <a:srgbClr val="FFFFFF"/>
                </a:highlight>
                <a:latin typeface="Arial"/>
                <a:ea typeface="Arial"/>
                <a:cs typeface="Arial"/>
                <a:sym typeface="Arial"/>
              </a:rPr>
              <a:t>nominal variable</a:t>
            </a:r>
            <a:r>
              <a:rPr lang="de-CH" sz="1400" b="1">
                <a:solidFill>
                  <a:srgbClr val="620042"/>
                </a:solidFill>
                <a:highlight>
                  <a:srgbClr val="FFFFFF"/>
                </a:highlight>
                <a:latin typeface="Arial"/>
                <a:ea typeface="Arial"/>
                <a:cs typeface="Arial"/>
                <a:sym typeface="Arial"/>
              </a:rPr>
              <a:t> </a:t>
            </a:r>
            <a:r>
              <a:rPr lang="de-CH" sz="1400" b="1">
                <a:solidFill>
                  <a:srgbClr val="333333"/>
                </a:solidFill>
                <a:highlight>
                  <a:srgbClr val="FFFFFF"/>
                </a:highlight>
                <a:latin typeface="Arial"/>
                <a:ea typeface="Arial"/>
                <a:cs typeface="Arial"/>
                <a:sym typeface="Arial"/>
              </a:rPr>
              <a:t>is a categorical variable. Observations can take a value that is not able to be organised in a logical sequence. </a:t>
            </a:r>
            <a:r>
              <a:rPr lang="de-CH" sz="1400">
                <a:solidFill>
                  <a:srgbClr val="333333"/>
                </a:solidFill>
                <a:highlight>
                  <a:srgbClr val="FFFFFF"/>
                </a:highlight>
                <a:latin typeface="Arial"/>
                <a:ea typeface="Arial"/>
                <a:cs typeface="Arial"/>
                <a:sym typeface="Arial"/>
              </a:rPr>
              <a:t>Examples of nominal categorical variables include sex, business type, eye colour, religion and brand.</a:t>
            </a:r>
            <a:endParaRPr sz="1400">
              <a:solidFill>
                <a:srgbClr val="333333"/>
              </a:solidFill>
              <a:highlight>
                <a:srgbClr val="FFFFFF"/>
              </a:highlight>
              <a:latin typeface="Arial"/>
              <a:ea typeface="Arial"/>
              <a:cs typeface="Arial"/>
              <a:sym typeface="Arial"/>
            </a:endParaRPr>
          </a:p>
          <a:p>
            <a:pPr marL="457200" lvl="0" indent="0" algn="l" rtl="0">
              <a:spcBef>
                <a:spcPts val="0"/>
              </a:spcBef>
              <a:spcAft>
                <a:spcPts val="0"/>
              </a:spcAft>
              <a:buNone/>
            </a:pPr>
            <a:endParaRPr sz="1400">
              <a:solidFill>
                <a:srgbClr val="333333"/>
              </a:solidFill>
              <a:highlight>
                <a:srgbClr val="FFFFFF"/>
              </a:highlight>
              <a:latin typeface="Arial"/>
              <a:ea typeface="Arial"/>
              <a:cs typeface="Arial"/>
              <a:sym typeface="Arial"/>
            </a:endParaRPr>
          </a:p>
          <a:p>
            <a:pPr marL="0" lvl="0" indent="0" algn="l" rtl="0">
              <a:spcBef>
                <a:spcPts val="0"/>
              </a:spcBef>
              <a:spcAft>
                <a:spcPts val="0"/>
              </a:spcAft>
              <a:buClr>
                <a:schemeClr val="dk1"/>
              </a:buClr>
              <a:buSzPts val="1100"/>
              <a:buFont typeface="Arial"/>
              <a:buNone/>
            </a:pPr>
            <a:endParaRPr sz="1400">
              <a:solidFill>
                <a:srgbClr val="000000"/>
              </a:solidFill>
              <a:highlight>
                <a:srgbClr val="FFFFFF"/>
              </a:highlight>
              <a:latin typeface="Arial"/>
              <a:ea typeface="Arial"/>
              <a:cs typeface="Arial"/>
              <a:sym typeface="Arial"/>
            </a:endParaRPr>
          </a:p>
          <a:p>
            <a:pPr marL="0" lvl="0" indent="0" algn="l" rtl="0">
              <a:spcBef>
                <a:spcPts val="1600"/>
              </a:spcBef>
              <a:spcAft>
                <a:spcPts val="1600"/>
              </a:spcAft>
              <a:buNone/>
            </a:pPr>
            <a:endParaRPr sz="1400">
              <a:solidFill>
                <a:srgbClr val="000000"/>
              </a:solidFill>
              <a:latin typeface="Arial"/>
              <a:ea typeface="Arial"/>
              <a:cs typeface="Arial"/>
              <a:sym typeface="Arial"/>
            </a:endParaRPr>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Shape 932"/>
        <p:cNvGrpSpPr/>
        <p:nvPr/>
      </p:nvGrpSpPr>
      <p:grpSpPr>
        <a:xfrm>
          <a:off x="0" y="0"/>
          <a:ext cx="0" cy="0"/>
          <a:chOff x="0" y="0"/>
          <a:chExt cx="0" cy="0"/>
        </a:xfrm>
      </p:grpSpPr>
      <p:sp>
        <p:nvSpPr>
          <p:cNvPr id="933" name="Google Shape;933;p155"/>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Population and samples..</a:t>
            </a:r>
            <a:endParaRPr/>
          </a:p>
        </p:txBody>
      </p:sp>
      <p:sp>
        <p:nvSpPr>
          <p:cNvPr id="934" name="Google Shape;934;p155"/>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a:t>POPULATION</a:t>
            </a:r>
            <a:r>
              <a:rPr lang="de-CH"/>
              <a:t>: It is set of all values of observations..</a:t>
            </a:r>
            <a:endParaRPr/>
          </a:p>
          <a:p>
            <a:pPr marL="0" lvl="0" indent="0" algn="l" rtl="0">
              <a:spcBef>
                <a:spcPts val="1600"/>
              </a:spcBef>
              <a:spcAft>
                <a:spcPts val="0"/>
              </a:spcAft>
              <a:buNone/>
            </a:pPr>
            <a:r>
              <a:rPr lang="de-CH" b="1"/>
              <a:t>Sample</a:t>
            </a:r>
            <a:r>
              <a:rPr lang="de-CH"/>
              <a:t>: It is a subset of population</a:t>
            </a:r>
            <a:endParaRPr/>
          </a:p>
          <a:p>
            <a:pPr marL="457200" lvl="0" indent="-342900" algn="l" rtl="0">
              <a:spcBef>
                <a:spcPts val="160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population=np.random.randint(140,190,100)</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sample1=np.random.choice(population,20)</a:t>
            </a:r>
            <a:endParaRPr>
              <a:solidFill>
                <a:srgbClr val="0000FF"/>
              </a:solidFill>
              <a:latin typeface="Spectral"/>
              <a:ea typeface="Spectral"/>
              <a:cs typeface="Spectral"/>
              <a:sym typeface="Spectral"/>
            </a:endParaRPr>
          </a:p>
          <a:p>
            <a:pPr marL="457200" lvl="0" indent="-342900" algn="l" rtl="0">
              <a:spcBef>
                <a:spcPts val="0"/>
              </a:spcBef>
              <a:spcAft>
                <a:spcPts val="0"/>
              </a:spcAft>
              <a:buClr>
                <a:srgbClr val="0000FF"/>
              </a:buClr>
              <a:buSzPts val="1800"/>
              <a:buFont typeface="Spectral"/>
              <a:buChar char="●"/>
            </a:pPr>
            <a:r>
              <a:rPr lang="de-CH">
                <a:solidFill>
                  <a:srgbClr val="0000FF"/>
                </a:solidFill>
                <a:latin typeface="Spectral"/>
                <a:ea typeface="Spectral"/>
                <a:cs typeface="Spectral"/>
                <a:sym typeface="Spectral"/>
              </a:rPr>
              <a:t>sample2=np.random.choice(population,25)</a:t>
            </a:r>
            <a:endParaRPr>
              <a:solidFill>
                <a:srgbClr val="0000FF"/>
              </a:solidFill>
              <a:latin typeface="Spectral"/>
              <a:ea typeface="Spectral"/>
              <a:cs typeface="Spectral"/>
              <a:sym typeface="Spectral"/>
            </a:endParaRPr>
          </a:p>
          <a:p>
            <a:pPr marL="0" lvl="0" indent="0" algn="l" rtl="0">
              <a:spcBef>
                <a:spcPts val="1600"/>
              </a:spcBef>
              <a:spcAft>
                <a:spcPts val="1600"/>
              </a:spcAft>
              <a:buNone/>
            </a:pPr>
            <a:endParaRPr/>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Shape 938"/>
        <p:cNvGrpSpPr/>
        <p:nvPr/>
      </p:nvGrpSpPr>
      <p:grpSpPr>
        <a:xfrm>
          <a:off x="0" y="0"/>
          <a:ext cx="0" cy="0"/>
          <a:chOff x="0" y="0"/>
          <a:chExt cx="0" cy="0"/>
        </a:xfrm>
      </p:grpSpPr>
      <p:sp>
        <p:nvSpPr>
          <p:cNvPr id="939" name="Google Shape;939;p156"/>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SAMPLING</a:t>
            </a:r>
            <a:endParaRPr/>
          </a:p>
        </p:txBody>
      </p:sp>
      <p:sp>
        <p:nvSpPr>
          <p:cNvPr id="940" name="Google Shape;940;p156"/>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a:t>Sampling is the process of selecting the sample from the population</a:t>
            </a:r>
            <a:endParaRPr b="1"/>
          </a:p>
          <a:p>
            <a:pPr marL="0" lvl="0" indent="0" algn="l" rtl="0">
              <a:spcBef>
                <a:spcPts val="1600"/>
              </a:spcBef>
              <a:spcAft>
                <a:spcPts val="0"/>
              </a:spcAft>
              <a:buNone/>
            </a:pPr>
            <a:r>
              <a:rPr lang="de-CH" b="1"/>
              <a:t>Sampling categorized into 2</a:t>
            </a:r>
            <a:endParaRPr b="1"/>
          </a:p>
          <a:p>
            <a:pPr marL="0" lvl="0" indent="0" algn="l" rtl="0">
              <a:spcBef>
                <a:spcPts val="1600"/>
              </a:spcBef>
              <a:spcAft>
                <a:spcPts val="1600"/>
              </a:spcAft>
              <a:buNone/>
            </a:pPr>
            <a:br>
              <a:rPr lang="de-CH" b="1"/>
            </a:br>
            <a:r>
              <a:rPr lang="de-CH" b="1"/>
              <a:t>1.Probability sampling</a:t>
            </a:r>
            <a:br>
              <a:rPr lang="de-CH" b="1"/>
            </a:br>
            <a:r>
              <a:rPr lang="de-CH" b="1"/>
              <a:t>2.Non probability sampling</a:t>
            </a:r>
            <a:endParaRPr b="1"/>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p157"/>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PROBABILITY SAMPLING</a:t>
            </a:r>
            <a:endParaRPr/>
          </a:p>
        </p:txBody>
      </p:sp>
      <p:sp>
        <p:nvSpPr>
          <p:cNvPr id="946" name="Google Shape;946;p157"/>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0" algn="l" rtl="0">
              <a:spcBef>
                <a:spcPts val="0"/>
              </a:spcBef>
              <a:spcAft>
                <a:spcPts val="0"/>
              </a:spcAft>
              <a:buNone/>
            </a:pPr>
            <a:r>
              <a:rPr lang="de-CH"/>
              <a:t>Choosing the sample from the large population by using the theory of probability.</a:t>
            </a:r>
            <a:endParaRPr/>
          </a:p>
          <a:p>
            <a:pPr marL="457200" lvl="0" indent="-342900" algn="l" rtl="0">
              <a:spcBef>
                <a:spcPts val="1600"/>
              </a:spcBef>
              <a:spcAft>
                <a:spcPts val="0"/>
              </a:spcAft>
              <a:buSzPts val="1800"/>
              <a:buAutoNum type="arabicPeriod"/>
            </a:pPr>
            <a:r>
              <a:rPr lang="de-CH"/>
              <a:t>RANDOM SAMPLING</a:t>
            </a:r>
            <a:endParaRPr/>
          </a:p>
          <a:p>
            <a:pPr marL="457200" lvl="0" indent="-342900" algn="l" rtl="0">
              <a:spcBef>
                <a:spcPts val="0"/>
              </a:spcBef>
              <a:spcAft>
                <a:spcPts val="0"/>
              </a:spcAft>
              <a:buSzPts val="1800"/>
              <a:buAutoNum type="arabicPeriod"/>
            </a:pPr>
            <a:r>
              <a:rPr lang="de-CH"/>
              <a:t>SYSTEMATIC SAMPLING</a:t>
            </a:r>
            <a:endParaRPr/>
          </a:p>
          <a:p>
            <a:pPr marL="457200" lvl="0" indent="-342900" algn="l" rtl="0">
              <a:spcBef>
                <a:spcPts val="0"/>
              </a:spcBef>
              <a:spcAft>
                <a:spcPts val="0"/>
              </a:spcAft>
              <a:buSzPts val="1800"/>
              <a:buAutoNum type="arabicPeriod"/>
            </a:pPr>
            <a:r>
              <a:rPr lang="de-CH"/>
              <a:t>STRATIFIED SAMPLING</a:t>
            </a:r>
            <a:endParaRPr/>
          </a:p>
          <a:p>
            <a:pPr marL="0" lvl="0" indent="0" algn="l" rtl="0">
              <a:spcBef>
                <a:spcPts val="1600"/>
              </a:spcBef>
              <a:spcAft>
                <a:spcPts val="1600"/>
              </a:spcAft>
              <a:buNone/>
            </a:pPr>
            <a:br>
              <a:rPr lang="de-CH"/>
            </a:br>
            <a:endParaRPr/>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Shape 950"/>
        <p:cNvGrpSpPr/>
        <p:nvPr/>
      </p:nvGrpSpPr>
      <p:grpSpPr>
        <a:xfrm>
          <a:off x="0" y="0"/>
          <a:ext cx="0" cy="0"/>
          <a:chOff x="0" y="0"/>
          <a:chExt cx="0" cy="0"/>
        </a:xfrm>
      </p:grpSpPr>
      <p:sp>
        <p:nvSpPr>
          <p:cNvPr id="951" name="Google Shape;951;p158"/>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RANDOM SAMPLING</a:t>
            </a:r>
            <a:endParaRPr/>
          </a:p>
        </p:txBody>
      </p:sp>
      <p:sp>
        <p:nvSpPr>
          <p:cNvPr id="952" name="Google Shape;952;p158"/>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t>In this sampling all the elements have same probability of being selected to form a sample.ie it is choosing randomly</a:t>
            </a:r>
            <a:endParaRPr/>
          </a:p>
          <a:p>
            <a:pPr marL="0" lvl="0" indent="0" algn="l" rtl="0">
              <a:spcBef>
                <a:spcPts val="1600"/>
              </a:spcBef>
              <a:spcAft>
                <a:spcPts val="1600"/>
              </a:spcAft>
              <a:buNone/>
            </a:pPr>
            <a:r>
              <a:rPr lang="de-CH"/>
              <a:t>Eg: from a large set of students choosing 10 students randomly.</a:t>
            </a:r>
            <a:endParaRPr/>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Shape 956"/>
        <p:cNvGrpSpPr/>
        <p:nvPr/>
      </p:nvGrpSpPr>
      <p:grpSpPr>
        <a:xfrm>
          <a:off x="0" y="0"/>
          <a:ext cx="0" cy="0"/>
          <a:chOff x="0" y="0"/>
          <a:chExt cx="0" cy="0"/>
        </a:xfrm>
      </p:grpSpPr>
      <p:sp>
        <p:nvSpPr>
          <p:cNvPr id="957" name="Google Shape;957;p159"/>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Systematic sampling.</a:t>
            </a:r>
            <a:endParaRPr/>
          </a:p>
        </p:txBody>
      </p:sp>
      <p:sp>
        <p:nvSpPr>
          <p:cNvPr id="958" name="Google Shape;958;p159"/>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t>In systematic sampling every nth element is chosen from different groups of population to form a sample</a:t>
            </a:r>
            <a:endParaRPr/>
          </a:p>
          <a:p>
            <a:pPr marL="0" lvl="0" indent="0" algn="l" rtl="0">
              <a:spcBef>
                <a:spcPts val="1600"/>
              </a:spcBef>
              <a:spcAft>
                <a:spcPts val="0"/>
              </a:spcAft>
              <a:buNone/>
            </a:pPr>
            <a:endParaRPr/>
          </a:p>
          <a:p>
            <a:pPr marL="0" lvl="0" indent="0" algn="l" rtl="0">
              <a:spcBef>
                <a:spcPts val="1600"/>
              </a:spcBef>
              <a:spcAft>
                <a:spcPts val="1600"/>
              </a:spcAft>
              <a:buNone/>
            </a:pPr>
            <a:r>
              <a:rPr lang="de-CH"/>
              <a:t>Eg: if considering indian teenagers as population taking 10 elements from all states is systematic sampling</a:t>
            </a:r>
            <a:endParaRPr/>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Shape 962"/>
        <p:cNvGrpSpPr/>
        <p:nvPr/>
      </p:nvGrpSpPr>
      <p:grpSpPr>
        <a:xfrm>
          <a:off x="0" y="0"/>
          <a:ext cx="0" cy="0"/>
          <a:chOff x="0" y="0"/>
          <a:chExt cx="0" cy="0"/>
        </a:xfrm>
      </p:grpSpPr>
      <p:sp>
        <p:nvSpPr>
          <p:cNvPr id="963" name="Google Shape;963;p160"/>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STRATIFIED SAMPLING..</a:t>
            </a:r>
            <a:endParaRPr/>
          </a:p>
        </p:txBody>
      </p:sp>
      <p:sp>
        <p:nvSpPr>
          <p:cNvPr id="964" name="Google Shape;964;p160"/>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t>In this a sufficient number will be selected from each stratum of the population</a:t>
            </a:r>
            <a:endParaRPr/>
          </a:p>
          <a:p>
            <a:pPr marL="0" lvl="0" indent="0" algn="l" rtl="0">
              <a:spcBef>
                <a:spcPts val="1600"/>
              </a:spcBef>
              <a:spcAft>
                <a:spcPts val="0"/>
              </a:spcAft>
              <a:buNone/>
            </a:pPr>
            <a:r>
              <a:rPr lang="de-CH"/>
              <a:t>STRATUM: subset of population that having at least one common behavior</a:t>
            </a:r>
            <a:endParaRPr/>
          </a:p>
          <a:p>
            <a:pPr marL="0" lvl="0" indent="0" algn="l" rtl="0">
              <a:spcBef>
                <a:spcPts val="1600"/>
              </a:spcBef>
              <a:spcAft>
                <a:spcPts val="0"/>
              </a:spcAft>
              <a:buNone/>
            </a:pPr>
            <a:endParaRPr/>
          </a:p>
          <a:p>
            <a:pPr marL="0" lvl="0" indent="0" algn="l" rtl="0">
              <a:spcBef>
                <a:spcPts val="1600"/>
              </a:spcBef>
              <a:spcAft>
                <a:spcPts val="1600"/>
              </a:spcAft>
              <a:buNone/>
            </a:pPr>
            <a:r>
              <a:rPr lang="de-CH"/>
              <a:t>Eg: if considering indian teenagers as population  the girls is one stratum and boys are another one and selecting 10 elements from each and creates a sample is stratified sampling..</a:t>
            </a:r>
            <a:endParaRPr/>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Shape 968"/>
        <p:cNvGrpSpPr/>
        <p:nvPr/>
      </p:nvGrpSpPr>
      <p:grpSpPr>
        <a:xfrm>
          <a:off x="0" y="0"/>
          <a:ext cx="0" cy="0"/>
          <a:chOff x="0" y="0"/>
          <a:chExt cx="0" cy="0"/>
        </a:xfrm>
      </p:grpSpPr>
      <p:sp>
        <p:nvSpPr>
          <p:cNvPr id="969" name="Google Shape;969;p161"/>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TYPES OF STATISTICS</a:t>
            </a:r>
            <a:endParaRPr/>
          </a:p>
        </p:txBody>
      </p:sp>
      <p:sp>
        <p:nvSpPr>
          <p:cNvPr id="970" name="Google Shape;970;p161"/>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de-CH" b="1"/>
              <a:t>DESCRIPTIVE STATISTICS:</a:t>
            </a:r>
            <a:r>
              <a:rPr lang="de-CH" sz="1600"/>
              <a:t>descriptive statistics uses data to provide descriptions about population either through numerical calculations or through graph or tables. It provides a graphical summary about data.</a:t>
            </a:r>
            <a:endParaRPr sz="1600"/>
          </a:p>
          <a:p>
            <a:pPr marL="457200" lvl="0" indent="-342900" algn="l" rtl="0">
              <a:spcBef>
                <a:spcPts val="0"/>
              </a:spcBef>
              <a:spcAft>
                <a:spcPts val="0"/>
              </a:spcAft>
              <a:buSzPts val="1800"/>
              <a:buAutoNum type="arabicPeriod"/>
            </a:pPr>
            <a:r>
              <a:rPr lang="de-CH" b="1"/>
              <a:t>INFERENTIAL STATISTICS:</a:t>
            </a:r>
            <a:r>
              <a:rPr lang="de-CH" sz="1600"/>
              <a:t>It makes inferences and predictions about a population based on the sample.Inferential statistics generalize a huge dataset and apply probability to draw conclusions.</a:t>
            </a:r>
            <a:endParaRPr sz="160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Shape 974"/>
        <p:cNvGrpSpPr/>
        <p:nvPr/>
      </p:nvGrpSpPr>
      <p:grpSpPr>
        <a:xfrm>
          <a:off x="0" y="0"/>
          <a:ext cx="0" cy="0"/>
          <a:chOff x="0" y="0"/>
          <a:chExt cx="0" cy="0"/>
        </a:xfrm>
      </p:grpSpPr>
      <p:sp>
        <p:nvSpPr>
          <p:cNvPr id="975" name="Google Shape;975;p162"/>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TOOLS FOR DESCRIPTIVE STATISTIC ANALYSIS</a:t>
            </a:r>
            <a:endParaRPr/>
          </a:p>
        </p:txBody>
      </p:sp>
      <p:sp>
        <p:nvSpPr>
          <p:cNvPr id="976" name="Google Shape;976;p162"/>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AutoNum type="arabicPeriod"/>
            </a:pPr>
            <a:r>
              <a:rPr lang="de-CH"/>
              <a:t>CENTRAL TENDENCY</a:t>
            </a:r>
            <a:endParaRPr/>
          </a:p>
          <a:p>
            <a:pPr marL="457200" lvl="0" indent="-342900" algn="l" rtl="0">
              <a:spcBef>
                <a:spcPts val="0"/>
              </a:spcBef>
              <a:spcAft>
                <a:spcPts val="0"/>
              </a:spcAft>
              <a:buSzPts val="1800"/>
              <a:buAutoNum type="arabicPeriod"/>
            </a:pPr>
            <a:r>
              <a:rPr lang="de-CH"/>
              <a:t>MEASURE OF SPREAD</a:t>
            </a:r>
            <a:endParaRPr/>
          </a:p>
          <a:p>
            <a:pPr marL="457200" lvl="0" indent="-342900" algn="l" rtl="0">
              <a:spcBef>
                <a:spcPts val="0"/>
              </a:spcBef>
              <a:spcAft>
                <a:spcPts val="0"/>
              </a:spcAft>
              <a:buSzPts val="1800"/>
              <a:buAutoNum type="arabicPeriod"/>
            </a:pPr>
            <a:r>
              <a:rPr lang="de-CH"/>
              <a:t>SKEWNESS</a:t>
            </a:r>
            <a:endParaRPr/>
          </a:p>
          <a:p>
            <a:pPr marL="457200" lvl="0" indent="-342900" algn="l" rtl="0">
              <a:spcBef>
                <a:spcPts val="0"/>
              </a:spcBef>
              <a:spcAft>
                <a:spcPts val="0"/>
              </a:spcAft>
              <a:buSzPts val="1800"/>
              <a:buAutoNum type="arabicPeriod"/>
            </a:pPr>
            <a:r>
              <a:rPr lang="de-CH"/>
              <a:t>KURTOSIS</a:t>
            </a:r>
            <a:endParaRPr/>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Shape 980"/>
        <p:cNvGrpSpPr/>
        <p:nvPr/>
      </p:nvGrpSpPr>
      <p:grpSpPr>
        <a:xfrm>
          <a:off x="0" y="0"/>
          <a:ext cx="0" cy="0"/>
          <a:chOff x="0" y="0"/>
          <a:chExt cx="0" cy="0"/>
        </a:xfrm>
      </p:grpSpPr>
      <p:sp>
        <p:nvSpPr>
          <p:cNvPr id="981" name="Google Shape;981;p163"/>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MEASURES OF CENTRAL TENDENCY</a:t>
            </a:r>
            <a:endParaRPr/>
          </a:p>
        </p:txBody>
      </p:sp>
      <p:sp>
        <p:nvSpPr>
          <p:cNvPr id="982" name="Google Shape;982;p163"/>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t>Central Tendency provides the idea of distribution of data around the central value..</a:t>
            </a:r>
            <a:endParaRPr/>
          </a:p>
          <a:p>
            <a:pPr marL="0" lvl="0" indent="0" algn="l" rtl="0">
              <a:spcBef>
                <a:spcPts val="1600"/>
              </a:spcBef>
              <a:spcAft>
                <a:spcPts val="0"/>
              </a:spcAft>
              <a:buNone/>
            </a:pPr>
            <a:r>
              <a:rPr lang="de-CH"/>
              <a:t>There are 3 kinds of  Central Tendencies</a:t>
            </a:r>
            <a:endParaRPr/>
          </a:p>
          <a:p>
            <a:pPr marL="457200" lvl="0" indent="-342900" algn="l" rtl="0">
              <a:spcBef>
                <a:spcPts val="1600"/>
              </a:spcBef>
              <a:spcAft>
                <a:spcPts val="0"/>
              </a:spcAft>
              <a:buSzPts val="1800"/>
              <a:buAutoNum type="arabicPeriod"/>
            </a:pPr>
            <a:r>
              <a:rPr lang="de-CH"/>
              <a:t>MEAN</a:t>
            </a:r>
            <a:endParaRPr/>
          </a:p>
          <a:p>
            <a:pPr marL="457200" lvl="0" indent="-342900" algn="l" rtl="0">
              <a:spcBef>
                <a:spcPts val="0"/>
              </a:spcBef>
              <a:spcAft>
                <a:spcPts val="0"/>
              </a:spcAft>
              <a:buSzPts val="1800"/>
              <a:buAutoNum type="arabicPeriod"/>
            </a:pPr>
            <a:r>
              <a:rPr lang="de-CH"/>
              <a:t>MEDIAN</a:t>
            </a:r>
            <a:endParaRPr/>
          </a:p>
          <a:p>
            <a:pPr marL="457200" lvl="0" indent="-342900" algn="l" rtl="0">
              <a:spcBef>
                <a:spcPts val="0"/>
              </a:spcBef>
              <a:spcAft>
                <a:spcPts val="0"/>
              </a:spcAft>
              <a:buSzPts val="1800"/>
              <a:buAutoNum type="arabicPeriod"/>
            </a:pPr>
            <a:r>
              <a:rPr lang="de-CH"/>
              <a:t>MODE</a:t>
            </a:r>
            <a:endParaRPr/>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Shape 986"/>
        <p:cNvGrpSpPr/>
        <p:nvPr/>
      </p:nvGrpSpPr>
      <p:grpSpPr>
        <a:xfrm>
          <a:off x="0" y="0"/>
          <a:ext cx="0" cy="0"/>
          <a:chOff x="0" y="0"/>
          <a:chExt cx="0" cy="0"/>
        </a:xfrm>
      </p:grpSpPr>
      <p:sp>
        <p:nvSpPr>
          <p:cNvPr id="987" name="Google Shape;987;p164"/>
          <p:cNvSpPr txBox="1">
            <a:spLocks noGrp="1"/>
          </p:cNvSpPr>
          <p:nvPr>
            <p:ph type="title"/>
          </p:nvPr>
        </p:nvSpPr>
        <p:spPr>
          <a:prstGeom prst="rect">
            <a:avLst/>
          </a:prstGeom>
        </p:spPr>
        <p:txBody>
          <a:bodyPr spcFirstLastPara="1" wrap="square" lIns="91425" tIns="91425" rIns="91425" bIns="91425" anchor="b" anchorCtr="0">
            <a:noAutofit/>
          </a:bodyPr>
          <a:lstStyle/>
          <a:p>
            <a:pPr marL="457200" lvl="0" indent="-495300" algn="l" rtl="0">
              <a:spcBef>
                <a:spcPts val="0"/>
              </a:spcBef>
              <a:spcAft>
                <a:spcPts val="0"/>
              </a:spcAft>
              <a:buSzPts val="4200"/>
              <a:buAutoNum type="arabicPeriod"/>
            </a:pPr>
            <a:r>
              <a:rPr lang="de-CH"/>
              <a:t>MEAN∑</a:t>
            </a:r>
            <a:endParaRPr/>
          </a:p>
        </p:txBody>
      </p:sp>
      <p:sp>
        <p:nvSpPr>
          <p:cNvPr id="988" name="Google Shape;988;p164"/>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t>Mean is the sum of the value of each observation in a dataset divided by number of observations</a:t>
            </a:r>
            <a:endParaRPr/>
          </a:p>
          <a:p>
            <a:pPr marL="0" lvl="0" indent="0" algn="l" rtl="0">
              <a:spcBef>
                <a:spcPts val="1600"/>
              </a:spcBef>
              <a:spcAft>
                <a:spcPts val="0"/>
              </a:spcAft>
              <a:buNone/>
            </a:pPr>
            <a:r>
              <a:rPr lang="de-CH"/>
              <a:t>We use numpy module to find the mean</a:t>
            </a:r>
            <a:br>
              <a:rPr lang="de-CH"/>
            </a:br>
            <a:r>
              <a:rPr lang="de-CH">
                <a:solidFill>
                  <a:srgbClr val="0000FF"/>
                </a:solidFill>
                <a:latin typeface="Spectral"/>
                <a:ea typeface="Spectral"/>
                <a:cs typeface="Spectral"/>
                <a:sym typeface="Spectral"/>
              </a:rPr>
              <a:t>import numpy as np</a:t>
            </a:r>
            <a:endParaRPr>
              <a:solidFill>
                <a:srgbClr val="0000FF"/>
              </a:solidFill>
              <a:latin typeface="Spectral"/>
              <a:ea typeface="Spectral"/>
              <a:cs typeface="Spectral"/>
              <a:sym typeface="Spectral"/>
            </a:endParaRPr>
          </a:p>
          <a:p>
            <a:pPr marL="0" lvl="0" indent="0" algn="l" rtl="0">
              <a:spcBef>
                <a:spcPts val="1600"/>
              </a:spcBef>
              <a:spcAft>
                <a:spcPts val="0"/>
              </a:spcAft>
              <a:buClr>
                <a:schemeClr val="dk1"/>
              </a:buClr>
              <a:buSzPts val="1100"/>
              <a:buFont typeface="Arial"/>
              <a:buNone/>
            </a:pPr>
            <a:r>
              <a:rPr lang="de-CH">
                <a:solidFill>
                  <a:srgbClr val="0000FF"/>
                </a:solidFill>
                <a:latin typeface="Spectral"/>
                <a:ea typeface="Spectral"/>
                <a:cs typeface="Spectral"/>
                <a:sym typeface="Spectral"/>
              </a:rPr>
              <a:t>list=np.random.randint(3,10,20)</a:t>
            </a:r>
            <a:endParaRPr>
              <a:solidFill>
                <a:srgbClr val="0000FF"/>
              </a:solidFill>
              <a:latin typeface="Spectral"/>
              <a:ea typeface="Spectral"/>
              <a:cs typeface="Spectral"/>
              <a:sym typeface="Spectral"/>
            </a:endParaRPr>
          </a:p>
          <a:p>
            <a:pPr marL="0" lvl="0" indent="0" algn="l" rtl="0">
              <a:spcBef>
                <a:spcPts val="1600"/>
              </a:spcBef>
              <a:spcAft>
                <a:spcPts val="0"/>
              </a:spcAft>
              <a:buClr>
                <a:schemeClr val="dk1"/>
              </a:buClr>
              <a:buSzPts val="1100"/>
              <a:buFont typeface="Arial"/>
              <a:buNone/>
            </a:pPr>
            <a:r>
              <a:rPr lang="de-CH">
                <a:solidFill>
                  <a:srgbClr val="0000FF"/>
                </a:solidFill>
                <a:latin typeface="Spectral"/>
                <a:ea typeface="Spectral"/>
                <a:cs typeface="Spectral"/>
                <a:sym typeface="Spectral"/>
              </a:rPr>
              <a:t>np.mean(list)</a:t>
            </a:r>
            <a:endParaRPr>
              <a:solidFill>
                <a:srgbClr val="0000FF"/>
              </a:solidFill>
              <a:latin typeface="Spectral"/>
              <a:ea typeface="Spectral"/>
              <a:cs typeface="Spectral"/>
              <a:sym typeface="Spectral"/>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Shape 992"/>
        <p:cNvGrpSpPr/>
        <p:nvPr/>
      </p:nvGrpSpPr>
      <p:grpSpPr>
        <a:xfrm>
          <a:off x="0" y="0"/>
          <a:ext cx="0" cy="0"/>
          <a:chOff x="0" y="0"/>
          <a:chExt cx="0" cy="0"/>
        </a:xfrm>
      </p:grpSpPr>
      <p:sp>
        <p:nvSpPr>
          <p:cNvPr id="993" name="Google Shape;993;p165"/>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2. MEDIAN</a:t>
            </a:r>
            <a:endParaRPr/>
          </a:p>
        </p:txBody>
      </p:sp>
      <p:sp>
        <p:nvSpPr>
          <p:cNvPr id="994" name="Google Shape;994;p165"/>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t>Median is the middle value of the distribution When the values are arranged in ascending or descending order..</a:t>
            </a:r>
            <a:endParaRPr/>
          </a:p>
          <a:p>
            <a:pPr marL="0" lvl="0" indent="0" algn="l" rtl="0">
              <a:spcBef>
                <a:spcPts val="1600"/>
              </a:spcBef>
              <a:spcAft>
                <a:spcPts val="0"/>
              </a:spcAft>
              <a:buNone/>
            </a:pPr>
            <a:r>
              <a:rPr lang="de-CH"/>
              <a:t>We use median() function in numpy to find the median value</a:t>
            </a:r>
            <a:endParaRPr/>
          </a:p>
          <a:p>
            <a:pPr marL="0" lvl="0" indent="0" algn="l" rtl="0">
              <a:spcBef>
                <a:spcPts val="1600"/>
              </a:spcBef>
              <a:spcAft>
                <a:spcPts val="0"/>
              </a:spcAft>
              <a:buClr>
                <a:schemeClr val="dk1"/>
              </a:buClr>
              <a:buSzPts val="1100"/>
              <a:buFont typeface="Arial"/>
              <a:buNone/>
            </a:pPr>
            <a:r>
              <a:rPr lang="de-CH">
                <a:solidFill>
                  <a:srgbClr val="0000FF"/>
                </a:solidFill>
                <a:latin typeface="Spectral"/>
                <a:ea typeface="Spectral"/>
                <a:cs typeface="Spectral"/>
                <a:sym typeface="Spectral"/>
              </a:rPr>
              <a:t>list=np.random.randint(3,10,20)</a:t>
            </a:r>
            <a:endParaRPr>
              <a:solidFill>
                <a:srgbClr val="0000FF"/>
              </a:solidFill>
              <a:latin typeface="Spectral"/>
              <a:ea typeface="Spectral"/>
              <a:cs typeface="Spectral"/>
              <a:sym typeface="Spectral"/>
            </a:endParaRPr>
          </a:p>
          <a:p>
            <a:pPr marL="0" lvl="0" indent="0" algn="l" rtl="0">
              <a:spcBef>
                <a:spcPts val="1600"/>
              </a:spcBef>
              <a:spcAft>
                <a:spcPts val="0"/>
              </a:spcAft>
              <a:buClr>
                <a:schemeClr val="dk1"/>
              </a:buClr>
              <a:buSzPts val="1100"/>
              <a:buFont typeface="Arial"/>
              <a:buNone/>
            </a:pPr>
            <a:r>
              <a:rPr lang="de-CH">
                <a:solidFill>
                  <a:srgbClr val="0000FF"/>
                </a:solidFill>
                <a:latin typeface="Spectral"/>
                <a:ea typeface="Spectral"/>
                <a:cs typeface="Spectral"/>
                <a:sym typeface="Spectral"/>
              </a:rPr>
              <a:t>np.median(list)</a:t>
            </a:r>
            <a:endParaRPr>
              <a:solidFill>
                <a:srgbClr val="0000FF"/>
              </a:solidFill>
              <a:latin typeface="Spectral"/>
              <a:ea typeface="Spectral"/>
              <a:cs typeface="Spectral"/>
              <a:sym typeface="Spectral"/>
            </a:endParaRPr>
          </a:p>
          <a:p>
            <a:pPr marL="0" lvl="0" indent="0" algn="l" rtl="0">
              <a:spcBef>
                <a:spcPts val="1600"/>
              </a:spcBef>
              <a:spcAft>
                <a:spcPts val="1600"/>
              </a:spcAft>
              <a:buNone/>
            </a:pPr>
            <a:endParaRPr/>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Shape 998"/>
        <p:cNvGrpSpPr/>
        <p:nvPr/>
      </p:nvGrpSpPr>
      <p:grpSpPr>
        <a:xfrm>
          <a:off x="0" y="0"/>
          <a:ext cx="0" cy="0"/>
          <a:chOff x="0" y="0"/>
          <a:chExt cx="0" cy="0"/>
        </a:xfrm>
      </p:grpSpPr>
      <p:sp>
        <p:nvSpPr>
          <p:cNvPr id="999" name="Google Shape;999;p166"/>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3. MODE</a:t>
            </a:r>
            <a:endParaRPr/>
          </a:p>
        </p:txBody>
      </p:sp>
      <p:sp>
        <p:nvSpPr>
          <p:cNvPr id="1000" name="Google Shape;1000;p166"/>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t>Mode is the most commonly occuring value in the distribution</a:t>
            </a:r>
            <a:endParaRPr/>
          </a:p>
          <a:p>
            <a:pPr marL="0" lvl="0" indent="0" algn="l" rtl="0">
              <a:spcBef>
                <a:spcPts val="1600"/>
              </a:spcBef>
              <a:spcAft>
                <a:spcPts val="0"/>
              </a:spcAft>
              <a:buNone/>
            </a:pPr>
            <a:r>
              <a:rPr lang="de-CH"/>
              <a:t>In numpy there is no direct function to find mode .So we will use statistics module to use it</a:t>
            </a:r>
            <a:endParaRPr/>
          </a:p>
          <a:p>
            <a:pPr marL="0" lvl="0" indent="0" algn="l" rtl="0">
              <a:spcBef>
                <a:spcPts val="1600"/>
              </a:spcBef>
              <a:spcAft>
                <a:spcPts val="0"/>
              </a:spcAft>
              <a:buClr>
                <a:schemeClr val="dk1"/>
              </a:buClr>
              <a:buSzPts val="1100"/>
              <a:buFont typeface="Arial"/>
              <a:buNone/>
            </a:pPr>
            <a:r>
              <a:rPr lang="de-CH">
                <a:solidFill>
                  <a:srgbClr val="0000FF"/>
                </a:solidFill>
                <a:latin typeface="Spectral"/>
                <a:ea typeface="Spectral"/>
                <a:cs typeface="Spectral"/>
                <a:sym typeface="Spectral"/>
              </a:rPr>
              <a:t>import numpy as np</a:t>
            </a:r>
            <a:endParaRPr>
              <a:solidFill>
                <a:srgbClr val="0000FF"/>
              </a:solidFill>
              <a:latin typeface="Spectral"/>
              <a:ea typeface="Spectral"/>
              <a:cs typeface="Spectral"/>
              <a:sym typeface="Spectral"/>
            </a:endParaRPr>
          </a:p>
          <a:p>
            <a:pPr marL="0" lvl="0" indent="0" algn="l" rtl="0">
              <a:spcBef>
                <a:spcPts val="1600"/>
              </a:spcBef>
              <a:spcAft>
                <a:spcPts val="0"/>
              </a:spcAft>
              <a:buClr>
                <a:schemeClr val="dk1"/>
              </a:buClr>
              <a:buSzPts val="1100"/>
              <a:buFont typeface="Arial"/>
              <a:buNone/>
            </a:pPr>
            <a:r>
              <a:rPr lang="de-CH">
                <a:solidFill>
                  <a:srgbClr val="0000FF"/>
                </a:solidFill>
                <a:latin typeface="Spectral"/>
                <a:ea typeface="Spectral"/>
                <a:cs typeface="Spectral"/>
                <a:sym typeface="Spectral"/>
              </a:rPr>
              <a:t>import statistics as st</a:t>
            </a:r>
            <a:endParaRPr>
              <a:solidFill>
                <a:srgbClr val="0000FF"/>
              </a:solidFill>
              <a:latin typeface="Spectral"/>
              <a:ea typeface="Spectral"/>
              <a:cs typeface="Spectral"/>
              <a:sym typeface="Spectral"/>
            </a:endParaRPr>
          </a:p>
          <a:p>
            <a:pPr marL="0" lvl="0" indent="0" algn="l" rtl="0">
              <a:spcBef>
                <a:spcPts val="1600"/>
              </a:spcBef>
              <a:spcAft>
                <a:spcPts val="0"/>
              </a:spcAft>
              <a:buClr>
                <a:schemeClr val="dk1"/>
              </a:buClr>
              <a:buSzPts val="1100"/>
              <a:buFont typeface="Arial"/>
              <a:buNone/>
            </a:pPr>
            <a:r>
              <a:rPr lang="de-CH">
                <a:solidFill>
                  <a:srgbClr val="0000FF"/>
                </a:solidFill>
                <a:latin typeface="Spectral"/>
                <a:ea typeface="Spectral"/>
                <a:cs typeface="Spectral"/>
                <a:sym typeface="Spectral"/>
              </a:rPr>
              <a:t>list=np.random.randint(3,10,20)</a:t>
            </a:r>
            <a:endParaRPr>
              <a:solidFill>
                <a:srgbClr val="0000FF"/>
              </a:solidFill>
              <a:latin typeface="Spectral"/>
              <a:ea typeface="Spectral"/>
              <a:cs typeface="Spectral"/>
              <a:sym typeface="Spectral"/>
            </a:endParaRPr>
          </a:p>
          <a:p>
            <a:pPr marL="0" lvl="0" indent="0" algn="l" rtl="0">
              <a:spcBef>
                <a:spcPts val="1600"/>
              </a:spcBef>
              <a:spcAft>
                <a:spcPts val="0"/>
              </a:spcAft>
              <a:buClr>
                <a:schemeClr val="dk1"/>
              </a:buClr>
              <a:buSzPts val="1100"/>
              <a:buFont typeface="Arial"/>
              <a:buNone/>
            </a:pPr>
            <a:r>
              <a:rPr lang="de-CH">
                <a:solidFill>
                  <a:srgbClr val="0000FF"/>
                </a:solidFill>
                <a:latin typeface="Spectral"/>
                <a:ea typeface="Spectral"/>
                <a:cs typeface="Spectral"/>
                <a:sym typeface="Spectral"/>
              </a:rPr>
              <a:t>st.mode(list)</a:t>
            </a:r>
            <a:endParaRPr>
              <a:solidFill>
                <a:srgbClr val="0000FF"/>
              </a:solidFill>
              <a:latin typeface="Spectral"/>
              <a:ea typeface="Spectral"/>
              <a:cs typeface="Spectral"/>
              <a:sym typeface="Spectral"/>
            </a:endParaRPr>
          </a:p>
          <a:p>
            <a:pPr marL="0" lvl="0" indent="0" algn="l" rtl="0">
              <a:spcBef>
                <a:spcPts val="1600"/>
              </a:spcBef>
              <a:spcAft>
                <a:spcPts val="1600"/>
              </a:spcAft>
              <a:buNone/>
            </a:pPr>
            <a:endParaRPr/>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Shape 1004"/>
        <p:cNvGrpSpPr/>
        <p:nvPr/>
      </p:nvGrpSpPr>
      <p:grpSpPr>
        <a:xfrm>
          <a:off x="0" y="0"/>
          <a:ext cx="0" cy="0"/>
          <a:chOff x="0" y="0"/>
          <a:chExt cx="0" cy="0"/>
        </a:xfrm>
      </p:grpSpPr>
      <p:sp>
        <p:nvSpPr>
          <p:cNvPr id="1005" name="Google Shape;1005;p167"/>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MEASURE OF SPREAD..</a:t>
            </a:r>
            <a:endParaRPr/>
          </a:p>
        </p:txBody>
      </p:sp>
      <p:sp>
        <p:nvSpPr>
          <p:cNvPr id="1006" name="Google Shape;1006;p167"/>
          <p:cNvSpPr txBox="1">
            <a:spLocks noGrp="1"/>
          </p:cNvSpPr>
          <p:nvPr>
            <p:ph type="body" idx="1"/>
          </p:nvPr>
        </p:nvSpPr>
        <p:spPr>
          <a:xfrm>
            <a:off x="311700" y="1225225"/>
            <a:ext cx="8520600" cy="3678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sz="1400">
                <a:solidFill>
                  <a:srgbClr val="000000"/>
                </a:solidFill>
                <a:highlight>
                  <a:srgbClr val="FFFFFF"/>
                </a:highlight>
                <a:latin typeface="Arial"/>
                <a:ea typeface="Arial"/>
                <a:cs typeface="Arial"/>
                <a:sym typeface="Arial"/>
              </a:rPr>
              <a:t>Measures of spread describe how similar or varied the set of observed values are for a particular </a:t>
            </a:r>
            <a:r>
              <a:rPr lang="de-CH" sz="1400">
                <a:solidFill>
                  <a:srgbClr val="000000"/>
                </a:solidFill>
                <a:highlight>
                  <a:srgbClr val="FFFFFF"/>
                </a:highlight>
                <a:uFill>
                  <a:noFill/>
                </a:uFill>
                <a:latin typeface="Arial"/>
                <a:ea typeface="Arial"/>
                <a:cs typeface="Arial"/>
                <a:sym typeface="Arial"/>
                <a:hlinkClick r:id="rId3">
                  <a:extLst>
                    <a:ext uri="{A12FA001-AC4F-418D-AE19-62706E023703}">
                      <ahyp:hlinkClr xmlns:ahyp="http://schemas.microsoft.com/office/drawing/2018/hyperlinkcolor" val="tx"/>
                    </a:ext>
                  </a:extLst>
                </a:hlinkClick>
              </a:rPr>
              <a:t>variable</a:t>
            </a:r>
            <a:r>
              <a:rPr lang="de-CH" sz="1400">
                <a:solidFill>
                  <a:srgbClr val="000000"/>
                </a:solidFill>
                <a:highlight>
                  <a:srgbClr val="FFFFFF"/>
                </a:highlight>
                <a:latin typeface="Arial"/>
                <a:ea typeface="Arial"/>
                <a:cs typeface="Arial"/>
                <a:sym typeface="Arial"/>
              </a:rPr>
              <a:t> (</a:t>
            </a:r>
            <a:r>
              <a:rPr lang="de-CH" sz="1400">
                <a:solidFill>
                  <a:srgbClr val="000000"/>
                </a:solidFill>
                <a:highlight>
                  <a:srgbClr val="FFFFFF"/>
                </a:highlight>
                <a:uFill>
                  <a:noFill/>
                </a:uFill>
                <a:latin typeface="Arial"/>
                <a:ea typeface="Arial"/>
                <a:cs typeface="Arial"/>
                <a:sym typeface="Arial"/>
                <a:hlinkClick r:id="rId4">
                  <a:extLst>
                    <a:ext uri="{A12FA001-AC4F-418D-AE19-62706E023703}">
                      <ahyp:hlinkClr xmlns:ahyp="http://schemas.microsoft.com/office/drawing/2018/hyperlinkcolor" val="tx"/>
                    </a:ext>
                  </a:extLst>
                </a:hlinkClick>
              </a:rPr>
              <a:t>data item</a:t>
            </a:r>
            <a:r>
              <a:rPr lang="de-CH" sz="1400">
                <a:solidFill>
                  <a:srgbClr val="000000"/>
                </a:solidFill>
                <a:highlight>
                  <a:srgbClr val="FFFFFF"/>
                </a:highlight>
                <a:latin typeface="Arial"/>
                <a:ea typeface="Arial"/>
                <a:cs typeface="Arial"/>
                <a:sym typeface="Arial"/>
              </a:rPr>
              <a:t>). It </a:t>
            </a:r>
            <a:r>
              <a:rPr lang="de-CH" sz="1400">
                <a:highlight>
                  <a:schemeClr val="lt1"/>
                </a:highlight>
                <a:latin typeface="Arial"/>
                <a:ea typeface="Arial"/>
                <a:cs typeface="Arial"/>
                <a:sym typeface="Arial"/>
              </a:rPr>
              <a:t>shows how scattered the values are and how much they differ from the mean value.</a:t>
            </a:r>
            <a:endParaRPr sz="1400">
              <a:solidFill>
                <a:srgbClr val="000000"/>
              </a:solidFill>
              <a:highlight>
                <a:srgbClr val="FFFFFF"/>
              </a:highlight>
              <a:latin typeface="Arial"/>
              <a:ea typeface="Arial"/>
              <a:cs typeface="Arial"/>
              <a:sym typeface="Arial"/>
            </a:endParaRPr>
          </a:p>
          <a:p>
            <a:pPr marL="0" lvl="0" indent="0" algn="l" rtl="0">
              <a:spcBef>
                <a:spcPts val="1600"/>
              </a:spcBef>
              <a:spcAft>
                <a:spcPts val="0"/>
              </a:spcAft>
              <a:buNone/>
            </a:pPr>
            <a:r>
              <a:rPr lang="de-CH" sz="1400">
                <a:solidFill>
                  <a:srgbClr val="000000"/>
                </a:solidFill>
                <a:highlight>
                  <a:srgbClr val="FFFFFF"/>
                </a:highlight>
                <a:latin typeface="Arial"/>
                <a:ea typeface="Arial"/>
                <a:cs typeface="Arial"/>
                <a:sym typeface="Arial"/>
              </a:rPr>
              <a:t>Measures of spread include the </a:t>
            </a:r>
            <a:endParaRPr sz="1400">
              <a:solidFill>
                <a:srgbClr val="000000"/>
              </a:solidFill>
              <a:highlight>
                <a:srgbClr val="FFFFFF"/>
              </a:highlight>
              <a:latin typeface="Arial"/>
              <a:ea typeface="Arial"/>
              <a:cs typeface="Arial"/>
              <a:sym typeface="Arial"/>
            </a:endParaRPr>
          </a:p>
          <a:p>
            <a:pPr marL="457200" lvl="0" indent="-317500" algn="l" rtl="0">
              <a:spcBef>
                <a:spcPts val="1600"/>
              </a:spcBef>
              <a:spcAft>
                <a:spcPts val="0"/>
              </a:spcAft>
              <a:buClr>
                <a:srgbClr val="000000"/>
              </a:buClr>
              <a:buSzPts val="1400"/>
              <a:buFont typeface="Arial"/>
              <a:buAutoNum type="arabicPeriod"/>
            </a:pPr>
            <a:r>
              <a:rPr lang="de-CH" sz="1400">
                <a:solidFill>
                  <a:srgbClr val="000000"/>
                </a:solidFill>
                <a:highlight>
                  <a:srgbClr val="FFFFFF"/>
                </a:highlight>
                <a:latin typeface="Arial"/>
                <a:ea typeface="Arial"/>
                <a:cs typeface="Arial"/>
                <a:sym typeface="Arial"/>
              </a:rPr>
              <a:t>Range</a:t>
            </a:r>
            <a:endParaRPr sz="1400">
              <a:solidFill>
                <a:srgbClr val="000000"/>
              </a:solidFill>
              <a:highlight>
                <a:srgbClr val="FFFFFF"/>
              </a:highlight>
              <a:latin typeface="Arial"/>
              <a:ea typeface="Arial"/>
              <a:cs typeface="Arial"/>
              <a:sym typeface="Arial"/>
            </a:endParaRPr>
          </a:p>
          <a:p>
            <a:pPr marL="457200" lvl="0" indent="-317500" algn="l" rtl="0">
              <a:spcBef>
                <a:spcPts val="0"/>
              </a:spcBef>
              <a:spcAft>
                <a:spcPts val="0"/>
              </a:spcAft>
              <a:buClr>
                <a:srgbClr val="000000"/>
              </a:buClr>
              <a:buSzPts val="1400"/>
              <a:buFont typeface="Arial"/>
              <a:buAutoNum type="arabicPeriod"/>
            </a:pPr>
            <a:r>
              <a:rPr lang="de-CH" sz="1400">
                <a:solidFill>
                  <a:srgbClr val="000000"/>
                </a:solidFill>
                <a:highlight>
                  <a:srgbClr val="FFFFFF"/>
                </a:highlight>
                <a:latin typeface="Arial"/>
                <a:ea typeface="Arial"/>
                <a:cs typeface="Arial"/>
                <a:sym typeface="Arial"/>
              </a:rPr>
              <a:t>Quartiles and the interquartile range</a:t>
            </a:r>
            <a:endParaRPr sz="1400">
              <a:solidFill>
                <a:srgbClr val="000000"/>
              </a:solidFill>
              <a:highlight>
                <a:srgbClr val="FFFFFF"/>
              </a:highlight>
              <a:latin typeface="Arial"/>
              <a:ea typeface="Arial"/>
              <a:cs typeface="Arial"/>
              <a:sym typeface="Arial"/>
            </a:endParaRPr>
          </a:p>
          <a:p>
            <a:pPr marL="457200" lvl="0" indent="-317500" algn="l" rtl="0">
              <a:spcBef>
                <a:spcPts val="0"/>
              </a:spcBef>
              <a:spcAft>
                <a:spcPts val="0"/>
              </a:spcAft>
              <a:buClr>
                <a:srgbClr val="000000"/>
              </a:buClr>
              <a:buSzPts val="1400"/>
              <a:buFont typeface="Arial"/>
              <a:buAutoNum type="arabicPeriod"/>
            </a:pPr>
            <a:r>
              <a:rPr lang="de-CH" sz="1400">
                <a:solidFill>
                  <a:srgbClr val="000000"/>
                </a:solidFill>
                <a:highlight>
                  <a:srgbClr val="FFFFFF"/>
                </a:highlight>
                <a:latin typeface="Arial"/>
                <a:ea typeface="Arial"/>
                <a:cs typeface="Arial"/>
                <a:sym typeface="Arial"/>
              </a:rPr>
              <a:t>Variance </a:t>
            </a:r>
            <a:endParaRPr sz="1400">
              <a:solidFill>
                <a:srgbClr val="000000"/>
              </a:solidFill>
              <a:highlight>
                <a:srgbClr val="FFFFFF"/>
              </a:highlight>
              <a:latin typeface="Arial"/>
              <a:ea typeface="Arial"/>
              <a:cs typeface="Arial"/>
              <a:sym typeface="Arial"/>
            </a:endParaRPr>
          </a:p>
          <a:p>
            <a:pPr marL="457200" lvl="0" indent="-317500" algn="l" rtl="0">
              <a:spcBef>
                <a:spcPts val="0"/>
              </a:spcBef>
              <a:spcAft>
                <a:spcPts val="0"/>
              </a:spcAft>
              <a:buClr>
                <a:srgbClr val="000000"/>
              </a:buClr>
              <a:buSzPts val="1400"/>
              <a:buFont typeface="Arial"/>
              <a:buAutoNum type="arabicPeriod"/>
            </a:pPr>
            <a:r>
              <a:rPr lang="de-CH" sz="1400">
                <a:solidFill>
                  <a:srgbClr val="000000"/>
                </a:solidFill>
                <a:highlight>
                  <a:srgbClr val="FFFFFF"/>
                </a:highlight>
                <a:latin typeface="Arial"/>
                <a:ea typeface="Arial"/>
                <a:cs typeface="Arial"/>
                <a:sym typeface="Arial"/>
              </a:rPr>
              <a:t>Standard deviation.</a:t>
            </a:r>
            <a:endParaRPr sz="1400">
              <a:solidFill>
                <a:srgbClr val="000000"/>
              </a:solidFill>
              <a:highlight>
                <a:srgbClr val="FFFFFF"/>
              </a:highlight>
              <a:latin typeface="Arial"/>
              <a:ea typeface="Arial"/>
              <a:cs typeface="Arial"/>
              <a:sym typeface="Arial"/>
            </a:endParaRPr>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Shape 1010"/>
        <p:cNvGrpSpPr/>
        <p:nvPr/>
      </p:nvGrpSpPr>
      <p:grpSpPr>
        <a:xfrm>
          <a:off x="0" y="0"/>
          <a:ext cx="0" cy="0"/>
          <a:chOff x="0" y="0"/>
          <a:chExt cx="0" cy="0"/>
        </a:xfrm>
      </p:grpSpPr>
      <p:sp>
        <p:nvSpPr>
          <p:cNvPr id="1011" name="Google Shape;1011;p168"/>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012" name="Google Shape;1012;p168"/>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CH" sz="1400" b="1">
                <a:solidFill>
                  <a:srgbClr val="FF0000"/>
                </a:solidFill>
                <a:latin typeface="Arial"/>
                <a:ea typeface="Arial"/>
                <a:cs typeface="Arial"/>
                <a:sym typeface="Arial"/>
              </a:rPr>
              <a:t>4, 5, 5, 5, 6, 6, 6, 6, 7, 7, 7, 8 </a:t>
            </a:r>
            <a:r>
              <a:rPr lang="de-CH" sz="1400">
                <a:solidFill>
                  <a:srgbClr val="000000"/>
                </a:solidFill>
                <a:latin typeface="Arial"/>
                <a:ea typeface="Arial"/>
                <a:cs typeface="Arial"/>
                <a:sym typeface="Arial"/>
              </a:rPr>
              <a:t>                                                </a:t>
            </a:r>
            <a:r>
              <a:rPr lang="de-CH" sz="1400" b="1">
                <a:solidFill>
                  <a:srgbClr val="008000"/>
                </a:solidFill>
                <a:latin typeface="Arial"/>
                <a:ea typeface="Arial"/>
                <a:cs typeface="Arial"/>
                <a:sym typeface="Arial"/>
              </a:rPr>
              <a:t>1, 2, 3, 4, 5, 6, 6, 7, 8, 9, 10, 11</a:t>
            </a:r>
            <a:endParaRPr sz="1400" b="1">
              <a:solidFill>
                <a:srgbClr val="008000"/>
              </a:solidFill>
              <a:latin typeface="Arial"/>
              <a:ea typeface="Arial"/>
              <a:cs typeface="Arial"/>
              <a:sym typeface="Arial"/>
            </a:endParaRPr>
          </a:p>
          <a:p>
            <a:pPr marL="0" lvl="0" indent="0" algn="l" rtl="0">
              <a:spcBef>
                <a:spcPts val="0"/>
              </a:spcBef>
              <a:spcAft>
                <a:spcPts val="0"/>
              </a:spcAft>
              <a:buNone/>
            </a:pPr>
            <a:r>
              <a:rPr lang="de-CH" sz="1400">
                <a:solidFill>
                  <a:srgbClr val="000000"/>
                </a:solidFill>
                <a:latin typeface="Arial"/>
                <a:ea typeface="Arial"/>
                <a:cs typeface="Arial"/>
                <a:sym typeface="Arial"/>
              </a:rPr>
              <a:t>Consider the above 2 dataset both having the same mean value that is 6</a:t>
            </a:r>
            <a:endParaRPr sz="1400">
              <a:solidFill>
                <a:srgbClr val="000000"/>
              </a:solidFill>
              <a:latin typeface="Arial"/>
              <a:ea typeface="Arial"/>
              <a:cs typeface="Arial"/>
              <a:sym typeface="Arial"/>
            </a:endParaRPr>
          </a:p>
          <a:p>
            <a:pPr marL="0" lvl="0" indent="0" algn="l" rtl="0">
              <a:spcBef>
                <a:spcPts val="0"/>
              </a:spcBef>
              <a:spcAft>
                <a:spcPts val="0"/>
              </a:spcAft>
              <a:buNone/>
            </a:pPr>
            <a:endParaRPr sz="1000">
              <a:solidFill>
                <a:srgbClr val="000000"/>
              </a:solidFill>
              <a:latin typeface="Arial"/>
              <a:ea typeface="Arial"/>
              <a:cs typeface="Arial"/>
              <a:sym typeface="Arial"/>
            </a:endParaRPr>
          </a:p>
          <a:p>
            <a:pPr marL="0" lvl="0" indent="0" algn="l" rtl="0">
              <a:spcBef>
                <a:spcPts val="0"/>
              </a:spcBef>
              <a:spcAft>
                <a:spcPts val="1600"/>
              </a:spcAft>
              <a:buNone/>
            </a:pPr>
            <a:r>
              <a:rPr lang="de-CH" sz="1400">
                <a:solidFill>
                  <a:srgbClr val="333333"/>
                </a:solidFill>
                <a:latin typeface="Arial"/>
                <a:ea typeface="Arial"/>
                <a:cs typeface="Arial"/>
                <a:sym typeface="Arial"/>
              </a:rPr>
              <a:t>if we look at the spread of the values in the dataset , we can see that second  Dataset is more dispersed than  first Dataset .</a:t>
            </a:r>
            <a:r>
              <a:rPr lang="de-CH" sz="1400">
                <a:solidFill>
                  <a:srgbClr val="008000"/>
                </a:solidFill>
                <a:latin typeface="Arial"/>
                <a:ea typeface="Arial"/>
                <a:cs typeface="Arial"/>
                <a:sym typeface="Arial"/>
              </a:rPr>
              <a:t> </a:t>
            </a:r>
            <a:r>
              <a:rPr lang="de-CH" sz="1400">
                <a:solidFill>
                  <a:srgbClr val="333333"/>
                </a:solidFill>
                <a:latin typeface="Arial"/>
                <a:ea typeface="Arial"/>
                <a:cs typeface="Arial"/>
                <a:sym typeface="Arial"/>
              </a:rPr>
              <a:t>Used together, the measures of central tendency and measures of spread help us to better understand the data</a:t>
            </a:r>
            <a:endParaRPr sz="1400">
              <a:latin typeface="Arial"/>
              <a:ea typeface="Arial"/>
              <a:cs typeface="Arial"/>
              <a:sym typeface="Arial"/>
            </a:endParaRPr>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Shape 1016"/>
        <p:cNvGrpSpPr/>
        <p:nvPr/>
      </p:nvGrpSpPr>
      <p:grpSpPr>
        <a:xfrm>
          <a:off x="0" y="0"/>
          <a:ext cx="0" cy="0"/>
          <a:chOff x="0" y="0"/>
          <a:chExt cx="0" cy="0"/>
        </a:xfrm>
      </p:grpSpPr>
      <p:sp>
        <p:nvSpPr>
          <p:cNvPr id="1017" name="Google Shape;1017;p169"/>
          <p:cNvSpPr txBox="1">
            <a:spLocks noGrp="1"/>
          </p:cNvSpPr>
          <p:nvPr>
            <p:ph type="title"/>
          </p:nvPr>
        </p:nvSpPr>
        <p:spPr>
          <a:prstGeom prst="rect">
            <a:avLst/>
          </a:prstGeom>
        </p:spPr>
        <p:txBody>
          <a:bodyPr spcFirstLastPara="1" wrap="square" lIns="91425" tIns="91425" rIns="91425" bIns="91425" anchor="b" anchorCtr="0">
            <a:noAutofit/>
          </a:bodyPr>
          <a:lstStyle/>
          <a:p>
            <a:pPr marL="457200" lvl="0" indent="-495300" algn="l" rtl="0">
              <a:spcBef>
                <a:spcPts val="0"/>
              </a:spcBef>
              <a:spcAft>
                <a:spcPts val="0"/>
              </a:spcAft>
              <a:buSzPts val="4200"/>
              <a:buAutoNum type="arabicPeriod"/>
            </a:pPr>
            <a:r>
              <a:rPr lang="de-CH"/>
              <a:t>RANGE</a:t>
            </a:r>
            <a:endParaRPr/>
          </a:p>
        </p:txBody>
      </p:sp>
      <p:sp>
        <p:nvSpPr>
          <p:cNvPr id="1018" name="Google Shape;1018;p169"/>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solidFill>
                  <a:srgbClr val="434343"/>
                </a:solidFill>
                <a:highlight>
                  <a:srgbClr val="FFFFFF"/>
                </a:highlight>
                <a:latin typeface="Arial"/>
                <a:ea typeface="Arial"/>
                <a:cs typeface="Arial"/>
                <a:sym typeface="Arial"/>
              </a:rPr>
              <a:t>The range is the difference between the smallest value and the largest value in a dataset.</a:t>
            </a:r>
            <a:endParaRPr>
              <a:solidFill>
                <a:srgbClr val="434343"/>
              </a:solidFill>
              <a:highlight>
                <a:srgbClr val="FFFFFF"/>
              </a:highlight>
              <a:latin typeface="Arial"/>
              <a:ea typeface="Arial"/>
              <a:cs typeface="Arial"/>
              <a:sym typeface="Arial"/>
            </a:endParaRPr>
          </a:p>
          <a:p>
            <a:pPr marL="0" lvl="0" indent="0" algn="l" rtl="0">
              <a:spcBef>
                <a:spcPts val="1600"/>
              </a:spcBef>
              <a:spcAft>
                <a:spcPts val="0"/>
              </a:spcAft>
              <a:buClr>
                <a:schemeClr val="dk1"/>
              </a:buClr>
              <a:buSzPts val="1100"/>
              <a:buFont typeface="Arial"/>
              <a:buNone/>
            </a:pPr>
            <a:endParaRPr>
              <a:solidFill>
                <a:srgbClr val="434343"/>
              </a:solidFill>
              <a:highlight>
                <a:srgbClr val="FFFFFF"/>
              </a:highlight>
              <a:latin typeface="Arial"/>
              <a:ea typeface="Arial"/>
              <a:cs typeface="Arial"/>
              <a:sym typeface="Arial"/>
            </a:endParaRPr>
          </a:p>
          <a:p>
            <a:pPr marL="0" lvl="0" indent="0" algn="l" rtl="0">
              <a:spcBef>
                <a:spcPts val="1600"/>
              </a:spcBef>
              <a:spcAft>
                <a:spcPts val="0"/>
              </a:spcAft>
              <a:buNone/>
            </a:pPr>
            <a:endParaRPr/>
          </a:p>
          <a:p>
            <a:pPr marL="0" lvl="0" indent="0" algn="l" rtl="0">
              <a:lnSpc>
                <a:spcPct val="100000"/>
              </a:lnSpc>
              <a:spcBef>
                <a:spcPts val="1600"/>
              </a:spcBef>
              <a:spcAft>
                <a:spcPts val="0"/>
              </a:spcAft>
              <a:buClr>
                <a:schemeClr val="dk1"/>
              </a:buClr>
              <a:buSzPts val="1100"/>
              <a:buFont typeface="Arial"/>
              <a:buNone/>
            </a:pPr>
            <a:r>
              <a:rPr lang="de-CH" sz="1400">
                <a:solidFill>
                  <a:srgbClr val="333333"/>
                </a:solidFill>
                <a:latin typeface="Arial"/>
                <a:ea typeface="Arial"/>
                <a:cs typeface="Arial"/>
                <a:sym typeface="Arial"/>
              </a:rPr>
              <a:t>DATASET A: The range is 4, the difference between the highest value (8 ) and the lowest value (4).</a:t>
            </a:r>
            <a:endParaRPr sz="14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endParaRPr sz="1400">
              <a:latin typeface="Arial"/>
              <a:ea typeface="Arial"/>
              <a:cs typeface="Arial"/>
              <a:sym typeface="Arial"/>
            </a:endParaRPr>
          </a:p>
          <a:p>
            <a:pPr marL="0" lvl="0" indent="0" algn="l" rtl="0">
              <a:lnSpc>
                <a:spcPct val="100000"/>
              </a:lnSpc>
              <a:spcBef>
                <a:spcPts val="0"/>
              </a:spcBef>
              <a:spcAft>
                <a:spcPts val="0"/>
              </a:spcAft>
              <a:buClr>
                <a:schemeClr val="dk1"/>
              </a:buClr>
              <a:buSzPts val="1100"/>
              <a:buFont typeface="Arial"/>
              <a:buNone/>
            </a:pPr>
            <a:r>
              <a:rPr lang="de-CH" sz="1400">
                <a:solidFill>
                  <a:srgbClr val="000000"/>
                </a:solidFill>
                <a:latin typeface="Arial"/>
                <a:ea typeface="Arial"/>
                <a:cs typeface="Arial"/>
                <a:sym typeface="Arial"/>
              </a:rPr>
              <a:t>DATASET B: The range is 10, the difference between the highest value (11 ) and the lowest value (1)</a:t>
            </a:r>
            <a:endParaRPr sz="1400">
              <a:solidFill>
                <a:srgbClr val="000000"/>
              </a:solidFill>
            </a:endParaRPr>
          </a:p>
        </p:txBody>
      </p:sp>
      <p:graphicFrame>
        <p:nvGraphicFramePr>
          <p:cNvPr id="1019" name="Google Shape;1019;p169"/>
          <p:cNvGraphicFramePr/>
          <p:nvPr/>
        </p:nvGraphicFramePr>
        <p:xfrm>
          <a:off x="547925" y="2004200"/>
          <a:ext cx="3522950" cy="1023725"/>
        </p:xfrm>
        <a:graphic>
          <a:graphicData uri="http://schemas.openxmlformats.org/drawingml/2006/table">
            <a:tbl>
              <a:tblPr>
                <a:noFill/>
                <a:tableStyleId>{D8A72CF2-371C-45DC-8122-FC23861CFCA5}</a:tableStyleId>
              </a:tblPr>
              <a:tblGrid>
                <a:gridCol w="3522950">
                  <a:extLst>
                    <a:ext uri="{9D8B030D-6E8A-4147-A177-3AD203B41FA5}">
                      <a16:colId xmlns:a16="http://schemas.microsoft.com/office/drawing/2014/main" val="20000"/>
                    </a:ext>
                  </a:extLst>
                </a:gridCol>
              </a:tblGrid>
              <a:tr h="525275">
                <a:tc>
                  <a:txBody>
                    <a:bodyPr/>
                    <a:lstStyle/>
                    <a:p>
                      <a:pPr marL="0" lvl="0" indent="0" algn="ctr" rtl="0">
                        <a:lnSpc>
                          <a:spcPct val="115000"/>
                        </a:lnSpc>
                        <a:spcBef>
                          <a:spcPts val="0"/>
                        </a:spcBef>
                        <a:spcAft>
                          <a:spcPts val="0"/>
                        </a:spcAft>
                        <a:buNone/>
                      </a:pPr>
                      <a:r>
                        <a:rPr lang="de-CH" sz="1100" b="1">
                          <a:solidFill>
                            <a:srgbClr val="FF8100"/>
                          </a:solidFill>
                        </a:rPr>
                        <a:t>Dataset A</a:t>
                      </a:r>
                      <a:endParaRPr sz="1100" b="1">
                        <a:solidFill>
                          <a:srgbClr val="FF8100"/>
                        </a:solidFill>
                      </a:endParaRPr>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498450">
                <a:tc>
                  <a:txBody>
                    <a:bodyPr/>
                    <a:lstStyle/>
                    <a:p>
                      <a:pPr marL="0" lvl="0" indent="0" algn="ctr" rtl="0">
                        <a:lnSpc>
                          <a:spcPct val="115000"/>
                        </a:lnSpc>
                        <a:spcBef>
                          <a:spcPts val="0"/>
                        </a:spcBef>
                        <a:spcAft>
                          <a:spcPts val="0"/>
                        </a:spcAft>
                        <a:buNone/>
                      </a:pPr>
                      <a:r>
                        <a:rPr lang="de-CH"/>
                        <a:t>4, 5, 5, 5, 6, 6, 6, 6, 7, 7, 7, 8</a:t>
                      </a:r>
                      <a:endParaRPr/>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bl>
          </a:graphicData>
        </a:graphic>
      </p:graphicFrame>
      <p:graphicFrame>
        <p:nvGraphicFramePr>
          <p:cNvPr id="1020" name="Google Shape;1020;p169"/>
          <p:cNvGraphicFramePr/>
          <p:nvPr/>
        </p:nvGraphicFramePr>
        <p:xfrm>
          <a:off x="4377575" y="2004200"/>
          <a:ext cx="3522950" cy="1023725"/>
        </p:xfrm>
        <a:graphic>
          <a:graphicData uri="http://schemas.openxmlformats.org/drawingml/2006/table">
            <a:tbl>
              <a:tblPr>
                <a:noFill/>
                <a:tableStyleId>{D8A72CF2-371C-45DC-8122-FC23861CFCA5}</a:tableStyleId>
              </a:tblPr>
              <a:tblGrid>
                <a:gridCol w="3522950">
                  <a:extLst>
                    <a:ext uri="{9D8B030D-6E8A-4147-A177-3AD203B41FA5}">
                      <a16:colId xmlns:a16="http://schemas.microsoft.com/office/drawing/2014/main" val="20000"/>
                    </a:ext>
                  </a:extLst>
                </a:gridCol>
              </a:tblGrid>
              <a:tr h="447300">
                <a:tc>
                  <a:txBody>
                    <a:bodyPr/>
                    <a:lstStyle/>
                    <a:p>
                      <a:pPr marL="0" lvl="0" indent="0" algn="ctr" rtl="0">
                        <a:lnSpc>
                          <a:spcPct val="115000"/>
                        </a:lnSpc>
                        <a:spcBef>
                          <a:spcPts val="0"/>
                        </a:spcBef>
                        <a:spcAft>
                          <a:spcPts val="0"/>
                        </a:spcAft>
                        <a:buNone/>
                      </a:pPr>
                      <a:r>
                        <a:rPr lang="de-CH" sz="1100" b="1">
                          <a:solidFill>
                            <a:srgbClr val="00C200"/>
                          </a:solidFill>
                        </a:rPr>
                        <a:t>Dataset B</a:t>
                      </a:r>
                      <a:endParaRPr sz="1100" b="1">
                        <a:solidFill>
                          <a:srgbClr val="00C200"/>
                        </a:solidFill>
                      </a:endParaRPr>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FFFF"/>
                    </a:solidFill>
                  </a:tcPr>
                </a:tc>
                <a:extLst>
                  <a:ext uri="{0D108BD9-81ED-4DB2-BD59-A6C34878D82A}">
                    <a16:rowId xmlns:a16="http://schemas.microsoft.com/office/drawing/2014/main" val="10000"/>
                  </a:ext>
                </a:extLst>
              </a:tr>
              <a:tr h="576425">
                <a:tc>
                  <a:txBody>
                    <a:bodyPr/>
                    <a:lstStyle/>
                    <a:p>
                      <a:pPr marL="0" lvl="0" indent="0" algn="ctr" rtl="0">
                        <a:lnSpc>
                          <a:spcPct val="115000"/>
                        </a:lnSpc>
                        <a:spcBef>
                          <a:spcPts val="0"/>
                        </a:spcBef>
                        <a:spcAft>
                          <a:spcPts val="0"/>
                        </a:spcAft>
                        <a:buNone/>
                      </a:pPr>
                      <a:r>
                        <a:rPr lang="de-CH"/>
                        <a:t>1, 2, 3, 4, 5, 6, 6, 7, 8, 9, 10, 11</a:t>
                      </a:r>
                      <a:endParaRPr/>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Shape 1024"/>
        <p:cNvGrpSpPr/>
        <p:nvPr/>
      </p:nvGrpSpPr>
      <p:grpSpPr>
        <a:xfrm>
          <a:off x="0" y="0"/>
          <a:ext cx="0" cy="0"/>
          <a:chOff x="0" y="0"/>
          <a:chExt cx="0" cy="0"/>
        </a:xfrm>
      </p:grpSpPr>
      <p:sp>
        <p:nvSpPr>
          <p:cNvPr id="1025" name="Google Shape;1025;p170"/>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026" name="Google Shape;1026;p170"/>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de-CH">
                <a:solidFill>
                  <a:srgbClr val="4A86E8"/>
                </a:solidFill>
                <a:latin typeface="Spectral"/>
                <a:ea typeface="Spectral"/>
                <a:cs typeface="Spectral"/>
                <a:sym typeface="Spectral"/>
              </a:rPr>
              <a:t>data=np.array([4, 5, 5, 5, 6, 6, 6, 6, 7, 7, 7, 8])</a:t>
            </a:r>
            <a:br>
              <a:rPr lang="de-CH">
                <a:solidFill>
                  <a:srgbClr val="4A86E8"/>
                </a:solidFill>
                <a:latin typeface="Spectral"/>
                <a:ea typeface="Spectral"/>
                <a:cs typeface="Spectral"/>
                <a:sym typeface="Spectral"/>
              </a:rPr>
            </a:br>
            <a:r>
              <a:rPr lang="de-CH">
                <a:solidFill>
                  <a:srgbClr val="4A86E8"/>
                </a:solidFill>
                <a:latin typeface="Spectral"/>
                <a:ea typeface="Spectral"/>
                <a:cs typeface="Spectral"/>
                <a:sym typeface="Spectral"/>
              </a:rPr>
              <a:t>range=data.max()-data.min()</a:t>
            </a:r>
            <a:br>
              <a:rPr lang="de-CH">
                <a:solidFill>
                  <a:srgbClr val="4A86E8"/>
                </a:solidFill>
                <a:latin typeface="Spectral"/>
                <a:ea typeface="Spectral"/>
                <a:cs typeface="Spectral"/>
                <a:sym typeface="Spectral"/>
              </a:rPr>
            </a:br>
            <a:r>
              <a:rPr lang="de-CH">
                <a:solidFill>
                  <a:srgbClr val="4A86E8"/>
                </a:solidFill>
                <a:latin typeface="Spectral"/>
                <a:ea typeface="Spectral"/>
                <a:cs typeface="Spectral"/>
                <a:sym typeface="Spectral"/>
              </a:rPr>
              <a:t>print(range) → 4</a:t>
            </a:r>
            <a:endParaRPr>
              <a:solidFill>
                <a:srgbClr val="4A86E8"/>
              </a:solidFill>
              <a:latin typeface="Spectral"/>
              <a:ea typeface="Spectral"/>
              <a:cs typeface="Spectral"/>
              <a:sym typeface="Spectral"/>
            </a:endParaRPr>
          </a:p>
          <a:p>
            <a:pPr marL="0" lvl="0" indent="0" algn="l" rtl="0">
              <a:spcBef>
                <a:spcPts val="1600"/>
              </a:spcBef>
              <a:spcAft>
                <a:spcPts val="1600"/>
              </a:spcAft>
              <a:buNone/>
            </a:pPr>
            <a:endParaRPr/>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Shape 1030"/>
        <p:cNvGrpSpPr/>
        <p:nvPr/>
      </p:nvGrpSpPr>
      <p:grpSpPr>
        <a:xfrm>
          <a:off x="0" y="0"/>
          <a:ext cx="0" cy="0"/>
          <a:chOff x="0" y="0"/>
          <a:chExt cx="0" cy="0"/>
        </a:xfrm>
      </p:grpSpPr>
      <p:sp>
        <p:nvSpPr>
          <p:cNvPr id="1031" name="Google Shape;1031;p171"/>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2. QUARTILES</a:t>
            </a:r>
            <a:endParaRPr/>
          </a:p>
        </p:txBody>
      </p:sp>
      <p:sp>
        <p:nvSpPr>
          <p:cNvPr id="1032" name="Google Shape;1032;p171"/>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sz="1400" b="1">
                <a:solidFill>
                  <a:srgbClr val="000000"/>
                </a:solidFill>
                <a:highlight>
                  <a:srgbClr val="FFFFFF"/>
                </a:highlight>
                <a:latin typeface="Arial"/>
                <a:ea typeface="Arial"/>
                <a:cs typeface="Arial"/>
                <a:sym typeface="Arial"/>
              </a:rPr>
              <a:t>Quartiles divide an ordered dataset into four equal parts, and refer to the values of the point </a:t>
            </a:r>
            <a:r>
              <a:rPr lang="de-CH" sz="1400" b="1" i="1">
                <a:solidFill>
                  <a:srgbClr val="000000"/>
                </a:solidFill>
                <a:highlight>
                  <a:srgbClr val="FFFFFF"/>
                </a:highlight>
                <a:latin typeface="Arial"/>
                <a:ea typeface="Arial"/>
                <a:cs typeface="Arial"/>
                <a:sym typeface="Arial"/>
              </a:rPr>
              <a:t>between</a:t>
            </a:r>
            <a:r>
              <a:rPr lang="de-CH" sz="1400" b="1">
                <a:solidFill>
                  <a:srgbClr val="000000"/>
                </a:solidFill>
                <a:highlight>
                  <a:srgbClr val="FFFFFF"/>
                </a:highlight>
                <a:latin typeface="Arial"/>
                <a:ea typeface="Arial"/>
                <a:cs typeface="Arial"/>
                <a:sym typeface="Arial"/>
              </a:rPr>
              <a:t> the quarters.</a:t>
            </a:r>
            <a:endParaRPr sz="1400" b="1">
              <a:solidFill>
                <a:srgbClr val="000000"/>
              </a:solidFill>
              <a:highlight>
                <a:srgbClr val="FFFFFF"/>
              </a:highlight>
              <a:latin typeface="Arial"/>
              <a:ea typeface="Arial"/>
              <a:cs typeface="Arial"/>
              <a:sym typeface="Arial"/>
            </a:endParaRPr>
          </a:p>
          <a:p>
            <a:pPr marL="0" lvl="0" indent="0" algn="l" rtl="0">
              <a:spcBef>
                <a:spcPts val="1600"/>
              </a:spcBef>
              <a:spcAft>
                <a:spcPts val="1600"/>
              </a:spcAft>
              <a:buNone/>
            </a:pPr>
            <a:endParaRPr sz="1400" b="1">
              <a:solidFill>
                <a:srgbClr val="000000"/>
              </a:solidFill>
              <a:highlight>
                <a:srgbClr val="FFFFFF"/>
              </a:highlight>
              <a:latin typeface="Arial"/>
              <a:ea typeface="Arial"/>
              <a:cs typeface="Arial"/>
              <a:sym typeface="Arial"/>
            </a:endParaRPr>
          </a:p>
        </p:txBody>
      </p:sp>
      <p:graphicFrame>
        <p:nvGraphicFramePr>
          <p:cNvPr id="1033" name="Google Shape;1033;p171"/>
          <p:cNvGraphicFramePr/>
          <p:nvPr/>
        </p:nvGraphicFramePr>
        <p:xfrm>
          <a:off x="311700" y="1943225"/>
          <a:ext cx="8497675" cy="686376"/>
        </p:xfrm>
        <a:graphic>
          <a:graphicData uri="http://schemas.openxmlformats.org/drawingml/2006/table">
            <a:tbl>
              <a:tblPr>
                <a:solidFill>
                  <a:srgbClr val="FFFFFF"/>
                </a:solidFill>
                <a:tableStyleId>{D8A72CF2-371C-45DC-8122-FC23861CFCA5}</a:tableStyleId>
              </a:tblPr>
              <a:tblGrid>
                <a:gridCol w="467725">
                  <a:extLst>
                    <a:ext uri="{9D8B030D-6E8A-4147-A177-3AD203B41FA5}">
                      <a16:colId xmlns:a16="http://schemas.microsoft.com/office/drawing/2014/main" val="20000"/>
                    </a:ext>
                  </a:extLst>
                </a:gridCol>
                <a:gridCol w="673000">
                  <a:extLst>
                    <a:ext uri="{9D8B030D-6E8A-4147-A177-3AD203B41FA5}">
                      <a16:colId xmlns:a16="http://schemas.microsoft.com/office/drawing/2014/main" val="20001"/>
                    </a:ext>
                  </a:extLst>
                </a:gridCol>
                <a:gridCol w="67300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491275">
                  <a:extLst>
                    <a:ext uri="{9D8B030D-6E8A-4147-A177-3AD203B41FA5}">
                      <a16:colId xmlns:a16="http://schemas.microsoft.com/office/drawing/2014/main" val="20004"/>
                    </a:ext>
                  </a:extLst>
                </a:gridCol>
                <a:gridCol w="673000">
                  <a:extLst>
                    <a:ext uri="{9D8B030D-6E8A-4147-A177-3AD203B41FA5}">
                      <a16:colId xmlns:a16="http://schemas.microsoft.com/office/drawing/2014/main" val="20005"/>
                    </a:ext>
                  </a:extLst>
                </a:gridCol>
                <a:gridCol w="673000">
                  <a:extLst>
                    <a:ext uri="{9D8B030D-6E8A-4147-A177-3AD203B41FA5}">
                      <a16:colId xmlns:a16="http://schemas.microsoft.com/office/drawing/2014/main" val="20006"/>
                    </a:ext>
                  </a:extLst>
                </a:gridCol>
                <a:gridCol w="382850">
                  <a:extLst>
                    <a:ext uri="{9D8B030D-6E8A-4147-A177-3AD203B41FA5}">
                      <a16:colId xmlns:a16="http://schemas.microsoft.com/office/drawing/2014/main" val="20007"/>
                    </a:ext>
                  </a:extLst>
                </a:gridCol>
                <a:gridCol w="514850">
                  <a:extLst>
                    <a:ext uri="{9D8B030D-6E8A-4147-A177-3AD203B41FA5}">
                      <a16:colId xmlns:a16="http://schemas.microsoft.com/office/drawing/2014/main" val="20008"/>
                    </a:ext>
                  </a:extLst>
                </a:gridCol>
                <a:gridCol w="673000">
                  <a:extLst>
                    <a:ext uri="{9D8B030D-6E8A-4147-A177-3AD203B41FA5}">
                      <a16:colId xmlns:a16="http://schemas.microsoft.com/office/drawing/2014/main" val="20009"/>
                    </a:ext>
                  </a:extLst>
                </a:gridCol>
                <a:gridCol w="673000">
                  <a:extLst>
                    <a:ext uri="{9D8B030D-6E8A-4147-A177-3AD203B41FA5}">
                      <a16:colId xmlns:a16="http://schemas.microsoft.com/office/drawing/2014/main" val="20010"/>
                    </a:ext>
                  </a:extLst>
                </a:gridCol>
                <a:gridCol w="382850">
                  <a:extLst>
                    <a:ext uri="{9D8B030D-6E8A-4147-A177-3AD203B41FA5}">
                      <a16:colId xmlns:a16="http://schemas.microsoft.com/office/drawing/2014/main" val="20011"/>
                    </a:ext>
                  </a:extLst>
                </a:gridCol>
                <a:gridCol w="491275">
                  <a:extLst>
                    <a:ext uri="{9D8B030D-6E8A-4147-A177-3AD203B41FA5}">
                      <a16:colId xmlns:a16="http://schemas.microsoft.com/office/drawing/2014/main" val="20012"/>
                    </a:ext>
                  </a:extLst>
                </a:gridCol>
                <a:gridCol w="673000">
                  <a:extLst>
                    <a:ext uri="{9D8B030D-6E8A-4147-A177-3AD203B41FA5}">
                      <a16:colId xmlns:a16="http://schemas.microsoft.com/office/drawing/2014/main" val="20013"/>
                    </a:ext>
                  </a:extLst>
                </a:gridCol>
                <a:gridCol w="673000">
                  <a:extLst>
                    <a:ext uri="{9D8B030D-6E8A-4147-A177-3AD203B41FA5}">
                      <a16:colId xmlns:a16="http://schemas.microsoft.com/office/drawing/2014/main" val="20014"/>
                    </a:ext>
                  </a:extLst>
                </a:gridCol>
              </a:tblGrid>
              <a:tr h="0">
                <a:tc gridSpan="15">
                  <a:txBody>
                    <a:bodyPr/>
                    <a:lstStyle/>
                    <a:p>
                      <a:pPr marL="0" lvl="0" indent="0" algn="ctr" rtl="0">
                        <a:lnSpc>
                          <a:spcPct val="115000"/>
                        </a:lnSpc>
                        <a:spcBef>
                          <a:spcPts val="0"/>
                        </a:spcBef>
                        <a:spcAft>
                          <a:spcPts val="0"/>
                        </a:spcAft>
                        <a:buNone/>
                      </a:pPr>
                      <a:r>
                        <a:rPr lang="de-CH" sz="1000" b="1">
                          <a:solidFill>
                            <a:srgbClr val="00A000"/>
                          </a:solidFill>
                          <a:highlight>
                            <a:srgbClr val="FFFFFF"/>
                          </a:highlight>
                        </a:rPr>
                        <a:t>Quartiles</a:t>
                      </a:r>
                      <a:endParaRPr sz="1000" b="1">
                        <a:solidFill>
                          <a:srgbClr val="00A000"/>
                        </a:solidFill>
                        <a:highlight>
                          <a:srgbClr val="FFFFFF"/>
                        </a:highlight>
                      </a:endParaRPr>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0">
                <a:tc gridSpan="3">
                  <a:txBody>
                    <a:bodyPr/>
                    <a:lstStyle/>
                    <a:p>
                      <a:pPr marL="0" lvl="0" indent="0" algn="ctr" rtl="0">
                        <a:lnSpc>
                          <a:spcPct val="115000"/>
                        </a:lnSpc>
                        <a:spcBef>
                          <a:spcPts val="0"/>
                        </a:spcBef>
                        <a:spcAft>
                          <a:spcPts val="0"/>
                        </a:spcAft>
                        <a:buNone/>
                      </a:pPr>
                      <a:r>
                        <a:rPr lang="de-CH" sz="1000">
                          <a:highlight>
                            <a:srgbClr val="FFFFFF"/>
                          </a:highlight>
                        </a:rPr>
                        <a:t>25% of values</a:t>
                      </a:r>
                      <a:endParaRPr sz="1000">
                        <a:highlight>
                          <a:srgbClr val="FFFFFF"/>
                        </a:highlight>
                      </a:endParaRPr>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a:txBody>
                    <a:bodyPr/>
                    <a:lstStyle/>
                    <a:p>
                      <a:pPr marL="0" lvl="0" indent="0" algn="ctr" rtl="0">
                        <a:lnSpc>
                          <a:spcPct val="115000"/>
                        </a:lnSpc>
                        <a:spcBef>
                          <a:spcPts val="0"/>
                        </a:spcBef>
                        <a:spcAft>
                          <a:spcPts val="0"/>
                        </a:spcAft>
                        <a:buNone/>
                      </a:pPr>
                      <a:r>
                        <a:rPr lang="de-CH" sz="1000" b="1">
                          <a:highlight>
                            <a:srgbClr val="FFFFFF"/>
                          </a:highlight>
                        </a:rPr>
                        <a:t>Q1</a:t>
                      </a:r>
                      <a:endParaRPr sz="1000" b="1">
                        <a:highlight>
                          <a:srgbClr val="FFFFFF"/>
                        </a:highlight>
                      </a:endParaRPr>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E1B0"/>
                    </a:solidFill>
                  </a:tcPr>
                </a:tc>
                <a:tc gridSpan="3">
                  <a:txBody>
                    <a:bodyPr/>
                    <a:lstStyle/>
                    <a:p>
                      <a:pPr marL="0" lvl="0" indent="0" algn="ctr" rtl="0">
                        <a:lnSpc>
                          <a:spcPct val="115000"/>
                        </a:lnSpc>
                        <a:spcBef>
                          <a:spcPts val="0"/>
                        </a:spcBef>
                        <a:spcAft>
                          <a:spcPts val="0"/>
                        </a:spcAft>
                        <a:buNone/>
                      </a:pPr>
                      <a:r>
                        <a:rPr lang="de-CH" sz="1000">
                          <a:highlight>
                            <a:srgbClr val="FFFFFF"/>
                          </a:highlight>
                        </a:rPr>
                        <a:t>25% of values</a:t>
                      </a:r>
                      <a:endParaRPr sz="1000">
                        <a:highlight>
                          <a:srgbClr val="FFFFFF"/>
                        </a:highlight>
                      </a:endParaRPr>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a:txBody>
                    <a:bodyPr/>
                    <a:lstStyle/>
                    <a:p>
                      <a:pPr marL="0" lvl="0" indent="0" algn="ctr" rtl="0">
                        <a:lnSpc>
                          <a:spcPct val="115000"/>
                        </a:lnSpc>
                        <a:spcBef>
                          <a:spcPts val="0"/>
                        </a:spcBef>
                        <a:spcAft>
                          <a:spcPts val="0"/>
                        </a:spcAft>
                        <a:buNone/>
                      </a:pPr>
                      <a:r>
                        <a:rPr lang="de-CH" sz="1000" b="1">
                          <a:highlight>
                            <a:srgbClr val="FFFFFF"/>
                          </a:highlight>
                        </a:rPr>
                        <a:t>Q2</a:t>
                      </a:r>
                      <a:endParaRPr sz="1000" b="1">
                        <a:highlight>
                          <a:srgbClr val="FFFFFF"/>
                        </a:highlight>
                      </a:endParaRPr>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E1B0"/>
                    </a:solidFill>
                  </a:tcPr>
                </a:tc>
                <a:tc gridSpan="3">
                  <a:txBody>
                    <a:bodyPr/>
                    <a:lstStyle/>
                    <a:p>
                      <a:pPr marL="0" lvl="0" indent="0" algn="ctr" rtl="0">
                        <a:lnSpc>
                          <a:spcPct val="115000"/>
                        </a:lnSpc>
                        <a:spcBef>
                          <a:spcPts val="0"/>
                        </a:spcBef>
                        <a:spcAft>
                          <a:spcPts val="0"/>
                        </a:spcAft>
                        <a:buNone/>
                      </a:pPr>
                      <a:r>
                        <a:rPr lang="de-CH" sz="1000">
                          <a:highlight>
                            <a:srgbClr val="FFFFFF"/>
                          </a:highlight>
                        </a:rPr>
                        <a:t>25% of values</a:t>
                      </a:r>
                      <a:endParaRPr sz="1000">
                        <a:highlight>
                          <a:srgbClr val="FFFFFF"/>
                        </a:highlight>
                      </a:endParaRPr>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a:txBody>
                    <a:bodyPr/>
                    <a:lstStyle/>
                    <a:p>
                      <a:pPr marL="0" lvl="0" indent="0" algn="ctr" rtl="0">
                        <a:lnSpc>
                          <a:spcPct val="115000"/>
                        </a:lnSpc>
                        <a:spcBef>
                          <a:spcPts val="0"/>
                        </a:spcBef>
                        <a:spcAft>
                          <a:spcPts val="0"/>
                        </a:spcAft>
                        <a:buNone/>
                      </a:pPr>
                      <a:r>
                        <a:rPr lang="de-CH" sz="1000" b="1">
                          <a:highlight>
                            <a:srgbClr val="FFFFFF"/>
                          </a:highlight>
                        </a:rPr>
                        <a:t>Q3</a:t>
                      </a:r>
                      <a:endParaRPr sz="1000" b="1">
                        <a:highlight>
                          <a:srgbClr val="FFFFFF"/>
                        </a:highlight>
                      </a:endParaRPr>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E1B0"/>
                    </a:solidFill>
                  </a:tcPr>
                </a:tc>
                <a:tc gridSpan="3">
                  <a:txBody>
                    <a:bodyPr/>
                    <a:lstStyle/>
                    <a:p>
                      <a:pPr marL="0" lvl="0" indent="0" algn="ctr" rtl="0">
                        <a:lnSpc>
                          <a:spcPct val="115000"/>
                        </a:lnSpc>
                        <a:spcBef>
                          <a:spcPts val="0"/>
                        </a:spcBef>
                        <a:spcAft>
                          <a:spcPts val="0"/>
                        </a:spcAft>
                        <a:buNone/>
                      </a:pPr>
                      <a:r>
                        <a:rPr lang="de-CH" sz="1000">
                          <a:highlight>
                            <a:srgbClr val="FFFFFF"/>
                          </a:highlight>
                        </a:rPr>
                        <a:t>25% of values</a:t>
                      </a:r>
                      <a:endParaRPr sz="1000">
                        <a:highlight>
                          <a:srgbClr val="FFFFFF"/>
                        </a:highlight>
                      </a:endParaRPr>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1"/>
                  </a:ext>
                </a:extLst>
              </a:tr>
            </a:tbl>
          </a:graphicData>
        </a:graphic>
      </p:graphicFrame>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Shape 1037"/>
        <p:cNvGrpSpPr/>
        <p:nvPr/>
      </p:nvGrpSpPr>
      <p:grpSpPr>
        <a:xfrm>
          <a:off x="0" y="0"/>
          <a:ext cx="0" cy="0"/>
          <a:chOff x="0" y="0"/>
          <a:chExt cx="0" cy="0"/>
        </a:xfrm>
      </p:grpSpPr>
      <p:sp>
        <p:nvSpPr>
          <p:cNvPr id="1038" name="Google Shape;1038;p172"/>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039" name="Google Shape;1039;p172"/>
          <p:cNvSpPr txBox="1">
            <a:spLocks noGrp="1"/>
          </p:cNvSpPr>
          <p:nvPr>
            <p:ph type="body" idx="1"/>
          </p:nvPr>
        </p:nvSpPr>
        <p:spPr>
          <a:xfrm>
            <a:off x="311700" y="1149025"/>
            <a:ext cx="8520600" cy="3854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t>DATASET A: </a:t>
            </a:r>
            <a:r>
              <a:rPr lang="de-CH">
                <a:solidFill>
                  <a:srgbClr val="4A86E8"/>
                </a:solidFill>
                <a:latin typeface="Spectral"/>
                <a:ea typeface="Spectral"/>
                <a:cs typeface="Spectral"/>
                <a:sym typeface="Spectral"/>
              </a:rPr>
              <a:t>[4, 5, 5, 5, 6, 6, 6, 6, 7, 7, 7, 8]</a:t>
            </a:r>
            <a:endParaRPr>
              <a:solidFill>
                <a:srgbClr val="4A86E8"/>
              </a:solidFill>
              <a:latin typeface="Spectral"/>
              <a:ea typeface="Spectral"/>
              <a:cs typeface="Spectral"/>
              <a:sym typeface="Spectral"/>
            </a:endParaRPr>
          </a:p>
          <a:p>
            <a:pPr marL="0" lvl="0" indent="0" algn="l" rtl="0">
              <a:spcBef>
                <a:spcPts val="1600"/>
              </a:spcBef>
              <a:spcAft>
                <a:spcPts val="0"/>
              </a:spcAft>
              <a:buNone/>
            </a:pPr>
            <a:endParaRPr>
              <a:solidFill>
                <a:srgbClr val="4A86E8"/>
              </a:solidFill>
              <a:latin typeface="Spectral"/>
              <a:ea typeface="Spectral"/>
              <a:cs typeface="Spectral"/>
              <a:sym typeface="Spectral"/>
            </a:endParaRPr>
          </a:p>
          <a:p>
            <a:pPr marL="0" lvl="0" indent="0" algn="l" rtl="0">
              <a:spcBef>
                <a:spcPts val="1600"/>
              </a:spcBef>
              <a:spcAft>
                <a:spcPts val="0"/>
              </a:spcAft>
              <a:buNone/>
            </a:pPr>
            <a:endParaRPr>
              <a:solidFill>
                <a:srgbClr val="4A86E8"/>
              </a:solidFill>
              <a:latin typeface="Spectral"/>
              <a:ea typeface="Spectral"/>
              <a:cs typeface="Spectral"/>
              <a:sym typeface="Spectral"/>
            </a:endParaRPr>
          </a:p>
          <a:p>
            <a:pPr marL="0" lvl="0" indent="0" algn="l" rtl="0">
              <a:spcBef>
                <a:spcPts val="1600"/>
              </a:spcBef>
              <a:spcAft>
                <a:spcPts val="0"/>
              </a:spcAft>
              <a:buNone/>
            </a:pPr>
            <a:endParaRPr>
              <a:solidFill>
                <a:srgbClr val="4A86E8"/>
              </a:solidFill>
              <a:latin typeface="Spectral"/>
              <a:ea typeface="Spectral"/>
              <a:cs typeface="Spectral"/>
              <a:sym typeface="Spectral"/>
            </a:endParaRPr>
          </a:p>
          <a:p>
            <a:pPr marL="457200" lvl="0" indent="-317500" algn="l" rtl="0">
              <a:spcBef>
                <a:spcPts val="1600"/>
              </a:spcBef>
              <a:spcAft>
                <a:spcPts val="0"/>
              </a:spcAft>
              <a:buClr>
                <a:srgbClr val="333333"/>
              </a:buClr>
              <a:buSzPts val="1400"/>
              <a:buFont typeface="Arial"/>
              <a:buChar char="●"/>
            </a:pPr>
            <a:r>
              <a:rPr lang="de-CH" sz="1400" b="1">
                <a:solidFill>
                  <a:srgbClr val="333333"/>
                </a:solidFill>
                <a:latin typeface="Arial"/>
                <a:ea typeface="Arial"/>
                <a:cs typeface="Arial"/>
                <a:sym typeface="Arial"/>
              </a:rPr>
              <a:t>As the quartile point falls between two values, the mean (average) of those values is the quartile value:</a:t>
            </a:r>
            <a:endParaRPr sz="1400" b="1">
              <a:solidFill>
                <a:srgbClr val="333333"/>
              </a:solidFill>
              <a:latin typeface="Arial"/>
              <a:ea typeface="Arial"/>
              <a:cs typeface="Arial"/>
              <a:sym typeface="Arial"/>
            </a:endParaRPr>
          </a:p>
          <a:p>
            <a:pPr marL="457200" lvl="0" indent="-317500" algn="l" rtl="0">
              <a:spcBef>
                <a:spcPts val="0"/>
              </a:spcBef>
              <a:spcAft>
                <a:spcPts val="0"/>
              </a:spcAft>
              <a:buClr>
                <a:srgbClr val="333333"/>
              </a:buClr>
              <a:buSzPts val="1400"/>
              <a:buFont typeface="Arial"/>
              <a:buChar char="●"/>
            </a:pPr>
            <a:r>
              <a:rPr lang="de-CH" sz="1400" b="1">
                <a:solidFill>
                  <a:srgbClr val="333333"/>
                </a:solidFill>
                <a:latin typeface="Arial"/>
                <a:ea typeface="Arial"/>
                <a:cs typeface="Arial"/>
                <a:sym typeface="Arial"/>
              </a:rPr>
              <a:t>Q1 = (5+5) / 2 = 5</a:t>
            </a:r>
            <a:endParaRPr sz="1400" b="1">
              <a:solidFill>
                <a:srgbClr val="333333"/>
              </a:solidFill>
              <a:latin typeface="Arial"/>
              <a:ea typeface="Arial"/>
              <a:cs typeface="Arial"/>
              <a:sym typeface="Arial"/>
            </a:endParaRPr>
          </a:p>
          <a:p>
            <a:pPr marL="457200" lvl="0" indent="-317500" algn="l" rtl="0">
              <a:spcBef>
                <a:spcPts val="0"/>
              </a:spcBef>
              <a:spcAft>
                <a:spcPts val="0"/>
              </a:spcAft>
              <a:buClr>
                <a:srgbClr val="333333"/>
              </a:buClr>
              <a:buSzPts val="1400"/>
              <a:buFont typeface="Arial"/>
              <a:buChar char="●"/>
            </a:pPr>
            <a:r>
              <a:rPr lang="de-CH" sz="1400" b="1">
                <a:solidFill>
                  <a:srgbClr val="333333"/>
                </a:solidFill>
                <a:latin typeface="Arial"/>
                <a:ea typeface="Arial"/>
                <a:cs typeface="Arial"/>
                <a:sym typeface="Arial"/>
              </a:rPr>
              <a:t>Q2 = (6+6) / 2 = 6</a:t>
            </a:r>
            <a:endParaRPr sz="1400" b="1">
              <a:solidFill>
                <a:srgbClr val="333333"/>
              </a:solidFill>
              <a:latin typeface="Arial"/>
              <a:ea typeface="Arial"/>
              <a:cs typeface="Arial"/>
              <a:sym typeface="Arial"/>
            </a:endParaRPr>
          </a:p>
          <a:p>
            <a:pPr marL="457200" lvl="0" indent="-317500" algn="l" rtl="0">
              <a:spcBef>
                <a:spcPts val="0"/>
              </a:spcBef>
              <a:spcAft>
                <a:spcPts val="0"/>
              </a:spcAft>
              <a:buClr>
                <a:srgbClr val="333333"/>
              </a:buClr>
              <a:buSzPts val="1400"/>
              <a:buFont typeface="Arial"/>
              <a:buChar char="●"/>
            </a:pPr>
            <a:r>
              <a:rPr lang="de-CH" sz="1400" b="1">
                <a:solidFill>
                  <a:srgbClr val="333333"/>
                </a:solidFill>
                <a:latin typeface="Arial"/>
                <a:ea typeface="Arial"/>
                <a:cs typeface="Arial"/>
                <a:sym typeface="Arial"/>
              </a:rPr>
              <a:t>Q3 = (7+7) / 2 = 7</a:t>
            </a:r>
            <a:endParaRPr sz="1400" b="1">
              <a:solidFill>
                <a:srgbClr val="4A86E8"/>
              </a:solidFill>
              <a:latin typeface="Spectral"/>
              <a:ea typeface="Spectral"/>
              <a:cs typeface="Spectral"/>
              <a:sym typeface="Spectral"/>
            </a:endParaRPr>
          </a:p>
        </p:txBody>
      </p:sp>
      <p:graphicFrame>
        <p:nvGraphicFramePr>
          <p:cNvPr id="1040" name="Google Shape;1040;p172"/>
          <p:cNvGraphicFramePr/>
          <p:nvPr/>
        </p:nvGraphicFramePr>
        <p:xfrm>
          <a:off x="311725" y="1844100"/>
          <a:ext cx="8520600" cy="1062875"/>
        </p:xfrm>
        <a:graphic>
          <a:graphicData uri="http://schemas.openxmlformats.org/drawingml/2006/table">
            <a:tbl>
              <a:tblPr>
                <a:noFill/>
                <a:tableStyleId>{D8A72CF2-371C-45DC-8122-FC23861CFCA5}</a:tableStyleId>
              </a:tblPr>
              <a:tblGrid>
                <a:gridCol w="526150">
                  <a:extLst>
                    <a:ext uri="{9D8B030D-6E8A-4147-A177-3AD203B41FA5}">
                      <a16:colId xmlns:a16="http://schemas.microsoft.com/office/drawing/2014/main" val="20000"/>
                    </a:ext>
                  </a:extLst>
                </a:gridCol>
                <a:gridCol w="540750">
                  <a:extLst>
                    <a:ext uri="{9D8B030D-6E8A-4147-A177-3AD203B41FA5}">
                      <a16:colId xmlns:a16="http://schemas.microsoft.com/office/drawing/2014/main" val="20001"/>
                    </a:ext>
                  </a:extLst>
                </a:gridCol>
                <a:gridCol w="570000">
                  <a:extLst>
                    <a:ext uri="{9D8B030D-6E8A-4147-A177-3AD203B41FA5}">
                      <a16:colId xmlns:a16="http://schemas.microsoft.com/office/drawing/2014/main" val="20002"/>
                    </a:ext>
                  </a:extLst>
                </a:gridCol>
                <a:gridCol w="570000">
                  <a:extLst>
                    <a:ext uri="{9D8B030D-6E8A-4147-A177-3AD203B41FA5}">
                      <a16:colId xmlns:a16="http://schemas.microsoft.com/office/drawing/2014/main" val="20003"/>
                    </a:ext>
                  </a:extLst>
                </a:gridCol>
                <a:gridCol w="570000">
                  <a:extLst>
                    <a:ext uri="{9D8B030D-6E8A-4147-A177-3AD203B41FA5}">
                      <a16:colId xmlns:a16="http://schemas.microsoft.com/office/drawing/2014/main" val="20004"/>
                    </a:ext>
                  </a:extLst>
                </a:gridCol>
                <a:gridCol w="584600">
                  <a:extLst>
                    <a:ext uri="{9D8B030D-6E8A-4147-A177-3AD203B41FA5}">
                      <a16:colId xmlns:a16="http://schemas.microsoft.com/office/drawing/2014/main" val="20005"/>
                    </a:ext>
                  </a:extLst>
                </a:gridCol>
                <a:gridCol w="540750">
                  <a:extLst>
                    <a:ext uri="{9D8B030D-6E8A-4147-A177-3AD203B41FA5}">
                      <a16:colId xmlns:a16="http://schemas.microsoft.com/office/drawing/2014/main" val="20006"/>
                    </a:ext>
                  </a:extLst>
                </a:gridCol>
                <a:gridCol w="570000">
                  <a:extLst>
                    <a:ext uri="{9D8B030D-6E8A-4147-A177-3AD203B41FA5}">
                      <a16:colId xmlns:a16="http://schemas.microsoft.com/office/drawing/2014/main" val="20007"/>
                    </a:ext>
                  </a:extLst>
                </a:gridCol>
                <a:gridCol w="570000">
                  <a:extLst>
                    <a:ext uri="{9D8B030D-6E8A-4147-A177-3AD203B41FA5}">
                      <a16:colId xmlns:a16="http://schemas.microsoft.com/office/drawing/2014/main" val="20008"/>
                    </a:ext>
                  </a:extLst>
                </a:gridCol>
                <a:gridCol w="628475">
                  <a:extLst>
                    <a:ext uri="{9D8B030D-6E8A-4147-A177-3AD203B41FA5}">
                      <a16:colId xmlns:a16="http://schemas.microsoft.com/office/drawing/2014/main" val="20009"/>
                    </a:ext>
                  </a:extLst>
                </a:gridCol>
                <a:gridCol w="555350">
                  <a:extLst>
                    <a:ext uri="{9D8B030D-6E8A-4147-A177-3AD203B41FA5}">
                      <a16:colId xmlns:a16="http://schemas.microsoft.com/office/drawing/2014/main" val="20010"/>
                    </a:ext>
                  </a:extLst>
                </a:gridCol>
                <a:gridCol w="555350">
                  <a:extLst>
                    <a:ext uri="{9D8B030D-6E8A-4147-A177-3AD203B41FA5}">
                      <a16:colId xmlns:a16="http://schemas.microsoft.com/office/drawing/2014/main" val="20011"/>
                    </a:ext>
                  </a:extLst>
                </a:gridCol>
                <a:gridCol w="555350">
                  <a:extLst>
                    <a:ext uri="{9D8B030D-6E8A-4147-A177-3AD203B41FA5}">
                      <a16:colId xmlns:a16="http://schemas.microsoft.com/office/drawing/2014/main" val="20012"/>
                    </a:ext>
                  </a:extLst>
                </a:gridCol>
                <a:gridCol w="584600">
                  <a:extLst>
                    <a:ext uri="{9D8B030D-6E8A-4147-A177-3AD203B41FA5}">
                      <a16:colId xmlns:a16="http://schemas.microsoft.com/office/drawing/2014/main" val="20013"/>
                    </a:ext>
                  </a:extLst>
                </a:gridCol>
                <a:gridCol w="599225">
                  <a:extLst>
                    <a:ext uri="{9D8B030D-6E8A-4147-A177-3AD203B41FA5}">
                      <a16:colId xmlns:a16="http://schemas.microsoft.com/office/drawing/2014/main" val="20014"/>
                    </a:ext>
                  </a:extLst>
                </a:gridCol>
              </a:tblGrid>
              <a:tr h="413800">
                <a:tc gridSpan="15">
                  <a:txBody>
                    <a:bodyPr/>
                    <a:lstStyle/>
                    <a:p>
                      <a:pPr marL="0" lvl="0" indent="0" algn="ctr" rtl="0">
                        <a:lnSpc>
                          <a:spcPct val="115000"/>
                        </a:lnSpc>
                        <a:spcBef>
                          <a:spcPts val="0"/>
                        </a:spcBef>
                        <a:spcAft>
                          <a:spcPts val="0"/>
                        </a:spcAft>
                        <a:buNone/>
                      </a:pPr>
                      <a:r>
                        <a:rPr lang="de-CH" sz="1100" b="1">
                          <a:solidFill>
                            <a:srgbClr val="FF8100"/>
                          </a:solidFill>
                        </a:rPr>
                        <a:t>Dataset A</a:t>
                      </a:r>
                      <a:endParaRPr sz="1100" b="1">
                        <a:solidFill>
                          <a:srgbClr val="FF8100"/>
                        </a:solidFill>
                      </a:endParaRPr>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FFFF"/>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649075">
                <a:tc>
                  <a:txBody>
                    <a:bodyPr/>
                    <a:lstStyle/>
                    <a:p>
                      <a:pPr marL="0" lvl="0" indent="0" algn="l" rtl="0">
                        <a:spcBef>
                          <a:spcPts val="0"/>
                        </a:spcBef>
                        <a:spcAft>
                          <a:spcPts val="0"/>
                        </a:spcAft>
                        <a:buNone/>
                      </a:pPr>
                      <a:r>
                        <a:rPr lang="de-CH" sz="1000"/>
                        <a:t>4</a:t>
                      </a:r>
                      <a:endParaRPr sz="1000"/>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r>
                        <a:rPr lang="de-CH" sz="1000"/>
                        <a:t>5</a:t>
                      </a:r>
                      <a:endParaRPr sz="1000"/>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r>
                        <a:rPr lang="de-CH" sz="1000"/>
                        <a:t>5</a:t>
                      </a:r>
                      <a:endParaRPr sz="1000"/>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de-CH" sz="1000" b="1"/>
                        <a:t>Q1</a:t>
                      </a:r>
                      <a:endParaRPr sz="1000" b="1"/>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E1B0"/>
                    </a:solidFill>
                  </a:tcPr>
                </a:tc>
                <a:tc>
                  <a:txBody>
                    <a:bodyPr/>
                    <a:lstStyle/>
                    <a:p>
                      <a:pPr marL="0" lvl="0" indent="0" algn="l" rtl="0">
                        <a:spcBef>
                          <a:spcPts val="0"/>
                        </a:spcBef>
                        <a:spcAft>
                          <a:spcPts val="0"/>
                        </a:spcAft>
                        <a:buNone/>
                      </a:pPr>
                      <a:r>
                        <a:rPr lang="de-CH" sz="1000"/>
                        <a:t>5</a:t>
                      </a:r>
                      <a:endParaRPr sz="1000"/>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r>
                        <a:rPr lang="de-CH" sz="1000"/>
                        <a:t>6</a:t>
                      </a:r>
                      <a:endParaRPr sz="1000"/>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r>
                        <a:rPr lang="de-CH" sz="1000"/>
                        <a:t>6</a:t>
                      </a:r>
                      <a:endParaRPr sz="1000"/>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de-CH" sz="1000" b="1"/>
                        <a:t>Q2</a:t>
                      </a:r>
                      <a:endParaRPr sz="1000" b="1"/>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E1B0"/>
                    </a:solidFill>
                  </a:tcPr>
                </a:tc>
                <a:tc>
                  <a:txBody>
                    <a:bodyPr/>
                    <a:lstStyle/>
                    <a:p>
                      <a:pPr marL="0" lvl="0" indent="0" algn="l" rtl="0">
                        <a:spcBef>
                          <a:spcPts val="0"/>
                        </a:spcBef>
                        <a:spcAft>
                          <a:spcPts val="0"/>
                        </a:spcAft>
                        <a:buNone/>
                      </a:pPr>
                      <a:r>
                        <a:rPr lang="de-CH" sz="1000"/>
                        <a:t>6</a:t>
                      </a:r>
                      <a:endParaRPr sz="1000"/>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r>
                        <a:rPr lang="de-CH" sz="1000"/>
                        <a:t>6</a:t>
                      </a:r>
                      <a:endParaRPr sz="1000"/>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r>
                        <a:rPr lang="de-CH" sz="1000"/>
                        <a:t>7</a:t>
                      </a:r>
                      <a:endParaRPr sz="1000"/>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FFFF"/>
                    </a:solidFill>
                  </a:tcPr>
                </a:tc>
                <a:tc>
                  <a:txBody>
                    <a:bodyPr/>
                    <a:lstStyle/>
                    <a:p>
                      <a:pPr marL="0" lvl="0" indent="0" algn="ctr" rtl="0">
                        <a:lnSpc>
                          <a:spcPct val="115000"/>
                        </a:lnSpc>
                        <a:spcBef>
                          <a:spcPts val="0"/>
                        </a:spcBef>
                        <a:spcAft>
                          <a:spcPts val="0"/>
                        </a:spcAft>
                        <a:buNone/>
                      </a:pPr>
                      <a:r>
                        <a:rPr lang="de-CH" sz="1000" b="1"/>
                        <a:t>Q3</a:t>
                      </a:r>
                      <a:endParaRPr sz="1000" b="1"/>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E1B0"/>
                    </a:solidFill>
                  </a:tcPr>
                </a:tc>
                <a:tc>
                  <a:txBody>
                    <a:bodyPr/>
                    <a:lstStyle/>
                    <a:p>
                      <a:pPr marL="0" lvl="0" indent="0" algn="l" rtl="0">
                        <a:spcBef>
                          <a:spcPts val="0"/>
                        </a:spcBef>
                        <a:spcAft>
                          <a:spcPts val="0"/>
                        </a:spcAft>
                        <a:buNone/>
                      </a:pPr>
                      <a:r>
                        <a:rPr lang="de-CH" sz="1000"/>
                        <a:t>7</a:t>
                      </a:r>
                      <a:endParaRPr sz="1000"/>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r>
                        <a:rPr lang="de-CH" sz="1000"/>
                        <a:t>7</a:t>
                      </a:r>
                      <a:endParaRPr sz="1000"/>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FFFF"/>
                    </a:solidFill>
                  </a:tcPr>
                </a:tc>
                <a:tc>
                  <a:txBody>
                    <a:bodyPr/>
                    <a:lstStyle/>
                    <a:p>
                      <a:pPr marL="0" lvl="0" indent="0" algn="l" rtl="0">
                        <a:spcBef>
                          <a:spcPts val="0"/>
                        </a:spcBef>
                        <a:spcAft>
                          <a:spcPts val="0"/>
                        </a:spcAft>
                        <a:buNone/>
                      </a:pPr>
                      <a:r>
                        <a:rPr lang="de-CH" sz="1000"/>
                        <a:t>8</a:t>
                      </a:r>
                      <a:endParaRPr sz="1000"/>
                    </a:p>
                  </a:txBody>
                  <a:tcPr marL="91425" marR="91425" marT="91425" marB="91425">
                    <a:lnL w="9425" cap="flat" cmpd="sng">
                      <a:solidFill>
                        <a:srgbClr val="808080"/>
                      </a:solidFill>
                      <a:prstDash val="solid"/>
                      <a:round/>
                      <a:headEnd type="none" w="sm" len="sm"/>
                      <a:tailEnd type="none" w="sm" len="sm"/>
                    </a:lnL>
                    <a:lnR w="9425" cap="flat" cmpd="sng">
                      <a:solidFill>
                        <a:srgbClr val="808080"/>
                      </a:solidFill>
                      <a:prstDash val="solid"/>
                      <a:round/>
                      <a:headEnd type="none" w="sm" len="sm"/>
                      <a:tailEnd type="none" w="sm" len="sm"/>
                    </a:lnR>
                    <a:lnT w="9425" cap="flat" cmpd="sng">
                      <a:solidFill>
                        <a:srgbClr val="808080"/>
                      </a:solidFill>
                      <a:prstDash val="solid"/>
                      <a:round/>
                      <a:headEnd type="none" w="sm" len="sm"/>
                      <a:tailEnd type="none" w="sm" len="sm"/>
                    </a:lnT>
                    <a:lnB w="9425" cap="flat" cmpd="sng">
                      <a:solidFill>
                        <a:srgbClr val="80808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Shape 1044"/>
        <p:cNvGrpSpPr/>
        <p:nvPr/>
      </p:nvGrpSpPr>
      <p:grpSpPr>
        <a:xfrm>
          <a:off x="0" y="0"/>
          <a:ext cx="0" cy="0"/>
          <a:chOff x="0" y="0"/>
          <a:chExt cx="0" cy="0"/>
        </a:xfrm>
      </p:grpSpPr>
      <p:sp>
        <p:nvSpPr>
          <p:cNvPr id="1045" name="Google Shape;1045;p173"/>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INTERQUARTILE RANGE</a:t>
            </a:r>
            <a:endParaRPr/>
          </a:p>
        </p:txBody>
      </p:sp>
      <p:sp>
        <p:nvSpPr>
          <p:cNvPr id="1046" name="Google Shape;1046;p173"/>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sz="1400" b="1">
                <a:solidFill>
                  <a:srgbClr val="000000"/>
                </a:solidFill>
                <a:highlight>
                  <a:srgbClr val="FFFFFF"/>
                </a:highlight>
                <a:latin typeface="Arial"/>
                <a:ea typeface="Arial"/>
                <a:cs typeface="Arial"/>
                <a:sym typeface="Arial"/>
              </a:rPr>
              <a:t>The interquartile range (IQR) is the difference between the upper (Q3) and lower (Q1) quartiles, and describes the middle 50% of values when ordered from lowest to highest.</a:t>
            </a:r>
            <a:endParaRPr sz="1400" b="1">
              <a:solidFill>
                <a:srgbClr val="000000"/>
              </a:solidFill>
              <a:highlight>
                <a:srgbClr val="FFFFFF"/>
              </a:highlight>
              <a:latin typeface="Arial"/>
              <a:ea typeface="Arial"/>
              <a:cs typeface="Arial"/>
              <a:sym typeface="Arial"/>
            </a:endParaRPr>
          </a:p>
          <a:p>
            <a:pPr marL="0" lvl="0" indent="0" algn="l" rtl="0">
              <a:spcBef>
                <a:spcPts val="1600"/>
              </a:spcBef>
              <a:spcAft>
                <a:spcPts val="0"/>
              </a:spcAft>
              <a:buNone/>
            </a:pPr>
            <a:r>
              <a:rPr lang="de-CH" sz="1400" b="1">
                <a:solidFill>
                  <a:srgbClr val="000000"/>
                </a:solidFill>
                <a:highlight>
                  <a:srgbClr val="FFFFFF"/>
                </a:highlight>
                <a:latin typeface="Arial"/>
                <a:ea typeface="Arial"/>
                <a:cs typeface="Arial"/>
                <a:sym typeface="Arial"/>
              </a:rPr>
              <a:t> </a:t>
            </a:r>
            <a:r>
              <a:rPr lang="de-CH" sz="1400">
                <a:solidFill>
                  <a:srgbClr val="000000"/>
                </a:solidFill>
                <a:highlight>
                  <a:srgbClr val="FFFFFF"/>
                </a:highlight>
                <a:latin typeface="Arial"/>
                <a:ea typeface="Arial"/>
                <a:cs typeface="Arial"/>
                <a:sym typeface="Arial"/>
              </a:rPr>
              <a:t>The IQR is often seen as a better measure of spread than the range</a:t>
            </a:r>
            <a:endParaRPr sz="1400">
              <a:solidFill>
                <a:srgbClr val="000000"/>
              </a:solidFill>
              <a:highlight>
                <a:srgbClr val="FFFFFF"/>
              </a:highlight>
              <a:latin typeface="Arial"/>
              <a:ea typeface="Arial"/>
              <a:cs typeface="Arial"/>
              <a:sym typeface="Arial"/>
            </a:endParaRPr>
          </a:p>
          <a:p>
            <a:pPr marL="457200" lvl="0" indent="-317500" algn="l" rtl="0">
              <a:spcBef>
                <a:spcPts val="1600"/>
              </a:spcBef>
              <a:spcAft>
                <a:spcPts val="0"/>
              </a:spcAft>
              <a:buClr>
                <a:srgbClr val="333333"/>
              </a:buClr>
              <a:buSzPts val="1400"/>
              <a:buFont typeface="Arial"/>
              <a:buChar char="●"/>
            </a:pPr>
            <a:r>
              <a:rPr lang="de-CH" sz="1400">
                <a:solidFill>
                  <a:srgbClr val="333333"/>
                </a:solidFill>
                <a:latin typeface="Arial"/>
                <a:ea typeface="Arial"/>
                <a:cs typeface="Arial"/>
                <a:sym typeface="Arial"/>
              </a:rPr>
              <a:t>The IQR for Dataset A is = </a:t>
            </a:r>
            <a:r>
              <a:rPr lang="de-CH" sz="1400" b="1">
                <a:solidFill>
                  <a:srgbClr val="333333"/>
                </a:solidFill>
                <a:latin typeface="Arial"/>
                <a:ea typeface="Arial"/>
                <a:cs typeface="Arial"/>
                <a:sym typeface="Arial"/>
              </a:rPr>
              <a:t>2</a:t>
            </a:r>
            <a:endParaRPr sz="1400" b="1">
              <a:solidFill>
                <a:srgbClr val="333333"/>
              </a:solidFill>
              <a:latin typeface="Arial"/>
              <a:ea typeface="Arial"/>
              <a:cs typeface="Arial"/>
              <a:sym typeface="Arial"/>
            </a:endParaRPr>
          </a:p>
          <a:p>
            <a:pPr marL="457200" lvl="0" indent="-317500" algn="l" rtl="0">
              <a:spcBef>
                <a:spcPts val="0"/>
              </a:spcBef>
              <a:spcAft>
                <a:spcPts val="0"/>
              </a:spcAft>
              <a:buClr>
                <a:srgbClr val="333333"/>
              </a:buClr>
              <a:buSzPts val="1400"/>
              <a:buFont typeface="Arial"/>
              <a:buChar char="●"/>
            </a:pPr>
            <a:r>
              <a:rPr lang="de-CH" sz="1400" b="1">
                <a:solidFill>
                  <a:srgbClr val="333333"/>
                </a:solidFill>
                <a:latin typeface="Arial"/>
                <a:ea typeface="Arial"/>
                <a:cs typeface="Arial"/>
                <a:sym typeface="Arial"/>
              </a:rPr>
              <a:t>IQR = Q3 - Q1</a:t>
            </a:r>
            <a:endParaRPr sz="1400" b="1">
              <a:solidFill>
                <a:srgbClr val="333333"/>
              </a:solidFill>
              <a:latin typeface="Arial"/>
              <a:ea typeface="Arial"/>
              <a:cs typeface="Arial"/>
              <a:sym typeface="Arial"/>
            </a:endParaRPr>
          </a:p>
          <a:p>
            <a:pPr marL="457200" lvl="0" indent="-317500" algn="l" rtl="0">
              <a:spcBef>
                <a:spcPts val="0"/>
              </a:spcBef>
              <a:spcAft>
                <a:spcPts val="0"/>
              </a:spcAft>
              <a:buClr>
                <a:srgbClr val="333333"/>
              </a:buClr>
              <a:buSzPts val="1400"/>
              <a:buFont typeface="Arial"/>
              <a:buChar char="●"/>
            </a:pPr>
            <a:r>
              <a:rPr lang="de-CH" sz="1400" b="1">
                <a:solidFill>
                  <a:srgbClr val="333333"/>
                </a:solidFill>
                <a:latin typeface="Arial"/>
                <a:ea typeface="Arial"/>
                <a:cs typeface="Arial"/>
                <a:sym typeface="Arial"/>
              </a:rPr>
              <a:t>= 7 - 5</a:t>
            </a:r>
            <a:endParaRPr sz="1400" b="1">
              <a:solidFill>
                <a:srgbClr val="333333"/>
              </a:solidFill>
              <a:latin typeface="Arial"/>
              <a:ea typeface="Arial"/>
              <a:cs typeface="Arial"/>
              <a:sym typeface="Arial"/>
            </a:endParaRPr>
          </a:p>
          <a:p>
            <a:pPr marL="457200" lvl="0" indent="-317500" algn="l" rtl="0">
              <a:spcBef>
                <a:spcPts val="0"/>
              </a:spcBef>
              <a:spcAft>
                <a:spcPts val="0"/>
              </a:spcAft>
              <a:buClr>
                <a:srgbClr val="333333"/>
              </a:buClr>
              <a:buSzPts val="1400"/>
              <a:buFont typeface="Arial"/>
              <a:buChar char="●"/>
            </a:pPr>
            <a:r>
              <a:rPr lang="de-CH" sz="1400" b="1">
                <a:solidFill>
                  <a:srgbClr val="333333"/>
                </a:solidFill>
                <a:latin typeface="Arial"/>
                <a:ea typeface="Arial"/>
                <a:cs typeface="Arial"/>
                <a:sym typeface="Arial"/>
              </a:rPr>
              <a:t>= 2</a:t>
            </a:r>
            <a:endParaRPr sz="1400">
              <a:solidFill>
                <a:srgbClr val="000000"/>
              </a:solidFill>
              <a:highlight>
                <a:srgbClr val="FFFFFF"/>
              </a:highlight>
              <a:latin typeface="Arial"/>
              <a:ea typeface="Arial"/>
              <a:cs typeface="Arial"/>
              <a:sym typeface="Arial"/>
            </a:endParaRPr>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Shape 1050"/>
        <p:cNvGrpSpPr/>
        <p:nvPr/>
      </p:nvGrpSpPr>
      <p:grpSpPr>
        <a:xfrm>
          <a:off x="0" y="0"/>
          <a:ext cx="0" cy="0"/>
          <a:chOff x="0" y="0"/>
          <a:chExt cx="0" cy="0"/>
        </a:xfrm>
      </p:grpSpPr>
      <p:sp>
        <p:nvSpPr>
          <p:cNvPr id="1051" name="Google Shape;1051;p174"/>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052" name="Google Shape;1052;p174"/>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17500" algn="l" rtl="0">
              <a:spcBef>
                <a:spcPts val="0"/>
              </a:spcBef>
              <a:spcAft>
                <a:spcPts val="0"/>
              </a:spcAft>
              <a:buClr>
                <a:srgbClr val="0000FF"/>
              </a:buClr>
              <a:buSzPts val="1400"/>
              <a:buFont typeface="Spectral"/>
              <a:buChar char="●"/>
            </a:pPr>
            <a:r>
              <a:rPr lang="de-CH" sz="1400">
                <a:solidFill>
                  <a:srgbClr val="0000FF"/>
                </a:solidFill>
                <a:latin typeface="Spectral"/>
                <a:ea typeface="Spectral"/>
                <a:cs typeface="Spectral"/>
                <a:sym typeface="Spectral"/>
              </a:rPr>
              <a:t>data=np.array([4, 5, 5, 5, 6, 6, 6, 6, 7, 7, 7, 8])</a:t>
            </a:r>
            <a:endParaRPr sz="1400">
              <a:solidFill>
                <a:srgbClr val="0000FF"/>
              </a:solidFill>
              <a:latin typeface="Spectral"/>
              <a:ea typeface="Spectral"/>
              <a:cs typeface="Spectral"/>
              <a:sym typeface="Spectral"/>
            </a:endParaRPr>
          </a:p>
          <a:p>
            <a:pPr marL="457200" lvl="0" indent="-317500" algn="l" rtl="0">
              <a:spcBef>
                <a:spcPts val="0"/>
              </a:spcBef>
              <a:spcAft>
                <a:spcPts val="0"/>
              </a:spcAft>
              <a:buClr>
                <a:srgbClr val="0000FF"/>
              </a:buClr>
              <a:buSzPts val="1400"/>
              <a:buFont typeface="Spectral"/>
              <a:buChar char="●"/>
            </a:pPr>
            <a:r>
              <a:rPr lang="de-CH" sz="1400">
                <a:solidFill>
                  <a:srgbClr val="0000FF"/>
                </a:solidFill>
                <a:latin typeface="Spectral"/>
                <a:ea typeface="Spectral"/>
                <a:cs typeface="Spectral"/>
                <a:sym typeface="Spectral"/>
              </a:rPr>
              <a:t># first quartile</a:t>
            </a:r>
            <a:endParaRPr sz="1400">
              <a:solidFill>
                <a:srgbClr val="0000FF"/>
              </a:solidFill>
              <a:latin typeface="Spectral"/>
              <a:ea typeface="Spectral"/>
              <a:cs typeface="Spectral"/>
              <a:sym typeface="Spectral"/>
            </a:endParaRPr>
          </a:p>
          <a:p>
            <a:pPr marL="457200" lvl="0" indent="-317500" algn="l" rtl="0">
              <a:spcBef>
                <a:spcPts val="0"/>
              </a:spcBef>
              <a:spcAft>
                <a:spcPts val="0"/>
              </a:spcAft>
              <a:buClr>
                <a:srgbClr val="0000FF"/>
              </a:buClr>
              <a:buSzPts val="1400"/>
              <a:buFont typeface="Spectral"/>
              <a:buChar char="●"/>
            </a:pPr>
            <a:r>
              <a:rPr lang="de-CH" sz="1400">
                <a:solidFill>
                  <a:srgbClr val="0000FF"/>
                </a:solidFill>
                <a:latin typeface="Spectral"/>
                <a:ea typeface="Spectral"/>
                <a:cs typeface="Spectral"/>
                <a:sym typeface="Spectral"/>
              </a:rPr>
              <a:t>q1=np.percentile(data,25)</a:t>
            </a:r>
            <a:endParaRPr sz="1400">
              <a:solidFill>
                <a:srgbClr val="0000FF"/>
              </a:solidFill>
              <a:latin typeface="Spectral"/>
              <a:ea typeface="Spectral"/>
              <a:cs typeface="Spectral"/>
              <a:sym typeface="Spectral"/>
            </a:endParaRPr>
          </a:p>
          <a:p>
            <a:pPr marL="457200" lvl="0" indent="-317500" algn="l" rtl="0">
              <a:spcBef>
                <a:spcPts val="0"/>
              </a:spcBef>
              <a:spcAft>
                <a:spcPts val="0"/>
              </a:spcAft>
              <a:buClr>
                <a:srgbClr val="0000FF"/>
              </a:buClr>
              <a:buSzPts val="1400"/>
              <a:buFont typeface="Spectral"/>
              <a:buChar char="●"/>
            </a:pPr>
            <a:r>
              <a:rPr lang="de-CH" sz="1400">
                <a:solidFill>
                  <a:srgbClr val="0000FF"/>
                </a:solidFill>
                <a:latin typeface="Spectral"/>
                <a:ea typeface="Spectral"/>
                <a:cs typeface="Spectral"/>
                <a:sym typeface="Spectral"/>
              </a:rPr>
              <a:t># second quartile</a:t>
            </a:r>
            <a:endParaRPr sz="1400">
              <a:solidFill>
                <a:srgbClr val="0000FF"/>
              </a:solidFill>
              <a:latin typeface="Spectral"/>
              <a:ea typeface="Spectral"/>
              <a:cs typeface="Spectral"/>
              <a:sym typeface="Spectral"/>
            </a:endParaRPr>
          </a:p>
          <a:p>
            <a:pPr marL="457200" lvl="0" indent="-317500" algn="l" rtl="0">
              <a:spcBef>
                <a:spcPts val="0"/>
              </a:spcBef>
              <a:spcAft>
                <a:spcPts val="0"/>
              </a:spcAft>
              <a:buClr>
                <a:srgbClr val="0000FF"/>
              </a:buClr>
              <a:buSzPts val="1400"/>
              <a:buFont typeface="Spectral"/>
              <a:buChar char="●"/>
            </a:pPr>
            <a:r>
              <a:rPr lang="de-CH" sz="1400">
                <a:solidFill>
                  <a:srgbClr val="0000FF"/>
                </a:solidFill>
                <a:latin typeface="Spectral"/>
                <a:ea typeface="Spectral"/>
                <a:cs typeface="Spectral"/>
                <a:sym typeface="Spectral"/>
              </a:rPr>
              <a:t>q2=np.percentile(data,50)</a:t>
            </a:r>
            <a:endParaRPr sz="1400">
              <a:solidFill>
                <a:srgbClr val="0000FF"/>
              </a:solidFill>
              <a:latin typeface="Spectral"/>
              <a:ea typeface="Spectral"/>
              <a:cs typeface="Spectral"/>
              <a:sym typeface="Spectral"/>
            </a:endParaRPr>
          </a:p>
          <a:p>
            <a:pPr marL="457200" lvl="0" indent="-317500" algn="l" rtl="0">
              <a:spcBef>
                <a:spcPts val="0"/>
              </a:spcBef>
              <a:spcAft>
                <a:spcPts val="0"/>
              </a:spcAft>
              <a:buClr>
                <a:srgbClr val="0000FF"/>
              </a:buClr>
              <a:buSzPts val="1400"/>
              <a:buFont typeface="Spectral"/>
              <a:buChar char="●"/>
            </a:pPr>
            <a:r>
              <a:rPr lang="de-CH" sz="1400">
                <a:solidFill>
                  <a:srgbClr val="0000FF"/>
                </a:solidFill>
                <a:latin typeface="Spectral"/>
                <a:ea typeface="Spectral"/>
                <a:cs typeface="Spectral"/>
                <a:sym typeface="Spectral"/>
              </a:rPr>
              <a:t># third quartile</a:t>
            </a:r>
            <a:endParaRPr sz="1400">
              <a:solidFill>
                <a:srgbClr val="0000FF"/>
              </a:solidFill>
              <a:latin typeface="Spectral"/>
              <a:ea typeface="Spectral"/>
              <a:cs typeface="Spectral"/>
              <a:sym typeface="Spectral"/>
            </a:endParaRPr>
          </a:p>
          <a:p>
            <a:pPr marL="457200" lvl="0" indent="-317500" algn="l" rtl="0">
              <a:spcBef>
                <a:spcPts val="0"/>
              </a:spcBef>
              <a:spcAft>
                <a:spcPts val="0"/>
              </a:spcAft>
              <a:buClr>
                <a:srgbClr val="0000FF"/>
              </a:buClr>
              <a:buSzPts val="1400"/>
              <a:buFont typeface="Spectral"/>
              <a:buChar char="●"/>
            </a:pPr>
            <a:r>
              <a:rPr lang="de-CH" sz="1400">
                <a:solidFill>
                  <a:srgbClr val="0000FF"/>
                </a:solidFill>
                <a:latin typeface="Spectral"/>
                <a:ea typeface="Spectral"/>
                <a:cs typeface="Spectral"/>
                <a:sym typeface="Spectral"/>
              </a:rPr>
              <a:t>q3=np.percentile(data,75)</a:t>
            </a:r>
            <a:endParaRPr sz="1400">
              <a:solidFill>
                <a:srgbClr val="0000FF"/>
              </a:solidFill>
              <a:latin typeface="Spectral"/>
              <a:ea typeface="Spectral"/>
              <a:cs typeface="Spectral"/>
              <a:sym typeface="Spectral"/>
            </a:endParaRPr>
          </a:p>
          <a:p>
            <a:pPr marL="457200" lvl="0" indent="0" algn="l" rtl="0">
              <a:spcBef>
                <a:spcPts val="1600"/>
              </a:spcBef>
              <a:spcAft>
                <a:spcPts val="0"/>
              </a:spcAft>
              <a:buNone/>
            </a:pPr>
            <a:r>
              <a:rPr lang="de-CH" sz="1400">
                <a:latin typeface="Spectral"/>
                <a:ea typeface="Spectral"/>
                <a:cs typeface="Spectral"/>
                <a:sym typeface="Spectral"/>
              </a:rPr>
              <a:t>Find the interQuartile range =3rd quartile- 1st quartile</a:t>
            </a:r>
            <a:endParaRPr sz="1400">
              <a:latin typeface="Spectral"/>
              <a:ea typeface="Spectral"/>
              <a:cs typeface="Spectral"/>
              <a:sym typeface="Spectral"/>
            </a:endParaRPr>
          </a:p>
          <a:p>
            <a:pPr marL="457200" lvl="0" indent="-317500" algn="l" rtl="0">
              <a:spcBef>
                <a:spcPts val="1600"/>
              </a:spcBef>
              <a:spcAft>
                <a:spcPts val="0"/>
              </a:spcAft>
              <a:buClr>
                <a:srgbClr val="0000FF"/>
              </a:buClr>
              <a:buSzPts val="1400"/>
              <a:buFont typeface="Spectral"/>
              <a:buChar char="●"/>
            </a:pPr>
            <a:r>
              <a:rPr lang="de-CH" sz="1400">
                <a:solidFill>
                  <a:srgbClr val="0000FF"/>
                </a:solidFill>
                <a:latin typeface="Spectral"/>
                <a:ea typeface="Spectral"/>
                <a:cs typeface="Spectral"/>
                <a:sym typeface="Spectral"/>
              </a:rPr>
              <a:t>#interquartile range</a:t>
            </a:r>
            <a:endParaRPr sz="1400">
              <a:solidFill>
                <a:srgbClr val="0000FF"/>
              </a:solidFill>
              <a:latin typeface="Spectral"/>
              <a:ea typeface="Spectral"/>
              <a:cs typeface="Spectral"/>
              <a:sym typeface="Spectral"/>
            </a:endParaRPr>
          </a:p>
          <a:p>
            <a:pPr marL="457200" lvl="0" indent="-317500" algn="l" rtl="0">
              <a:spcBef>
                <a:spcPts val="0"/>
              </a:spcBef>
              <a:spcAft>
                <a:spcPts val="0"/>
              </a:spcAft>
              <a:buClr>
                <a:srgbClr val="0000FF"/>
              </a:buClr>
              <a:buSzPts val="1400"/>
              <a:buFont typeface="Spectral"/>
              <a:buChar char="●"/>
            </a:pPr>
            <a:r>
              <a:rPr lang="de-CH" sz="1400">
                <a:solidFill>
                  <a:srgbClr val="0000FF"/>
                </a:solidFill>
                <a:latin typeface="Spectral"/>
                <a:ea typeface="Spectral"/>
                <a:cs typeface="Spectral"/>
                <a:sym typeface="Spectral"/>
              </a:rPr>
              <a:t>IQR=q3-q1</a:t>
            </a:r>
            <a:endParaRPr sz="1400">
              <a:solidFill>
                <a:srgbClr val="0000FF"/>
              </a:solidFill>
              <a:latin typeface="Spectral"/>
              <a:ea typeface="Spectral"/>
              <a:cs typeface="Spectral"/>
              <a:sym typeface="Spectral"/>
            </a:endParaRPr>
          </a:p>
          <a:p>
            <a:pPr marL="457200" lvl="0" indent="-317500" algn="l" rtl="0">
              <a:spcBef>
                <a:spcPts val="0"/>
              </a:spcBef>
              <a:spcAft>
                <a:spcPts val="0"/>
              </a:spcAft>
              <a:buClr>
                <a:srgbClr val="0000FF"/>
              </a:buClr>
              <a:buSzPts val="1400"/>
              <a:buFont typeface="Spectral"/>
              <a:buChar char="●"/>
            </a:pPr>
            <a:r>
              <a:rPr lang="de-CH" sz="1400">
                <a:solidFill>
                  <a:srgbClr val="0000FF"/>
                </a:solidFill>
                <a:latin typeface="Spectral"/>
                <a:ea typeface="Spectral"/>
                <a:cs typeface="Spectral"/>
                <a:sym typeface="Spectral"/>
              </a:rPr>
              <a:t>print(IQR)</a:t>
            </a:r>
            <a:endParaRPr sz="1400">
              <a:solidFill>
                <a:srgbClr val="0000FF"/>
              </a:solidFill>
              <a:latin typeface="Spectral"/>
              <a:ea typeface="Spectral"/>
              <a:cs typeface="Spectral"/>
              <a:sym typeface="Spectral"/>
            </a:endParaRPr>
          </a:p>
          <a:p>
            <a:pPr marL="0" lvl="0" indent="0" algn="l" rtl="0">
              <a:spcBef>
                <a:spcPts val="1600"/>
              </a:spcBef>
              <a:spcAft>
                <a:spcPts val="0"/>
              </a:spcAft>
              <a:buNone/>
            </a:pPr>
            <a:endParaRPr sz="1400">
              <a:latin typeface="Spectral"/>
              <a:ea typeface="Spectral"/>
              <a:cs typeface="Spectral"/>
              <a:sym typeface="Spectral"/>
            </a:endParaRPr>
          </a:p>
          <a:p>
            <a:pPr marL="0" lvl="0" indent="0" algn="l" rtl="0">
              <a:spcBef>
                <a:spcPts val="1600"/>
              </a:spcBef>
              <a:spcAft>
                <a:spcPts val="1600"/>
              </a:spcAft>
              <a:buNone/>
            </a:pPr>
            <a:endParaRPr/>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p175"/>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3. VARIANCE</a:t>
            </a:r>
            <a:endParaRPr/>
          </a:p>
        </p:txBody>
      </p:sp>
      <p:sp>
        <p:nvSpPr>
          <p:cNvPr id="1058" name="Google Shape;1058;p175"/>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a:solidFill>
                  <a:srgbClr val="000000"/>
                </a:solidFill>
                <a:highlight>
                  <a:srgbClr val="FFFFFF"/>
                </a:highlight>
                <a:latin typeface="Spectral"/>
                <a:ea typeface="Spectral"/>
                <a:cs typeface="Spectral"/>
                <a:sym typeface="Spectral"/>
              </a:rPr>
              <a:t>The variance and the standard deviation are measures of the spread of the data around the mean. </a:t>
            </a:r>
            <a:r>
              <a:rPr lang="de-CH">
                <a:solidFill>
                  <a:srgbClr val="000000"/>
                </a:solidFill>
                <a:highlight>
                  <a:srgbClr val="FFFFFF"/>
                </a:highlight>
                <a:latin typeface="Spectral"/>
                <a:ea typeface="Spectral"/>
                <a:cs typeface="Spectral"/>
                <a:sym typeface="Spectral"/>
              </a:rPr>
              <a:t>They summarise how close each observed data value is to the mean value.</a:t>
            </a:r>
            <a:endParaRPr sz="1400">
              <a:solidFill>
                <a:srgbClr val="000000"/>
              </a:solidFill>
              <a:latin typeface="Arial"/>
              <a:ea typeface="Arial"/>
              <a:cs typeface="Arial"/>
              <a:sym typeface="Arial"/>
            </a:endParaRPr>
          </a:p>
          <a:p>
            <a:pPr marL="457200" lvl="0" indent="-317500" algn="l" rtl="0">
              <a:spcBef>
                <a:spcPts val="1600"/>
              </a:spcBef>
              <a:spcAft>
                <a:spcPts val="0"/>
              </a:spcAft>
              <a:buClr>
                <a:srgbClr val="000000"/>
              </a:buClr>
              <a:buSzPts val="1400"/>
              <a:buFont typeface="Arial"/>
              <a:buChar char="●"/>
            </a:pPr>
            <a:r>
              <a:rPr lang="de-CH" sz="1400">
                <a:solidFill>
                  <a:srgbClr val="000000"/>
                </a:solidFill>
                <a:highlight>
                  <a:srgbClr val="FFFFFF"/>
                </a:highlight>
                <a:latin typeface="Arial"/>
                <a:ea typeface="Arial"/>
                <a:cs typeface="Arial"/>
                <a:sym typeface="Arial"/>
              </a:rPr>
              <a:t>In datasets with a small spread all values are very close to the mean, resulting in a small variance and standard deviation. Where a dataset is more dispersed, values are spread further away from the mean, leading to a larger variance and standard deviation.</a:t>
            </a:r>
            <a:endParaRPr sz="1400">
              <a:solidFill>
                <a:srgbClr val="000000"/>
              </a:solidFill>
              <a:highlight>
                <a:srgbClr val="FFFFFF"/>
              </a:highlight>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de-CH" sz="1400">
                <a:solidFill>
                  <a:srgbClr val="000000"/>
                </a:solidFill>
                <a:highlight>
                  <a:srgbClr val="FFFFFF"/>
                </a:highlight>
                <a:latin typeface="Arial"/>
                <a:ea typeface="Arial"/>
                <a:cs typeface="Arial"/>
                <a:sym typeface="Arial"/>
              </a:rPr>
              <a:t>The smaller the variance and standard deviation, the more the mean value is indicative of the whole dataset. Therefore, if all values of a dataset are the same, the standard deviation and variance are zero.</a:t>
            </a:r>
            <a:endParaRPr sz="1400">
              <a:solidFill>
                <a:srgbClr val="000000"/>
              </a:solidFill>
              <a:highlight>
                <a:srgbClr val="FFFFFF"/>
              </a:highlight>
              <a:latin typeface="Arial"/>
              <a:ea typeface="Arial"/>
              <a:cs typeface="Arial"/>
              <a:sym typeface="Arial"/>
            </a:endParaRPr>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Shape 1062"/>
        <p:cNvGrpSpPr/>
        <p:nvPr/>
      </p:nvGrpSpPr>
      <p:grpSpPr>
        <a:xfrm>
          <a:off x="0" y="0"/>
          <a:ext cx="0" cy="0"/>
          <a:chOff x="0" y="0"/>
          <a:chExt cx="0" cy="0"/>
        </a:xfrm>
      </p:grpSpPr>
      <p:sp>
        <p:nvSpPr>
          <p:cNvPr id="1063" name="Google Shape;1063;p176"/>
          <p:cNvSpPr txBox="1">
            <a:spLocks noGrp="1"/>
          </p:cNvSpPr>
          <p:nvPr>
            <p:ph type="title"/>
          </p:nvPr>
        </p:nvSpPr>
        <p:spPr>
          <a:xfrm>
            <a:off x="311700" y="255875"/>
            <a:ext cx="8520600" cy="374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064" name="Google Shape;1064;p176"/>
          <p:cNvSpPr txBox="1">
            <a:spLocks noGrp="1"/>
          </p:cNvSpPr>
          <p:nvPr>
            <p:ph type="body" idx="1"/>
          </p:nvPr>
        </p:nvSpPr>
        <p:spPr>
          <a:xfrm>
            <a:off x="151575" y="845800"/>
            <a:ext cx="8520600" cy="4133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sz="1500">
                <a:highlight>
                  <a:srgbClr val="FFFFFF"/>
                </a:highlight>
              </a:rPr>
              <a:t>The population</a:t>
            </a:r>
            <a:r>
              <a:rPr lang="de-CH" sz="1500" b="1">
                <a:highlight>
                  <a:srgbClr val="FFFFFF"/>
                </a:highlight>
              </a:rPr>
              <a:t> Variance</a:t>
            </a:r>
            <a:r>
              <a:rPr lang="de-CH" sz="1500" i="1">
                <a:highlight>
                  <a:srgbClr val="FFFFFF"/>
                </a:highlight>
              </a:rPr>
              <a:t> σ</a:t>
            </a:r>
            <a:r>
              <a:rPr lang="de-CH" sz="1500" baseline="30000">
                <a:highlight>
                  <a:srgbClr val="FFFFFF"/>
                </a:highlight>
              </a:rPr>
              <a:t>2</a:t>
            </a:r>
            <a:r>
              <a:rPr lang="de-CH" sz="1500">
                <a:highlight>
                  <a:srgbClr val="FFFFFF"/>
                </a:highlight>
              </a:rPr>
              <a:t> (pronounced </a:t>
            </a:r>
            <a:r>
              <a:rPr lang="de-CH" sz="1500" i="1">
                <a:highlight>
                  <a:srgbClr val="FFFFFF"/>
                </a:highlight>
              </a:rPr>
              <a:t>sigma squared</a:t>
            </a:r>
            <a:r>
              <a:rPr lang="de-CH" sz="1500">
                <a:highlight>
                  <a:srgbClr val="FFFFFF"/>
                </a:highlight>
              </a:rPr>
              <a:t>) of a discrete set of numbers is expressed by the following formula:</a:t>
            </a:r>
            <a:endParaRPr sz="1500">
              <a:highlight>
                <a:srgbClr val="FFFFFF"/>
              </a:highlight>
            </a:endParaRPr>
          </a:p>
          <a:p>
            <a:pPr marL="457200" lvl="0" indent="-311150" algn="l" rtl="0">
              <a:spcBef>
                <a:spcPts val="1600"/>
              </a:spcBef>
              <a:spcAft>
                <a:spcPts val="0"/>
              </a:spcAft>
              <a:buSzPts val="1300"/>
              <a:buChar char="●"/>
            </a:pPr>
            <a:r>
              <a:rPr lang="de-CH" sz="1300">
                <a:highlight>
                  <a:srgbClr val="FFFFFF"/>
                </a:highlight>
              </a:rPr>
              <a:t>Where: </a:t>
            </a:r>
            <a:r>
              <a:rPr lang="de-CH" sz="1300" i="1">
                <a:highlight>
                  <a:srgbClr val="FFFFFF"/>
                </a:highlight>
              </a:rPr>
              <a:t>X</a:t>
            </a:r>
            <a:r>
              <a:rPr lang="de-CH" sz="1300" i="1" baseline="-25000">
                <a:highlight>
                  <a:srgbClr val="FFFFFF"/>
                </a:highlight>
              </a:rPr>
              <a:t>i</a:t>
            </a:r>
            <a:r>
              <a:rPr lang="de-CH" sz="1300" i="1">
                <a:highlight>
                  <a:srgbClr val="FFFFFF"/>
                </a:highlight>
              </a:rPr>
              <a:t> </a:t>
            </a:r>
            <a:r>
              <a:rPr lang="de-CH" sz="1300">
                <a:highlight>
                  <a:srgbClr val="FFFFFF"/>
                </a:highlight>
              </a:rPr>
              <a:t>represents the</a:t>
            </a:r>
            <a:r>
              <a:rPr lang="de-CH" sz="1300" i="1">
                <a:highlight>
                  <a:srgbClr val="FFFFFF"/>
                </a:highlight>
              </a:rPr>
              <a:t> ith</a:t>
            </a:r>
            <a:r>
              <a:rPr lang="de-CH" sz="1300">
                <a:highlight>
                  <a:srgbClr val="FFFFFF"/>
                </a:highlight>
              </a:rPr>
              <a:t> unit, starting from the first observation to the last</a:t>
            </a:r>
            <a:endParaRPr sz="1300">
              <a:highlight>
                <a:srgbClr val="FFFFFF"/>
              </a:highlight>
            </a:endParaRPr>
          </a:p>
          <a:p>
            <a:pPr marL="457200" lvl="0" indent="-311150" algn="l" rtl="0">
              <a:spcBef>
                <a:spcPts val="0"/>
              </a:spcBef>
              <a:spcAft>
                <a:spcPts val="0"/>
              </a:spcAft>
              <a:buSzPts val="1300"/>
              <a:buChar char="●"/>
            </a:pPr>
            <a:r>
              <a:rPr lang="de-CH" sz="1300" i="1">
                <a:highlight>
                  <a:srgbClr val="FFFFFF"/>
                </a:highlight>
              </a:rPr>
              <a:t>μ</a:t>
            </a:r>
            <a:r>
              <a:rPr lang="de-CH" sz="1300">
                <a:highlight>
                  <a:srgbClr val="FFFFFF"/>
                </a:highlight>
              </a:rPr>
              <a:t> represents the population mean</a:t>
            </a:r>
            <a:endParaRPr sz="1300">
              <a:highlight>
                <a:srgbClr val="FFFFFF"/>
              </a:highlight>
            </a:endParaRPr>
          </a:p>
          <a:p>
            <a:pPr marL="457200" lvl="0" indent="-311150" algn="l" rtl="0">
              <a:spcBef>
                <a:spcPts val="0"/>
              </a:spcBef>
              <a:spcAft>
                <a:spcPts val="0"/>
              </a:spcAft>
              <a:buSzPts val="1300"/>
              <a:buChar char="●"/>
            </a:pPr>
            <a:r>
              <a:rPr lang="de-CH" sz="1300" i="1">
                <a:highlight>
                  <a:srgbClr val="FFFFFF"/>
                </a:highlight>
              </a:rPr>
              <a:t>N</a:t>
            </a:r>
            <a:r>
              <a:rPr lang="de-CH" sz="1300">
                <a:highlight>
                  <a:srgbClr val="FFFFFF"/>
                </a:highlight>
              </a:rPr>
              <a:t> represents the number of units in the population</a:t>
            </a:r>
            <a:endParaRPr sz="1300">
              <a:highlight>
                <a:srgbClr val="FFFFFF"/>
              </a:highlight>
            </a:endParaRPr>
          </a:p>
          <a:p>
            <a:pPr marL="0" lvl="0" indent="0" algn="l" rtl="0">
              <a:spcBef>
                <a:spcPts val="1600"/>
              </a:spcBef>
              <a:spcAft>
                <a:spcPts val="0"/>
              </a:spcAft>
              <a:buNone/>
            </a:pPr>
            <a:r>
              <a:rPr lang="de-CH" sz="1500">
                <a:highlight>
                  <a:srgbClr val="FFFFFF"/>
                </a:highlight>
              </a:rPr>
              <a:t>The</a:t>
            </a:r>
            <a:r>
              <a:rPr lang="de-CH" sz="1500" b="1">
                <a:highlight>
                  <a:srgbClr val="FFFFFF"/>
                </a:highlight>
              </a:rPr>
              <a:t> Variance</a:t>
            </a:r>
            <a:r>
              <a:rPr lang="de-CH" sz="1500">
                <a:highlight>
                  <a:srgbClr val="FFFFFF"/>
                </a:highlight>
              </a:rPr>
              <a:t> of a sample</a:t>
            </a:r>
            <a:r>
              <a:rPr lang="de-CH" sz="1500" i="1">
                <a:highlight>
                  <a:srgbClr val="FFFFFF"/>
                </a:highlight>
              </a:rPr>
              <a:t> s</a:t>
            </a:r>
            <a:r>
              <a:rPr lang="de-CH" sz="1500" baseline="30000">
                <a:highlight>
                  <a:srgbClr val="FFFFFF"/>
                </a:highlight>
              </a:rPr>
              <a:t>2</a:t>
            </a:r>
            <a:r>
              <a:rPr lang="de-CH" sz="1500">
                <a:highlight>
                  <a:srgbClr val="FFFFFF"/>
                </a:highlight>
              </a:rPr>
              <a:t> (pronounced </a:t>
            </a:r>
            <a:r>
              <a:rPr lang="de-CH" sz="1500" i="1">
                <a:highlight>
                  <a:srgbClr val="FFFFFF"/>
                </a:highlight>
              </a:rPr>
              <a:t>s squared</a:t>
            </a:r>
            <a:r>
              <a:rPr lang="de-CH" sz="1500">
                <a:highlight>
                  <a:srgbClr val="FFFFFF"/>
                </a:highlight>
              </a:rPr>
              <a:t>) is expressed by a slightly different formula:</a:t>
            </a:r>
            <a:endParaRPr sz="1500">
              <a:highlight>
                <a:srgbClr val="FFFFFF"/>
              </a:highlight>
            </a:endParaRPr>
          </a:p>
          <a:p>
            <a:pPr marL="0" lvl="0" indent="0" algn="l" rtl="0">
              <a:spcBef>
                <a:spcPts val="1600"/>
              </a:spcBef>
              <a:spcAft>
                <a:spcPts val="0"/>
              </a:spcAft>
              <a:buNone/>
            </a:pPr>
            <a:endParaRPr sz="1500">
              <a:highlight>
                <a:srgbClr val="FFFFFF"/>
              </a:highlight>
            </a:endParaRPr>
          </a:p>
          <a:p>
            <a:pPr marL="0" lvl="0" indent="0" algn="l" rtl="0">
              <a:spcBef>
                <a:spcPts val="1600"/>
              </a:spcBef>
              <a:spcAft>
                <a:spcPts val="0"/>
              </a:spcAft>
              <a:buNone/>
            </a:pPr>
            <a:endParaRPr sz="1300" i="1">
              <a:highlight>
                <a:srgbClr val="FFFFFF"/>
              </a:highlight>
            </a:endParaRPr>
          </a:p>
          <a:p>
            <a:pPr marL="457200" lvl="0" indent="-311150" algn="l" rtl="0">
              <a:spcBef>
                <a:spcPts val="1600"/>
              </a:spcBef>
              <a:spcAft>
                <a:spcPts val="0"/>
              </a:spcAft>
              <a:buSzPts val="1300"/>
              <a:buChar char="●"/>
            </a:pPr>
            <a:r>
              <a:rPr lang="de-CH" sz="1300" i="1">
                <a:highlight>
                  <a:srgbClr val="FFFFFF"/>
                </a:highlight>
              </a:rPr>
              <a:t>x</a:t>
            </a:r>
            <a:r>
              <a:rPr lang="de-CH" sz="1300" i="1" baseline="-25000">
                <a:highlight>
                  <a:srgbClr val="FFFFFF"/>
                </a:highlight>
              </a:rPr>
              <a:t>i</a:t>
            </a:r>
            <a:r>
              <a:rPr lang="de-CH" sz="1300" i="1">
                <a:highlight>
                  <a:srgbClr val="FFFFFF"/>
                </a:highlight>
              </a:rPr>
              <a:t> </a:t>
            </a:r>
            <a:r>
              <a:rPr lang="de-CH" sz="1300">
                <a:highlight>
                  <a:srgbClr val="FFFFFF"/>
                </a:highlight>
              </a:rPr>
              <a:t>represents the </a:t>
            </a:r>
            <a:r>
              <a:rPr lang="de-CH" sz="1300" i="1">
                <a:highlight>
                  <a:srgbClr val="FFFFFF"/>
                </a:highlight>
              </a:rPr>
              <a:t>ith</a:t>
            </a:r>
            <a:r>
              <a:rPr lang="de-CH" sz="1300">
                <a:highlight>
                  <a:srgbClr val="FFFFFF"/>
                </a:highlight>
              </a:rPr>
              <a:t> unit, starting from the first observation to the last</a:t>
            </a:r>
            <a:endParaRPr sz="1300">
              <a:highlight>
                <a:srgbClr val="FFFFFF"/>
              </a:highlight>
            </a:endParaRPr>
          </a:p>
          <a:p>
            <a:pPr marL="457200" lvl="0" indent="-311150" algn="l" rtl="0">
              <a:spcBef>
                <a:spcPts val="0"/>
              </a:spcBef>
              <a:spcAft>
                <a:spcPts val="0"/>
              </a:spcAft>
              <a:buSzPts val="1300"/>
              <a:buChar char="●"/>
            </a:pPr>
            <a:r>
              <a:rPr lang="de-CH" sz="1300" i="1">
                <a:highlight>
                  <a:srgbClr val="FFFFFF"/>
                </a:highlight>
              </a:rPr>
              <a:t>x̅</a:t>
            </a:r>
            <a:r>
              <a:rPr lang="de-CH" sz="1300">
                <a:highlight>
                  <a:srgbClr val="FFFFFF"/>
                </a:highlight>
              </a:rPr>
              <a:t> represents the sample mean</a:t>
            </a:r>
            <a:endParaRPr sz="1300">
              <a:highlight>
                <a:srgbClr val="FFFFFF"/>
              </a:highlight>
            </a:endParaRPr>
          </a:p>
          <a:p>
            <a:pPr marL="457200" lvl="0" indent="-311150" algn="l" rtl="0">
              <a:spcBef>
                <a:spcPts val="0"/>
              </a:spcBef>
              <a:spcAft>
                <a:spcPts val="0"/>
              </a:spcAft>
              <a:buSzPts val="1300"/>
              <a:buChar char="●"/>
            </a:pPr>
            <a:r>
              <a:rPr lang="de-CH" sz="1300" i="1">
                <a:highlight>
                  <a:srgbClr val="FFFFFF"/>
                </a:highlight>
              </a:rPr>
              <a:t>n</a:t>
            </a:r>
            <a:r>
              <a:rPr lang="de-CH" sz="1300">
                <a:highlight>
                  <a:srgbClr val="FFFFFF"/>
                </a:highlight>
              </a:rPr>
              <a:t> represents the number of units in the sample</a:t>
            </a:r>
            <a:endParaRPr sz="1300">
              <a:highlight>
                <a:srgbClr val="FFFFFF"/>
              </a:highlight>
            </a:endParaRPr>
          </a:p>
          <a:p>
            <a:pPr marL="0" lvl="0" indent="0" algn="l" rtl="0">
              <a:spcBef>
                <a:spcPts val="1600"/>
              </a:spcBef>
              <a:spcAft>
                <a:spcPts val="1600"/>
              </a:spcAft>
              <a:buNone/>
            </a:pPr>
            <a:endParaRPr sz="1400">
              <a:solidFill>
                <a:srgbClr val="000000"/>
              </a:solidFill>
              <a:highlight>
                <a:srgbClr val="FFFFFF"/>
              </a:highlight>
              <a:latin typeface="Arial"/>
              <a:ea typeface="Arial"/>
              <a:cs typeface="Arial"/>
              <a:sym typeface="Arial"/>
            </a:endParaRPr>
          </a:p>
        </p:txBody>
      </p:sp>
      <p:pic>
        <p:nvPicPr>
          <p:cNvPr id="1065" name="Google Shape;1065;p176"/>
          <p:cNvPicPr preferRelativeResize="0"/>
          <p:nvPr/>
        </p:nvPicPr>
        <p:blipFill>
          <a:blip r:embed="rId3">
            <a:alphaModFix/>
          </a:blip>
          <a:stretch>
            <a:fillRect/>
          </a:stretch>
        </p:blipFill>
        <p:spPr>
          <a:xfrm>
            <a:off x="6789050" y="1556400"/>
            <a:ext cx="1593600" cy="849920"/>
          </a:xfrm>
          <a:prstGeom prst="rect">
            <a:avLst/>
          </a:prstGeom>
          <a:noFill/>
          <a:ln>
            <a:noFill/>
          </a:ln>
        </p:spPr>
      </p:pic>
      <p:pic>
        <p:nvPicPr>
          <p:cNvPr id="1066" name="Google Shape;1066;p176"/>
          <p:cNvPicPr preferRelativeResize="0"/>
          <p:nvPr/>
        </p:nvPicPr>
        <p:blipFill>
          <a:blip r:embed="rId4">
            <a:alphaModFix/>
          </a:blip>
          <a:stretch>
            <a:fillRect/>
          </a:stretch>
        </p:blipFill>
        <p:spPr>
          <a:xfrm>
            <a:off x="1994275" y="3093800"/>
            <a:ext cx="1711300" cy="849925"/>
          </a:xfrm>
          <a:prstGeom prst="rect">
            <a:avLst/>
          </a:prstGeom>
          <a:noFill/>
          <a:ln>
            <a:noFill/>
          </a:ln>
        </p:spPr>
      </p:pic>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Shape 1070"/>
        <p:cNvGrpSpPr/>
        <p:nvPr/>
      </p:nvGrpSpPr>
      <p:grpSpPr>
        <a:xfrm>
          <a:off x="0" y="0"/>
          <a:ext cx="0" cy="0"/>
          <a:chOff x="0" y="0"/>
          <a:chExt cx="0" cy="0"/>
        </a:xfrm>
      </p:grpSpPr>
      <p:sp>
        <p:nvSpPr>
          <p:cNvPr id="1071" name="Google Shape;1071;p177"/>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4. STANDARD DEVIATION</a:t>
            </a:r>
            <a:endParaRPr/>
          </a:p>
        </p:txBody>
      </p:sp>
      <p:sp>
        <p:nvSpPr>
          <p:cNvPr id="1072" name="Google Shape;1072;p177"/>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de-CH">
                <a:solidFill>
                  <a:srgbClr val="000000"/>
                </a:solidFill>
                <a:highlight>
                  <a:srgbClr val="FFFFFF"/>
                </a:highlight>
                <a:latin typeface="Arial"/>
                <a:ea typeface="Arial"/>
                <a:cs typeface="Arial"/>
                <a:sym typeface="Arial"/>
              </a:rPr>
              <a:t>The </a:t>
            </a:r>
            <a:r>
              <a:rPr lang="de-CH" b="1">
                <a:solidFill>
                  <a:srgbClr val="000000"/>
                </a:solidFill>
                <a:highlight>
                  <a:srgbClr val="FFFFFF"/>
                </a:highlight>
                <a:latin typeface="Arial"/>
                <a:ea typeface="Arial"/>
                <a:cs typeface="Arial"/>
                <a:sym typeface="Arial"/>
              </a:rPr>
              <a:t>standard deviation</a:t>
            </a:r>
            <a:r>
              <a:rPr lang="de-CH">
                <a:solidFill>
                  <a:srgbClr val="000000"/>
                </a:solidFill>
                <a:highlight>
                  <a:srgbClr val="FFFFFF"/>
                </a:highlight>
                <a:latin typeface="Arial"/>
                <a:ea typeface="Arial"/>
                <a:cs typeface="Arial"/>
                <a:sym typeface="Arial"/>
              </a:rPr>
              <a:t> is the square root of the variance. The standard deviation for a population is represented by</a:t>
            </a:r>
            <a:r>
              <a:rPr lang="de-CH" i="1">
                <a:solidFill>
                  <a:srgbClr val="000000"/>
                </a:solidFill>
                <a:highlight>
                  <a:srgbClr val="FFFFFF"/>
                </a:highlight>
                <a:latin typeface="Arial"/>
                <a:ea typeface="Arial"/>
                <a:cs typeface="Arial"/>
                <a:sym typeface="Arial"/>
              </a:rPr>
              <a:t> σ</a:t>
            </a:r>
            <a:r>
              <a:rPr lang="de-CH">
                <a:solidFill>
                  <a:srgbClr val="000000"/>
                </a:solidFill>
                <a:highlight>
                  <a:srgbClr val="FFFFFF"/>
                </a:highlight>
                <a:latin typeface="Arial"/>
                <a:ea typeface="Arial"/>
                <a:cs typeface="Arial"/>
                <a:sym typeface="Arial"/>
              </a:rPr>
              <a:t>, and the standard deviation for a sample is represented by </a:t>
            </a:r>
            <a:r>
              <a:rPr lang="de-CH" i="1">
                <a:solidFill>
                  <a:srgbClr val="000000"/>
                </a:solidFill>
                <a:highlight>
                  <a:srgbClr val="FFFFFF"/>
                </a:highlight>
                <a:latin typeface="Arial"/>
                <a:ea typeface="Arial"/>
                <a:cs typeface="Arial"/>
                <a:sym typeface="Arial"/>
              </a:rPr>
              <a:t>s.</a:t>
            </a:r>
            <a:endParaRPr>
              <a:solidFill>
                <a:srgbClr val="000000"/>
              </a:solidFill>
            </a:endParaRPr>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Shape 1076"/>
        <p:cNvGrpSpPr/>
        <p:nvPr/>
      </p:nvGrpSpPr>
      <p:grpSpPr>
        <a:xfrm>
          <a:off x="0" y="0"/>
          <a:ext cx="0" cy="0"/>
          <a:chOff x="0" y="0"/>
          <a:chExt cx="0" cy="0"/>
        </a:xfrm>
      </p:grpSpPr>
      <p:sp>
        <p:nvSpPr>
          <p:cNvPr id="1077" name="Google Shape;1077;p178"/>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finding the variance and std</a:t>
            </a:r>
            <a:endParaRPr/>
          </a:p>
        </p:txBody>
      </p:sp>
      <p:sp>
        <p:nvSpPr>
          <p:cNvPr id="1078" name="Google Shape;1078;p178"/>
          <p:cNvSpPr txBox="1">
            <a:spLocks noGrp="1"/>
          </p:cNvSpPr>
          <p:nvPr>
            <p:ph type="body" idx="1"/>
          </p:nvPr>
        </p:nvSpPr>
        <p:spPr>
          <a:xfrm>
            <a:off x="311700" y="1225225"/>
            <a:ext cx="8520600" cy="3868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de-CH" sz="1100" b="1">
                <a:solidFill>
                  <a:srgbClr val="FF8100"/>
                </a:solidFill>
                <a:highlight>
                  <a:srgbClr val="FFFFFF"/>
                </a:highlight>
                <a:latin typeface="Arial"/>
                <a:ea typeface="Arial"/>
                <a:cs typeface="Arial"/>
                <a:sym typeface="Arial"/>
              </a:rPr>
              <a:t>Dataset A</a:t>
            </a:r>
            <a:endParaRPr sz="1100" b="1">
              <a:solidFill>
                <a:srgbClr val="FF8100"/>
              </a:solidFill>
              <a:highlight>
                <a:srgbClr val="FFFFFF"/>
              </a:highlight>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de-CH" sz="1400">
                <a:solidFill>
                  <a:srgbClr val="000000"/>
                </a:solidFill>
                <a:highlight>
                  <a:srgbClr val="FFFFFF"/>
                </a:highlight>
                <a:latin typeface="Arial"/>
                <a:ea typeface="Arial"/>
                <a:cs typeface="Arial"/>
                <a:sym typeface="Arial"/>
              </a:rPr>
              <a:t>Calculate the population mean (</a:t>
            </a:r>
            <a:r>
              <a:rPr lang="de-CH" sz="1400" i="1">
                <a:solidFill>
                  <a:srgbClr val="000000"/>
                </a:solidFill>
                <a:highlight>
                  <a:srgbClr val="FFFFFF"/>
                </a:highlight>
                <a:latin typeface="Arial"/>
                <a:ea typeface="Arial"/>
                <a:cs typeface="Arial"/>
                <a:sym typeface="Arial"/>
              </a:rPr>
              <a:t>μ</a:t>
            </a:r>
            <a:r>
              <a:rPr lang="de-CH" sz="1400">
                <a:solidFill>
                  <a:srgbClr val="000000"/>
                </a:solidFill>
                <a:highlight>
                  <a:srgbClr val="FFFFFF"/>
                </a:highlight>
                <a:latin typeface="Arial"/>
                <a:ea typeface="Arial"/>
                <a:cs typeface="Arial"/>
                <a:sym typeface="Arial"/>
              </a:rPr>
              <a:t>) of Dataset A.</a:t>
            </a:r>
            <a:br>
              <a:rPr lang="de-CH" sz="1400">
                <a:solidFill>
                  <a:srgbClr val="000000"/>
                </a:solidFill>
                <a:highlight>
                  <a:srgbClr val="FFFFFF"/>
                </a:highlight>
                <a:latin typeface="Arial"/>
                <a:ea typeface="Arial"/>
                <a:cs typeface="Arial"/>
                <a:sym typeface="Arial"/>
              </a:rPr>
            </a:br>
            <a:r>
              <a:rPr lang="de-CH" sz="1400">
                <a:solidFill>
                  <a:srgbClr val="000000"/>
                </a:solidFill>
                <a:highlight>
                  <a:srgbClr val="FFFFFF"/>
                </a:highlight>
                <a:latin typeface="Arial"/>
                <a:ea typeface="Arial"/>
                <a:cs typeface="Arial"/>
                <a:sym typeface="Arial"/>
              </a:rPr>
              <a:t>(4 + 5 + 5 + 5 + 6 + 6 + 6 + 6 + 7 + 7 + 7 + 8) / 12</a:t>
            </a:r>
            <a:br>
              <a:rPr lang="de-CH" sz="1400">
                <a:solidFill>
                  <a:srgbClr val="000000"/>
                </a:solidFill>
                <a:highlight>
                  <a:srgbClr val="FFFFFF"/>
                </a:highlight>
                <a:latin typeface="Arial"/>
                <a:ea typeface="Arial"/>
                <a:cs typeface="Arial"/>
                <a:sym typeface="Arial"/>
              </a:rPr>
            </a:br>
            <a:r>
              <a:rPr lang="de-CH" sz="1400">
                <a:solidFill>
                  <a:srgbClr val="000000"/>
                </a:solidFill>
                <a:highlight>
                  <a:srgbClr val="FFFFFF"/>
                </a:highlight>
                <a:latin typeface="Arial"/>
                <a:ea typeface="Arial"/>
                <a:cs typeface="Arial"/>
                <a:sym typeface="Arial"/>
              </a:rPr>
              <a:t>mean (</a:t>
            </a:r>
            <a:r>
              <a:rPr lang="de-CH" sz="1400" i="1">
                <a:solidFill>
                  <a:srgbClr val="000000"/>
                </a:solidFill>
                <a:highlight>
                  <a:srgbClr val="FFFFFF"/>
                </a:highlight>
                <a:latin typeface="Arial"/>
                <a:ea typeface="Arial"/>
                <a:cs typeface="Arial"/>
                <a:sym typeface="Arial"/>
              </a:rPr>
              <a:t>μ</a:t>
            </a:r>
            <a:r>
              <a:rPr lang="de-CH" sz="1400">
                <a:solidFill>
                  <a:srgbClr val="000000"/>
                </a:solidFill>
                <a:highlight>
                  <a:srgbClr val="FFFFFF"/>
                </a:highlight>
                <a:latin typeface="Arial"/>
                <a:ea typeface="Arial"/>
                <a:cs typeface="Arial"/>
                <a:sym typeface="Arial"/>
              </a:rPr>
              <a:t>) = 6</a:t>
            </a:r>
            <a:endParaRPr sz="1400">
              <a:solidFill>
                <a:srgbClr val="000000"/>
              </a:solidFill>
              <a:highlight>
                <a:srgbClr val="FFFFFF"/>
              </a:highlight>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de-CH" sz="1400">
                <a:solidFill>
                  <a:srgbClr val="000000"/>
                </a:solidFill>
                <a:highlight>
                  <a:srgbClr val="FFFFFF"/>
                </a:highlight>
                <a:latin typeface="Arial"/>
                <a:ea typeface="Arial"/>
                <a:cs typeface="Arial"/>
                <a:sym typeface="Arial"/>
              </a:rPr>
              <a:t>Calculate the deviation of the individual values from the mean by subtracting the mean from each value in the dataset</a:t>
            </a:r>
            <a:br>
              <a:rPr lang="de-CH" sz="1400">
                <a:solidFill>
                  <a:srgbClr val="000000"/>
                </a:solidFill>
                <a:highlight>
                  <a:srgbClr val="FFFFFF"/>
                </a:highlight>
                <a:latin typeface="Arial"/>
                <a:ea typeface="Arial"/>
                <a:cs typeface="Arial"/>
                <a:sym typeface="Arial"/>
              </a:rPr>
            </a:br>
            <a:r>
              <a:rPr lang="de-CH" sz="1400">
                <a:solidFill>
                  <a:srgbClr val="FF0000"/>
                </a:solidFill>
                <a:highlight>
                  <a:srgbClr val="FFFFFF"/>
                </a:highlight>
                <a:latin typeface="Arial"/>
                <a:ea typeface="Arial"/>
                <a:cs typeface="Arial"/>
                <a:sym typeface="Arial"/>
              </a:rPr>
              <a:t> </a:t>
            </a:r>
            <a:r>
              <a:rPr lang="de-CH" sz="1400">
                <a:solidFill>
                  <a:srgbClr val="000000"/>
                </a:solidFill>
                <a:highlight>
                  <a:srgbClr val="FFFFFF"/>
                </a:highlight>
                <a:latin typeface="Arial"/>
                <a:ea typeface="Arial"/>
                <a:cs typeface="Arial"/>
                <a:sym typeface="Arial"/>
              </a:rPr>
              <a:t>=</a:t>
            </a:r>
            <a:r>
              <a:rPr lang="de-CH" sz="1400">
                <a:solidFill>
                  <a:srgbClr val="FF0000"/>
                </a:solidFill>
                <a:highlight>
                  <a:srgbClr val="FFFFFF"/>
                </a:highlight>
                <a:latin typeface="Arial"/>
                <a:ea typeface="Arial"/>
                <a:cs typeface="Arial"/>
                <a:sym typeface="Arial"/>
              </a:rPr>
              <a:t> </a:t>
            </a:r>
            <a:r>
              <a:rPr lang="de-CH" sz="1400">
                <a:solidFill>
                  <a:srgbClr val="000000"/>
                </a:solidFill>
                <a:highlight>
                  <a:srgbClr val="FFFFFF"/>
                </a:highlight>
                <a:latin typeface="Arial"/>
                <a:ea typeface="Arial"/>
                <a:cs typeface="Arial"/>
                <a:sym typeface="Arial"/>
              </a:rPr>
              <a:t>-2, -1, -1, -1, 0, 0, 0, 0, 1, 1, 1, 2</a:t>
            </a:r>
            <a:endParaRPr sz="1400">
              <a:solidFill>
                <a:srgbClr val="000000"/>
              </a:solidFill>
              <a:highlight>
                <a:srgbClr val="FFFFFF"/>
              </a:highlight>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de-CH" sz="1400">
                <a:solidFill>
                  <a:srgbClr val="000000"/>
                </a:solidFill>
                <a:highlight>
                  <a:srgbClr val="FFFFFF"/>
                </a:highlight>
                <a:latin typeface="Arial"/>
                <a:ea typeface="Arial"/>
                <a:cs typeface="Arial"/>
                <a:sym typeface="Arial"/>
              </a:rPr>
              <a:t>Square each individual deviation value</a:t>
            </a:r>
            <a:br>
              <a:rPr lang="de-CH" sz="1400">
                <a:solidFill>
                  <a:srgbClr val="000000"/>
                </a:solidFill>
                <a:highlight>
                  <a:srgbClr val="FFFFFF"/>
                </a:highlight>
                <a:latin typeface="Arial"/>
                <a:ea typeface="Arial"/>
                <a:cs typeface="Arial"/>
                <a:sym typeface="Arial"/>
              </a:rPr>
            </a:br>
            <a:r>
              <a:rPr lang="de-CH" sz="1400">
                <a:solidFill>
                  <a:srgbClr val="000000"/>
                </a:solidFill>
                <a:highlight>
                  <a:srgbClr val="FFFFFF"/>
                </a:highlight>
                <a:latin typeface="Arial"/>
                <a:ea typeface="Arial"/>
                <a:cs typeface="Arial"/>
                <a:sym typeface="Arial"/>
              </a:rPr>
              <a:t>= 4, 1, 1, 1, 0, 0, 0, 0, 1,1,1, 4</a:t>
            </a:r>
            <a:br>
              <a:rPr lang="de-CH" sz="1400">
                <a:solidFill>
                  <a:srgbClr val="000000"/>
                </a:solidFill>
                <a:highlight>
                  <a:srgbClr val="FFFFFF"/>
                </a:highlight>
                <a:latin typeface="Arial"/>
                <a:ea typeface="Arial"/>
                <a:cs typeface="Arial"/>
                <a:sym typeface="Arial"/>
              </a:rPr>
            </a:br>
            <a:r>
              <a:rPr lang="de-CH" sz="1400">
                <a:solidFill>
                  <a:srgbClr val="000000"/>
                </a:solidFill>
                <a:highlight>
                  <a:srgbClr val="FFFFFF"/>
                </a:highlight>
                <a:latin typeface="Arial"/>
                <a:ea typeface="Arial"/>
                <a:cs typeface="Arial"/>
                <a:sym typeface="Arial"/>
              </a:rPr>
              <a:t>Calculate the mean of the squared deviation values</a:t>
            </a:r>
            <a:br>
              <a:rPr lang="de-CH" sz="1400">
                <a:solidFill>
                  <a:srgbClr val="000000"/>
                </a:solidFill>
                <a:highlight>
                  <a:srgbClr val="FFFFFF"/>
                </a:highlight>
                <a:latin typeface="Arial"/>
                <a:ea typeface="Arial"/>
                <a:cs typeface="Arial"/>
                <a:sym typeface="Arial"/>
              </a:rPr>
            </a:br>
            <a:r>
              <a:rPr lang="de-CH" sz="1400">
                <a:solidFill>
                  <a:srgbClr val="000000"/>
                </a:solidFill>
                <a:highlight>
                  <a:srgbClr val="FFFFFF"/>
                </a:highlight>
                <a:latin typeface="Arial"/>
                <a:ea typeface="Arial"/>
                <a:cs typeface="Arial"/>
                <a:sym typeface="Arial"/>
              </a:rPr>
              <a:t> =(4 + 1 +1 +1 + 0 + 0 + 0 + 0 +1 +1 +1 + 4) / 12</a:t>
            </a:r>
            <a:br>
              <a:rPr lang="de-CH" sz="1400">
                <a:solidFill>
                  <a:srgbClr val="000000"/>
                </a:solidFill>
                <a:highlight>
                  <a:srgbClr val="FFFFFF"/>
                </a:highlight>
                <a:latin typeface="Arial"/>
                <a:ea typeface="Arial"/>
                <a:cs typeface="Arial"/>
                <a:sym typeface="Arial"/>
              </a:rPr>
            </a:br>
            <a:r>
              <a:rPr lang="de-CH" sz="1400" b="1">
                <a:solidFill>
                  <a:srgbClr val="000000"/>
                </a:solidFill>
                <a:highlight>
                  <a:srgbClr val="FFFFFF"/>
                </a:highlight>
                <a:latin typeface="Arial"/>
                <a:ea typeface="Arial"/>
                <a:cs typeface="Arial"/>
                <a:sym typeface="Arial"/>
              </a:rPr>
              <a:t>Variance </a:t>
            </a:r>
            <a:r>
              <a:rPr lang="de-CH" sz="1400" i="1">
                <a:solidFill>
                  <a:srgbClr val="000000"/>
                </a:solidFill>
                <a:highlight>
                  <a:srgbClr val="FFFFFF"/>
                </a:highlight>
                <a:latin typeface="Arial"/>
                <a:ea typeface="Arial"/>
                <a:cs typeface="Arial"/>
                <a:sym typeface="Arial"/>
              </a:rPr>
              <a:t>σ</a:t>
            </a:r>
            <a:r>
              <a:rPr lang="de-CH" sz="1400" baseline="30000">
                <a:solidFill>
                  <a:srgbClr val="000000"/>
                </a:solidFill>
                <a:highlight>
                  <a:srgbClr val="FFFFFF"/>
                </a:highlight>
                <a:latin typeface="Arial"/>
                <a:ea typeface="Arial"/>
                <a:cs typeface="Arial"/>
                <a:sym typeface="Arial"/>
              </a:rPr>
              <a:t>2</a:t>
            </a:r>
            <a:r>
              <a:rPr lang="de-CH" sz="1400" b="1">
                <a:solidFill>
                  <a:srgbClr val="000000"/>
                </a:solidFill>
                <a:highlight>
                  <a:srgbClr val="FFFFFF"/>
                </a:highlight>
                <a:latin typeface="Arial"/>
                <a:ea typeface="Arial"/>
                <a:cs typeface="Arial"/>
                <a:sym typeface="Arial"/>
              </a:rPr>
              <a:t>= 1.17</a:t>
            </a:r>
            <a:endParaRPr sz="1400">
              <a:solidFill>
                <a:srgbClr val="000000"/>
              </a:solidFill>
              <a:highlight>
                <a:srgbClr val="FFFFFF"/>
              </a:highlight>
              <a:latin typeface="Arial"/>
              <a:ea typeface="Arial"/>
              <a:cs typeface="Arial"/>
              <a:sym typeface="Arial"/>
            </a:endParaRPr>
          </a:p>
          <a:p>
            <a:pPr marL="457200" lvl="0" indent="-317500" algn="l" rtl="0">
              <a:spcBef>
                <a:spcPts val="0"/>
              </a:spcBef>
              <a:spcAft>
                <a:spcPts val="0"/>
              </a:spcAft>
              <a:buClr>
                <a:srgbClr val="000000"/>
              </a:buClr>
              <a:buSzPts val="1400"/>
              <a:buFont typeface="Arial"/>
              <a:buChar char="●"/>
            </a:pPr>
            <a:r>
              <a:rPr lang="de-CH" sz="1400">
                <a:solidFill>
                  <a:srgbClr val="000000"/>
                </a:solidFill>
                <a:highlight>
                  <a:srgbClr val="FFFFFF"/>
                </a:highlight>
                <a:latin typeface="Arial"/>
                <a:ea typeface="Arial"/>
                <a:cs typeface="Arial"/>
                <a:sym typeface="Arial"/>
              </a:rPr>
              <a:t>Calculate the square root of the variance</a:t>
            </a:r>
            <a:endParaRPr sz="1400">
              <a:solidFill>
                <a:srgbClr val="000000"/>
              </a:solidFill>
              <a:highlight>
                <a:srgbClr val="FFFFFF"/>
              </a:highlight>
              <a:latin typeface="Arial"/>
              <a:ea typeface="Arial"/>
              <a:cs typeface="Arial"/>
              <a:sym typeface="Arial"/>
            </a:endParaRPr>
          </a:p>
          <a:p>
            <a:pPr marL="457200" lvl="0" indent="0" algn="l" rtl="0">
              <a:lnSpc>
                <a:spcPct val="100000"/>
              </a:lnSpc>
              <a:spcBef>
                <a:spcPts val="0"/>
              </a:spcBef>
              <a:spcAft>
                <a:spcPts val="0"/>
              </a:spcAft>
              <a:buNone/>
            </a:pPr>
            <a:r>
              <a:rPr lang="de-CH" sz="1400" b="1">
                <a:solidFill>
                  <a:srgbClr val="000000"/>
                </a:solidFill>
                <a:highlight>
                  <a:srgbClr val="FFFFFF"/>
                </a:highlight>
                <a:latin typeface="Arial"/>
                <a:ea typeface="Arial"/>
                <a:cs typeface="Arial"/>
                <a:sym typeface="Arial"/>
              </a:rPr>
              <a:t>Standard deviation </a:t>
            </a:r>
            <a:r>
              <a:rPr lang="de-CH" sz="1400" i="1">
                <a:solidFill>
                  <a:srgbClr val="000000"/>
                </a:solidFill>
                <a:highlight>
                  <a:srgbClr val="FFFFFF"/>
                </a:highlight>
                <a:latin typeface="Arial"/>
                <a:ea typeface="Arial"/>
                <a:cs typeface="Arial"/>
                <a:sym typeface="Arial"/>
              </a:rPr>
              <a:t>σ</a:t>
            </a:r>
            <a:r>
              <a:rPr lang="de-CH" sz="1400" b="1" i="1">
                <a:solidFill>
                  <a:srgbClr val="000000"/>
                </a:solidFill>
                <a:highlight>
                  <a:srgbClr val="FFFFFF"/>
                </a:highlight>
                <a:latin typeface="Arial"/>
                <a:ea typeface="Arial"/>
                <a:cs typeface="Arial"/>
                <a:sym typeface="Arial"/>
              </a:rPr>
              <a:t> </a:t>
            </a:r>
            <a:r>
              <a:rPr lang="de-CH" sz="1400" b="1">
                <a:solidFill>
                  <a:srgbClr val="000000"/>
                </a:solidFill>
                <a:highlight>
                  <a:srgbClr val="FFFFFF"/>
                </a:highlight>
                <a:latin typeface="Arial"/>
                <a:ea typeface="Arial"/>
                <a:cs typeface="Arial"/>
                <a:sym typeface="Arial"/>
              </a:rPr>
              <a:t>= 1.08</a:t>
            </a:r>
            <a:endParaRPr sz="140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Shape 1082"/>
        <p:cNvGrpSpPr/>
        <p:nvPr/>
      </p:nvGrpSpPr>
      <p:grpSpPr>
        <a:xfrm>
          <a:off x="0" y="0"/>
          <a:ext cx="0" cy="0"/>
          <a:chOff x="0" y="0"/>
          <a:chExt cx="0" cy="0"/>
        </a:xfrm>
      </p:grpSpPr>
      <p:sp>
        <p:nvSpPr>
          <p:cNvPr id="1083" name="Google Shape;1083;p179"/>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084" name="Google Shape;1084;p179"/>
          <p:cNvSpPr txBox="1">
            <a:spLocks noGrp="1"/>
          </p:cNvSpPr>
          <p:nvPr>
            <p:ph type="body" idx="1"/>
          </p:nvPr>
        </p:nvSpPr>
        <p:spPr>
          <a:xfrm>
            <a:off x="311700" y="1225225"/>
            <a:ext cx="8520600" cy="39783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a:solidFill>
                  <a:srgbClr val="000000"/>
                </a:solidFill>
                <a:latin typeface="Spectral"/>
                <a:ea typeface="Spectral"/>
                <a:cs typeface="Spectral"/>
                <a:sym typeface="Spectral"/>
              </a:rPr>
              <a:t>Variance</a:t>
            </a:r>
            <a:endParaRPr b="1">
              <a:solidFill>
                <a:srgbClr val="000000"/>
              </a:solidFill>
              <a:latin typeface="Spectral"/>
              <a:ea typeface="Spectral"/>
              <a:cs typeface="Spectral"/>
              <a:sym typeface="Spectral"/>
            </a:endParaRPr>
          </a:p>
          <a:p>
            <a:pPr marL="0" lvl="0" indent="0" algn="l" rtl="0">
              <a:spcBef>
                <a:spcPts val="1600"/>
              </a:spcBef>
              <a:spcAft>
                <a:spcPts val="0"/>
              </a:spcAft>
              <a:buNone/>
            </a:pPr>
            <a:r>
              <a:rPr lang="de-CH">
                <a:solidFill>
                  <a:srgbClr val="0000FF"/>
                </a:solidFill>
                <a:latin typeface="Spectral"/>
                <a:ea typeface="Spectral"/>
                <a:cs typeface="Spectral"/>
                <a:sym typeface="Spectral"/>
              </a:rPr>
              <a:t>data=np.array([4, 5, 5, 5, 6, 6, 6, 6, 7, 7, 7, 8])</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np.var(data)</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sample=np.random.choice(data,5)</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np.var(sample)</a:t>
            </a:r>
            <a:endParaRPr>
              <a:solidFill>
                <a:srgbClr val="0000FF"/>
              </a:solidFill>
              <a:latin typeface="Spectral"/>
              <a:ea typeface="Spectral"/>
              <a:cs typeface="Spectral"/>
              <a:sym typeface="Spectral"/>
            </a:endParaRPr>
          </a:p>
          <a:p>
            <a:pPr marL="0" lvl="0" indent="0" algn="l" rtl="0">
              <a:spcBef>
                <a:spcPts val="1600"/>
              </a:spcBef>
              <a:spcAft>
                <a:spcPts val="0"/>
              </a:spcAft>
              <a:buNone/>
            </a:pPr>
            <a:r>
              <a:rPr lang="de-CH" b="1">
                <a:solidFill>
                  <a:srgbClr val="000000"/>
                </a:solidFill>
                <a:latin typeface="Spectral"/>
                <a:ea typeface="Spectral"/>
                <a:cs typeface="Spectral"/>
                <a:sym typeface="Spectral"/>
              </a:rPr>
              <a:t>Standard Deviation</a:t>
            </a:r>
            <a:endParaRPr b="1">
              <a:solidFill>
                <a:srgbClr val="000000"/>
              </a:solidFill>
              <a:latin typeface="Spectral"/>
              <a:ea typeface="Spectral"/>
              <a:cs typeface="Spectral"/>
              <a:sym typeface="Spectral"/>
            </a:endParaRPr>
          </a:p>
          <a:p>
            <a:pPr marL="0" lvl="0" indent="0" algn="l" rtl="0">
              <a:spcBef>
                <a:spcPts val="1600"/>
              </a:spcBef>
              <a:spcAft>
                <a:spcPts val="0"/>
              </a:spcAft>
              <a:buNone/>
            </a:pPr>
            <a:r>
              <a:rPr lang="de-CH">
                <a:solidFill>
                  <a:srgbClr val="0000FF"/>
                </a:solidFill>
                <a:latin typeface="Spectral"/>
                <a:ea typeface="Spectral"/>
                <a:cs typeface="Spectral"/>
                <a:sym typeface="Spectral"/>
              </a:rPr>
              <a:t>np.std(data)</a:t>
            </a:r>
            <a:br>
              <a:rPr lang="de-CH">
                <a:solidFill>
                  <a:srgbClr val="0000FF"/>
                </a:solidFill>
                <a:latin typeface="Spectral"/>
                <a:ea typeface="Spectral"/>
                <a:cs typeface="Spectral"/>
                <a:sym typeface="Spectral"/>
              </a:rPr>
            </a:br>
            <a:r>
              <a:rPr lang="de-CH">
                <a:solidFill>
                  <a:srgbClr val="0000FF"/>
                </a:solidFill>
                <a:latin typeface="Spectral"/>
                <a:ea typeface="Spectral"/>
                <a:cs typeface="Spectral"/>
                <a:sym typeface="Spectral"/>
              </a:rPr>
              <a:t>np.std(sample)</a:t>
            </a:r>
            <a:endParaRPr>
              <a:solidFill>
                <a:srgbClr val="0000FF"/>
              </a:solidFill>
              <a:latin typeface="Spectral"/>
              <a:ea typeface="Spectral"/>
              <a:cs typeface="Spectral"/>
              <a:sym typeface="Spectral"/>
            </a:endParaRPr>
          </a:p>
          <a:p>
            <a:pPr marL="0" lvl="0" indent="0" algn="l" rtl="0">
              <a:spcBef>
                <a:spcPts val="1600"/>
              </a:spcBef>
              <a:spcAft>
                <a:spcPts val="0"/>
              </a:spcAft>
              <a:buNone/>
            </a:pPr>
            <a:endParaRPr b="1">
              <a:solidFill>
                <a:srgbClr val="000000"/>
              </a:solidFill>
              <a:latin typeface="Spectral"/>
              <a:ea typeface="Spectral"/>
              <a:cs typeface="Spectral"/>
              <a:sym typeface="Spectral"/>
            </a:endParaRPr>
          </a:p>
          <a:p>
            <a:pPr marL="0" lvl="0" indent="0" algn="l" rtl="0">
              <a:spcBef>
                <a:spcPts val="1600"/>
              </a:spcBef>
              <a:spcAft>
                <a:spcPts val="0"/>
              </a:spcAft>
              <a:buNone/>
            </a:pPr>
            <a:endParaRPr b="1">
              <a:solidFill>
                <a:srgbClr val="000000"/>
              </a:solidFill>
              <a:latin typeface="Spectral"/>
              <a:ea typeface="Spectral"/>
              <a:cs typeface="Spectral"/>
              <a:sym typeface="Spectral"/>
            </a:endParaRPr>
          </a:p>
          <a:p>
            <a:pPr marL="0" lvl="0" indent="0" algn="l" rtl="0">
              <a:spcBef>
                <a:spcPts val="1600"/>
              </a:spcBef>
              <a:spcAft>
                <a:spcPts val="0"/>
              </a:spcAft>
              <a:buClr>
                <a:schemeClr val="dk1"/>
              </a:buClr>
              <a:buSzPts val="1100"/>
              <a:buFont typeface="Arial"/>
              <a:buNone/>
            </a:pPr>
            <a:endParaRPr>
              <a:solidFill>
                <a:srgbClr val="0000FF"/>
              </a:solidFill>
              <a:latin typeface="Spectral"/>
              <a:ea typeface="Spectral"/>
              <a:cs typeface="Spectral"/>
              <a:sym typeface="Spectral"/>
            </a:endParaRPr>
          </a:p>
          <a:p>
            <a:pPr marL="0" lvl="0" indent="0" algn="l" rtl="0">
              <a:spcBef>
                <a:spcPts val="1600"/>
              </a:spcBef>
              <a:spcAft>
                <a:spcPts val="1600"/>
              </a:spcAft>
              <a:buNone/>
            </a:pPr>
            <a:endParaRPr/>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Shape 1088"/>
        <p:cNvGrpSpPr/>
        <p:nvPr/>
      </p:nvGrpSpPr>
      <p:grpSpPr>
        <a:xfrm>
          <a:off x="0" y="0"/>
          <a:ext cx="0" cy="0"/>
          <a:chOff x="0" y="0"/>
          <a:chExt cx="0" cy="0"/>
        </a:xfrm>
      </p:grpSpPr>
      <p:sp>
        <p:nvSpPr>
          <p:cNvPr id="1089" name="Google Shape;1089;p180"/>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SKEWNESS</a:t>
            </a:r>
            <a:endParaRPr/>
          </a:p>
        </p:txBody>
      </p:sp>
      <p:sp>
        <p:nvSpPr>
          <p:cNvPr id="1090" name="Google Shape;1090;p180"/>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30200" algn="l" rtl="0">
              <a:spcBef>
                <a:spcPts val="300"/>
              </a:spcBef>
              <a:spcAft>
                <a:spcPts val="0"/>
              </a:spcAft>
              <a:buSzPts val="1600"/>
              <a:buChar char="●"/>
            </a:pPr>
            <a:r>
              <a:rPr lang="de-CH" sz="1600"/>
              <a:t>It defines the asymmetry of a distribution</a:t>
            </a:r>
            <a:endParaRPr sz="1600"/>
          </a:p>
          <a:p>
            <a:pPr marL="0" lvl="0" indent="0" algn="l" rtl="0">
              <a:spcBef>
                <a:spcPts val="300"/>
              </a:spcBef>
              <a:spcAft>
                <a:spcPts val="0"/>
              </a:spcAft>
              <a:buNone/>
            </a:pPr>
            <a:endParaRPr sz="1600"/>
          </a:p>
          <a:p>
            <a:pPr marL="0" lvl="0" indent="0" algn="l" rtl="0">
              <a:spcBef>
                <a:spcPts val="300"/>
              </a:spcBef>
              <a:spcAft>
                <a:spcPts val="0"/>
              </a:spcAft>
              <a:buNone/>
            </a:pPr>
            <a:endParaRPr sz="1600"/>
          </a:p>
          <a:p>
            <a:pPr marL="0" lvl="0" indent="0" algn="l" rtl="0">
              <a:spcBef>
                <a:spcPts val="300"/>
              </a:spcBef>
              <a:spcAft>
                <a:spcPts val="0"/>
              </a:spcAft>
              <a:buNone/>
            </a:pPr>
            <a:endParaRPr sz="1600"/>
          </a:p>
          <a:p>
            <a:pPr marL="0" lvl="0" indent="0" algn="l" rtl="0">
              <a:spcBef>
                <a:spcPts val="300"/>
              </a:spcBef>
              <a:spcAft>
                <a:spcPts val="0"/>
              </a:spcAft>
              <a:buNone/>
            </a:pPr>
            <a:endParaRPr sz="1600"/>
          </a:p>
          <a:p>
            <a:pPr marL="0" lvl="0" indent="0" algn="l" rtl="0">
              <a:spcBef>
                <a:spcPts val="300"/>
              </a:spcBef>
              <a:spcAft>
                <a:spcPts val="0"/>
              </a:spcAft>
              <a:buNone/>
            </a:pPr>
            <a:endParaRPr sz="1600"/>
          </a:p>
          <a:p>
            <a:pPr marL="0" lvl="0" indent="0" algn="l" rtl="0">
              <a:spcBef>
                <a:spcPts val="300"/>
              </a:spcBef>
              <a:spcAft>
                <a:spcPts val="0"/>
              </a:spcAft>
              <a:buNone/>
            </a:pPr>
            <a:endParaRPr sz="1600"/>
          </a:p>
          <a:p>
            <a:pPr marL="457200" lvl="0" indent="-330200" algn="l" rtl="0">
              <a:lnSpc>
                <a:spcPct val="110000"/>
              </a:lnSpc>
              <a:spcBef>
                <a:spcPts val="300"/>
              </a:spcBef>
              <a:spcAft>
                <a:spcPts val="0"/>
              </a:spcAft>
              <a:buSzPts val="1600"/>
              <a:buChar char="●"/>
            </a:pPr>
            <a:r>
              <a:rPr lang="de-CH" sz="1600"/>
              <a:t>Right skewed distributions are also  said to be positively skewed. This occurs because probabilities taper off more slowly for higher values. Thus, the extreme values are found far from the peak on the high end more frequently than on the low.</a:t>
            </a:r>
            <a:endParaRPr sz="1600"/>
          </a:p>
          <a:p>
            <a:pPr marL="0" lvl="0" indent="0" algn="l" rtl="0">
              <a:spcBef>
                <a:spcPts val="300"/>
              </a:spcBef>
              <a:spcAft>
                <a:spcPts val="0"/>
              </a:spcAft>
              <a:buNone/>
            </a:pPr>
            <a:endParaRPr sz="1600"/>
          </a:p>
          <a:p>
            <a:pPr marL="0" lvl="0" indent="0" algn="l" rtl="0">
              <a:spcBef>
                <a:spcPts val="0"/>
              </a:spcBef>
              <a:spcAft>
                <a:spcPts val="1600"/>
              </a:spcAft>
              <a:buNone/>
            </a:pPr>
            <a:endParaRPr/>
          </a:p>
        </p:txBody>
      </p:sp>
      <p:pic>
        <p:nvPicPr>
          <p:cNvPr id="1091" name="Google Shape;1091;p180"/>
          <p:cNvPicPr preferRelativeResize="0"/>
          <p:nvPr/>
        </p:nvPicPr>
        <p:blipFill>
          <a:blip r:embed="rId3">
            <a:alphaModFix/>
          </a:blip>
          <a:stretch>
            <a:fillRect/>
          </a:stretch>
        </p:blipFill>
        <p:spPr>
          <a:xfrm>
            <a:off x="1607350" y="1670300"/>
            <a:ext cx="5043050" cy="1637550"/>
          </a:xfrm>
          <a:prstGeom prst="rect">
            <a:avLst/>
          </a:prstGeom>
          <a:noFill/>
          <a:ln>
            <a:noFill/>
          </a:ln>
        </p:spPr>
      </p:pic>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Shape 1095"/>
        <p:cNvGrpSpPr/>
        <p:nvPr/>
      </p:nvGrpSpPr>
      <p:grpSpPr>
        <a:xfrm>
          <a:off x="0" y="0"/>
          <a:ext cx="0" cy="0"/>
          <a:chOff x="0" y="0"/>
          <a:chExt cx="0" cy="0"/>
        </a:xfrm>
      </p:grpSpPr>
      <p:sp>
        <p:nvSpPr>
          <p:cNvPr id="1096" name="Google Shape;1096;p181"/>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097" name="Google Shape;1097;p181"/>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30200" algn="l" rtl="0">
              <a:lnSpc>
                <a:spcPct val="110000"/>
              </a:lnSpc>
              <a:spcBef>
                <a:spcPts val="300"/>
              </a:spcBef>
              <a:spcAft>
                <a:spcPts val="0"/>
              </a:spcAft>
              <a:buSzPts val="1600"/>
              <a:buChar char="●"/>
            </a:pPr>
            <a:r>
              <a:rPr lang="de-CH" sz="1600"/>
              <a:t>Left skewed distributions are also said to be negatively skewed. This condition occurs because probabilities taper off more slowly for lower values. Thus, the extreme values are found far from the peak on the low side more frequently than the high side.</a:t>
            </a:r>
            <a:endParaRPr sz="1600"/>
          </a:p>
          <a:p>
            <a:pPr marL="457200" lvl="0" indent="-330200" algn="l" rtl="0">
              <a:lnSpc>
                <a:spcPct val="110000"/>
              </a:lnSpc>
              <a:spcBef>
                <a:spcPts val="0"/>
              </a:spcBef>
              <a:spcAft>
                <a:spcPts val="0"/>
              </a:spcAft>
              <a:buSzPts val="1600"/>
              <a:buChar char="●"/>
            </a:pPr>
            <a:r>
              <a:rPr lang="de-CH" sz="1600"/>
              <a:t>The long tail is the place where we find majority of the exceptional values.</a:t>
            </a:r>
            <a:endParaRPr sz="1600"/>
          </a:p>
          <a:p>
            <a:pPr marL="0" lvl="0" indent="0" algn="l" rtl="0">
              <a:spcBef>
                <a:spcPts val="0"/>
              </a:spcBef>
              <a:spcAft>
                <a:spcPts val="1600"/>
              </a:spcAft>
              <a:buNone/>
            </a:pPr>
            <a:endParaRPr sz="160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Shape 1101"/>
        <p:cNvGrpSpPr/>
        <p:nvPr/>
      </p:nvGrpSpPr>
      <p:grpSpPr>
        <a:xfrm>
          <a:off x="0" y="0"/>
          <a:ext cx="0" cy="0"/>
          <a:chOff x="0" y="0"/>
          <a:chExt cx="0" cy="0"/>
        </a:xfrm>
      </p:grpSpPr>
      <p:sp>
        <p:nvSpPr>
          <p:cNvPr id="1102" name="Google Shape;1102;p182"/>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KURTOSIS</a:t>
            </a:r>
            <a:endParaRPr/>
          </a:p>
        </p:txBody>
      </p:sp>
      <p:sp>
        <p:nvSpPr>
          <p:cNvPr id="1103" name="Google Shape;1103;p182"/>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30200" algn="l" rtl="0">
              <a:lnSpc>
                <a:spcPct val="110000"/>
              </a:lnSpc>
              <a:spcBef>
                <a:spcPts val="300"/>
              </a:spcBef>
              <a:spcAft>
                <a:spcPts val="0"/>
              </a:spcAft>
              <a:buSzPts val="1600"/>
              <a:buChar char="●"/>
            </a:pPr>
            <a:r>
              <a:rPr lang="de-CH" sz="1600" dirty="0"/>
              <a:t>Kurtosis is the measure of skewness of  a distribution. Kurtosis measures extreme values in either tail.</a:t>
            </a:r>
            <a:endParaRPr sz="1600" dirty="0"/>
          </a:p>
          <a:p>
            <a:pPr marL="457200" lvl="0" indent="-330200" algn="l" rtl="0">
              <a:lnSpc>
                <a:spcPct val="110000"/>
              </a:lnSpc>
              <a:spcBef>
                <a:spcPts val="0"/>
              </a:spcBef>
              <a:spcAft>
                <a:spcPts val="0"/>
              </a:spcAft>
              <a:buSzPts val="1600"/>
              <a:buChar char="●"/>
            </a:pPr>
            <a:r>
              <a:rPr lang="de-CH" sz="1600" dirty="0"/>
              <a:t>Distributions with large kurtosis exhibit tail data exceeding the tails of the normal distribution.</a:t>
            </a:r>
            <a:endParaRPr sz="1600" dirty="0"/>
          </a:p>
          <a:p>
            <a:pPr marL="457200" lvl="0" indent="-330200" algn="l" rtl="0">
              <a:lnSpc>
                <a:spcPct val="110000"/>
              </a:lnSpc>
              <a:spcBef>
                <a:spcPts val="0"/>
              </a:spcBef>
              <a:spcAft>
                <a:spcPts val="0"/>
              </a:spcAft>
              <a:buSzPts val="1600"/>
              <a:buChar char="●"/>
            </a:pPr>
            <a:r>
              <a:rPr lang="de-CH" sz="1600" dirty="0"/>
              <a:t>Distributions with low kurtosis exhibit tail data that are generally less extreme than the tails of the normal distribution.</a:t>
            </a:r>
            <a:endParaRPr sz="1600" dirty="0"/>
          </a:p>
          <a:p>
            <a:pPr marL="457200" lvl="0" indent="0" algn="l" rtl="0">
              <a:spcBef>
                <a:spcPts val="0"/>
              </a:spcBef>
              <a:spcAft>
                <a:spcPts val="1600"/>
              </a:spcAft>
              <a:buNone/>
            </a:pPr>
            <a:endParaRPr sz="1600" dirty="0"/>
          </a:p>
        </p:txBody>
      </p:sp>
      <p:pic>
        <p:nvPicPr>
          <p:cNvPr id="4" name="Content Placeholder 3">
            <a:extLst>
              <a:ext uri="{FF2B5EF4-FFF2-40B4-BE49-F238E27FC236}">
                <a16:creationId xmlns:a16="http://schemas.microsoft.com/office/drawing/2014/main" id="{191FFC6F-F05F-407B-93C7-AB9AA5FFB0FB}"/>
              </a:ext>
            </a:extLst>
          </p:cNvPr>
          <p:cNvPicPr>
            <a:picLocks noGrp="1" noChangeAspect="1"/>
          </p:cNvPicPr>
          <p:nvPr/>
        </p:nvPicPr>
        <p:blipFill>
          <a:blip r:embed="rId3"/>
          <a:stretch>
            <a:fillRect/>
          </a:stretch>
        </p:blipFill>
        <p:spPr>
          <a:xfrm>
            <a:off x="3794760" y="2991387"/>
            <a:ext cx="3840480" cy="1836188"/>
          </a:xfrm>
          <a:prstGeom prst="rect">
            <a:avLst/>
          </a:prstGeom>
        </p:spPr>
      </p:pic>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p183"/>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Clr>
                <a:schemeClr val="dk1"/>
              </a:buClr>
              <a:buSzPts val="1100"/>
              <a:buFont typeface="Arial"/>
              <a:buNone/>
            </a:pPr>
            <a:r>
              <a:rPr lang="de-CH"/>
              <a:t>TOOLS FOR INFERENTIAL STATISTIC ANALYSIS</a:t>
            </a:r>
            <a:endParaRPr/>
          </a:p>
        </p:txBody>
      </p:sp>
      <p:sp>
        <p:nvSpPr>
          <p:cNvPr id="1109" name="Google Shape;1109;p183"/>
          <p:cNvSpPr txBox="1">
            <a:spLocks noGrp="1"/>
          </p:cNvSpPr>
          <p:nvPr>
            <p:ph type="body" idx="1"/>
          </p:nvPr>
        </p:nvSpPr>
        <p:spPr>
          <a:xfrm>
            <a:off x="311700" y="1225224"/>
            <a:ext cx="8520600" cy="3537275"/>
          </a:xfrm>
          <a:prstGeom prst="rect">
            <a:avLst/>
          </a:prstGeom>
        </p:spPr>
        <p:txBody>
          <a:bodyPr spcFirstLastPara="1" wrap="square" lIns="91425" tIns="91425" rIns="91425" bIns="91425" anchor="t" anchorCtr="0">
            <a:noAutofit/>
          </a:bodyPr>
          <a:lstStyle/>
          <a:p>
            <a:pPr marL="457200" lvl="0" indent="-330200" algn="l" rtl="0">
              <a:spcBef>
                <a:spcPts val="300"/>
              </a:spcBef>
              <a:spcAft>
                <a:spcPts val="0"/>
              </a:spcAft>
              <a:buSzPts val="1600"/>
              <a:buChar char="●"/>
            </a:pPr>
            <a:r>
              <a:rPr lang="de-CH" sz="1600" dirty="0"/>
              <a:t>Inferential statistics takes data from a sample and makes inferences about the larger population from which the sample was drawn.		</a:t>
            </a:r>
            <a:endParaRPr sz="1600" dirty="0"/>
          </a:p>
          <a:p>
            <a:pPr marL="457200" lvl="0" indent="-330200" algn="l" rtl="0">
              <a:spcBef>
                <a:spcPts val="0"/>
              </a:spcBef>
              <a:spcAft>
                <a:spcPts val="0"/>
              </a:spcAft>
              <a:buSzPts val="1600"/>
              <a:buChar char="●"/>
            </a:pPr>
            <a:r>
              <a:rPr lang="de-CH" sz="1600" dirty="0"/>
              <a:t>The goal of inferential statistics is to draw conclusions from a sample and generalize them to a population.</a:t>
            </a:r>
            <a:endParaRPr sz="1600" dirty="0"/>
          </a:p>
          <a:p>
            <a:pPr marL="457200" lvl="0" indent="-330200" algn="l" rtl="0">
              <a:spcBef>
                <a:spcPts val="0"/>
              </a:spcBef>
              <a:spcAft>
                <a:spcPts val="0"/>
              </a:spcAft>
              <a:buSzPts val="1600"/>
              <a:buChar char="●"/>
            </a:pPr>
            <a:r>
              <a:rPr lang="de-CH" sz="1600" dirty="0"/>
              <a:t>Thus we need to have confidence that our sample accurately reflects the population. </a:t>
            </a:r>
            <a:endParaRPr sz="1600" dirty="0"/>
          </a:p>
          <a:p>
            <a:pPr marL="457200" lvl="0" indent="-330200" algn="l" rtl="0">
              <a:spcBef>
                <a:spcPts val="0"/>
              </a:spcBef>
              <a:spcAft>
                <a:spcPts val="0"/>
              </a:spcAft>
              <a:buSzPts val="1600"/>
              <a:buChar char="●"/>
            </a:pPr>
            <a:r>
              <a:rPr lang="de-CH" sz="1600" dirty="0"/>
              <a:t>Different sampling techniques can be used to select the appropriate group to represent the population aptly.</a:t>
            </a:r>
            <a:endParaRPr sz="1600" dirty="0"/>
          </a:p>
          <a:p>
            <a:pPr marL="457200" lvl="0" indent="-330200" algn="l" rtl="0">
              <a:spcBef>
                <a:spcPts val="0"/>
              </a:spcBef>
              <a:spcAft>
                <a:spcPts val="0"/>
              </a:spcAft>
              <a:buSzPts val="1600"/>
              <a:buChar char="●"/>
            </a:pPr>
            <a:r>
              <a:rPr lang="de-CH" sz="1600" dirty="0"/>
              <a:t>Common inferential statistical tools are:</a:t>
            </a:r>
            <a:endParaRPr sz="1600" dirty="0"/>
          </a:p>
          <a:p>
            <a:pPr marL="914400" lvl="0" indent="-330200" algn="l" rtl="0">
              <a:spcBef>
                <a:spcPts val="0"/>
              </a:spcBef>
              <a:spcAft>
                <a:spcPts val="0"/>
              </a:spcAft>
              <a:buSzPts val="1600"/>
              <a:buAutoNum type="arabicPeriod"/>
            </a:pPr>
            <a:r>
              <a:rPr lang="de-CH" sz="1600" dirty="0"/>
              <a:t>CONFIDENCE INTERVAL</a:t>
            </a:r>
            <a:endParaRPr sz="1600" dirty="0"/>
          </a:p>
          <a:p>
            <a:pPr marL="914400" lvl="0" indent="-330200" algn="l" rtl="0">
              <a:spcBef>
                <a:spcPts val="0"/>
              </a:spcBef>
              <a:spcAft>
                <a:spcPts val="0"/>
              </a:spcAft>
              <a:buSzPts val="1600"/>
              <a:buAutoNum type="arabicPeriod"/>
            </a:pPr>
            <a:r>
              <a:rPr lang="de-CH" sz="1600" dirty="0"/>
              <a:t>HYPOTHESIS TESTING</a:t>
            </a:r>
            <a:endParaRPr sz="1600" dirty="0"/>
          </a:p>
          <a:p>
            <a:pPr marL="914400" lvl="0" indent="-330200" algn="l" rtl="0">
              <a:spcBef>
                <a:spcPts val="0"/>
              </a:spcBef>
              <a:spcAft>
                <a:spcPts val="0"/>
              </a:spcAft>
              <a:buSzPts val="1600"/>
              <a:buAutoNum type="arabicPeriod"/>
            </a:pPr>
            <a:r>
              <a:rPr lang="de-CH" sz="1600" dirty="0"/>
              <a:t>REGRESSION ANALYSIS etc</a:t>
            </a:r>
            <a:endParaRPr sz="1600" dirty="0"/>
          </a:p>
          <a:p>
            <a:pPr marL="0" lvl="0" indent="0" algn="l" rtl="0">
              <a:spcBef>
                <a:spcPts val="0"/>
              </a:spcBef>
              <a:spcAft>
                <a:spcPts val="1600"/>
              </a:spcAft>
              <a:buNone/>
            </a:pPr>
            <a:endParaRPr sz="160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sp>
        <p:nvSpPr>
          <p:cNvPr id="1114" name="Google Shape;1114;p184"/>
          <p:cNvSpPr txBox="1">
            <a:spLocks noGrp="1"/>
          </p:cNvSpPr>
          <p:nvPr>
            <p:ph type="title"/>
          </p:nvPr>
        </p:nvSpPr>
        <p:spPr>
          <a:prstGeom prst="rect">
            <a:avLst/>
          </a:prstGeom>
        </p:spPr>
        <p:txBody>
          <a:bodyPr spcFirstLastPara="1" wrap="square" lIns="91425" tIns="91425" rIns="91425" bIns="91425" anchor="b" anchorCtr="0">
            <a:noAutofit/>
          </a:bodyPr>
          <a:lstStyle/>
          <a:p>
            <a:pPr marL="457200" lvl="0" indent="-495300" algn="l" rtl="0">
              <a:spcBef>
                <a:spcPts val="0"/>
              </a:spcBef>
              <a:spcAft>
                <a:spcPts val="0"/>
              </a:spcAft>
              <a:buSzPts val="4200"/>
              <a:buAutoNum type="arabicPeriod"/>
            </a:pPr>
            <a:r>
              <a:rPr lang="de-CH" dirty="0"/>
              <a:t>CONFIDENCE INTERVAL</a:t>
            </a:r>
            <a:endParaRPr dirty="0"/>
          </a:p>
        </p:txBody>
      </p:sp>
      <p:sp>
        <p:nvSpPr>
          <p:cNvPr id="1115" name="Google Shape;1115;p184"/>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30200" algn="l" rtl="0">
              <a:spcBef>
                <a:spcPts val="300"/>
              </a:spcBef>
              <a:spcAft>
                <a:spcPts val="0"/>
              </a:spcAft>
              <a:buSzPts val="1600"/>
              <a:buFont typeface="Georgia"/>
              <a:buChar char="●"/>
            </a:pPr>
            <a:r>
              <a:rPr lang="de-CH" sz="1600" b="1" dirty="0"/>
              <a:t>Confidence interval(CI) </a:t>
            </a:r>
            <a:r>
              <a:rPr lang="de-CH" sz="1600" dirty="0"/>
              <a:t>is a range of values that is likely to contain the true value of an unknown population parameter. </a:t>
            </a:r>
            <a:endParaRPr sz="1600" dirty="0"/>
          </a:p>
          <a:p>
            <a:pPr marL="457200" lvl="0" indent="-330200" algn="l" rtl="0">
              <a:spcBef>
                <a:spcPts val="0"/>
              </a:spcBef>
              <a:spcAft>
                <a:spcPts val="0"/>
              </a:spcAft>
              <a:buSzPts val="1600"/>
              <a:buFont typeface="Georgia"/>
              <a:buChar char="●"/>
            </a:pPr>
            <a:r>
              <a:rPr lang="de-CH" sz="1600" dirty="0"/>
              <a:t>The </a:t>
            </a:r>
            <a:r>
              <a:rPr lang="de-CH" sz="1600" b="1" dirty="0"/>
              <a:t>confidence level</a:t>
            </a:r>
            <a:r>
              <a:rPr lang="de-CH" sz="1600" dirty="0"/>
              <a:t> is the percentage of times you expect to reproduce an estimate between the upper and lower bounds of the confidence interval i.e., it is the pre-determined probability that an estimate will fall within the confidence interval.</a:t>
            </a:r>
            <a:endParaRPr sz="1600" dirty="0"/>
          </a:p>
          <a:p>
            <a:pPr marL="457200" lvl="0" indent="-330200" algn="l" rtl="0">
              <a:spcBef>
                <a:spcPts val="0"/>
              </a:spcBef>
              <a:spcAft>
                <a:spcPts val="0"/>
              </a:spcAft>
              <a:buSzPts val="1600"/>
              <a:buChar char="●"/>
            </a:pPr>
            <a:r>
              <a:rPr lang="de-CH" sz="1600" dirty="0"/>
              <a:t>A confidence interval is the mean of our estimate plus and minus the variation in that estimate.</a:t>
            </a:r>
            <a:endParaRPr sz="1600" dirty="0"/>
          </a:p>
          <a:p>
            <a:pPr marL="457200" lvl="0" indent="-330200" algn="l" rtl="0">
              <a:spcBef>
                <a:spcPts val="0"/>
              </a:spcBef>
              <a:spcAft>
                <a:spcPts val="0"/>
              </a:spcAft>
              <a:buSzPts val="1600"/>
              <a:buChar char="●"/>
            </a:pPr>
            <a:r>
              <a:rPr lang="de-CH" sz="1600" dirty="0"/>
              <a:t>If we construct a confidence interval with a 95% confidence level, you are confident that 95 out of 100 times the estimate will fall between the upper and lower values specified by the confidence interval.</a:t>
            </a:r>
            <a:endParaRPr sz="1600" dirty="0"/>
          </a:p>
          <a:p>
            <a:pPr marL="0" lvl="0" indent="0" algn="l" rtl="0">
              <a:spcBef>
                <a:spcPts val="0"/>
              </a:spcBef>
              <a:spcAft>
                <a:spcPts val="1600"/>
              </a:spcAft>
              <a:buNone/>
            </a:pPr>
            <a:endParaRPr sz="160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Shape 1125"/>
        <p:cNvGrpSpPr/>
        <p:nvPr/>
      </p:nvGrpSpPr>
      <p:grpSpPr>
        <a:xfrm>
          <a:off x="0" y="0"/>
          <a:ext cx="0" cy="0"/>
          <a:chOff x="0" y="0"/>
          <a:chExt cx="0" cy="0"/>
        </a:xfrm>
      </p:grpSpPr>
      <p:sp>
        <p:nvSpPr>
          <p:cNvPr id="1126" name="Google Shape;1126;p186"/>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2. HYPOTHESIS TESTING</a:t>
            </a:r>
            <a:endParaRPr/>
          </a:p>
        </p:txBody>
      </p:sp>
      <p:sp>
        <p:nvSpPr>
          <p:cNvPr id="1127" name="Google Shape;1127;p186"/>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30200" algn="l" rtl="0">
              <a:spcBef>
                <a:spcPts val="300"/>
              </a:spcBef>
              <a:spcAft>
                <a:spcPts val="0"/>
              </a:spcAft>
              <a:buSzPts val="1600"/>
              <a:buChar char="●"/>
            </a:pPr>
            <a:r>
              <a:rPr lang="de-CH" sz="1600" b="1"/>
              <a:t>Hypothesis testing: </a:t>
            </a:r>
            <a:r>
              <a:rPr lang="de-CH" sz="1600"/>
              <a:t>A hypothesis is an educated guess about something based on limited evidence as a starting point for further investigation. It should be testable by experiment or observation.</a:t>
            </a:r>
            <a:endParaRPr sz="1600"/>
          </a:p>
          <a:p>
            <a:pPr marL="457200" lvl="0" indent="-330200" algn="l" rtl="0">
              <a:spcBef>
                <a:spcPts val="0"/>
              </a:spcBef>
              <a:spcAft>
                <a:spcPts val="0"/>
              </a:spcAft>
              <a:buSzPts val="1600"/>
              <a:buChar char="●"/>
            </a:pPr>
            <a:r>
              <a:rPr lang="de-CH" sz="1600"/>
              <a:t>A random population sampling is done to test 2 different hypothesis: the </a:t>
            </a:r>
            <a:r>
              <a:rPr lang="de-CH" sz="1600" b="1"/>
              <a:t>null hypothesis </a:t>
            </a:r>
            <a:r>
              <a:rPr lang="de-CH" sz="1600"/>
              <a:t>and the</a:t>
            </a:r>
            <a:r>
              <a:rPr lang="de-CH" sz="1600" b="1"/>
              <a:t> alternate hypothesis</a:t>
            </a:r>
            <a:r>
              <a:rPr lang="de-CH" sz="1600"/>
              <a:t>.</a:t>
            </a:r>
            <a:endParaRPr sz="1600"/>
          </a:p>
          <a:p>
            <a:pPr marL="457200" lvl="0" indent="-330200" algn="l" rtl="0">
              <a:spcBef>
                <a:spcPts val="0"/>
              </a:spcBef>
              <a:spcAft>
                <a:spcPts val="0"/>
              </a:spcAft>
              <a:buSzPts val="1600"/>
              <a:buChar char="●"/>
            </a:pPr>
            <a:r>
              <a:rPr lang="de-CH" sz="1600"/>
              <a:t>The null hypothesis denoted as H</a:t>
            </a:r>
            <a:r>
              <a:rPr lang="de-CH" sz="1600" baseline="-25000"/>
              <a:t>0</a:t>
            </a:r>
            <a:r>
              <a:rPr lang="de-CH" sz="1600"/>
              <a:t> is a hypothesis of equality between the population parameters. The alternate hypothesis is the opposite of a null hypothesis.</a:t>
            </a:r>
            <a:endParaRPr sz="1600"/>
          </a:p>
          <a:p>
            <a:pPr marL="457200" lvl="0" indent="-330200" algn="l" rtl="0">
              <a:spcBef>
                <a:spcPts val="0"/>
              </a:spcBef>
              <a:spcAft>
                <a:spcPts val="0"/>
              </a:spcAft>
              <a:buSzPts val="1600"/>
              <a:buChar char="●"/>
            </a:pPr>
            <a:r>
              <a:rPr lang="de-CH" sz="1600"/>
              <a:t>Thus they are mutually exclusive and only one of them can be true and one of them will always be true.</a:t>
            </a:r>
            <a:endParaRPr sz="1600"/>
          </a:p>
          <a:p>
            <a:pPr marL="0" lvl="0" indent="0" algn="l" rtl="0">
              <a:spcBef>
                <a:spcPts val="0"/>
              </a:spcBef>
              <a:spcAft>
                <a:spcPts val="1600"/>
              </a:spcAft>
              <a:buNone/>
            </a:pPr>
            <a:endParaRPr sz="160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Shape 1131"/>
        <p:cNvGrpSpPr/>
        <p:nvPr/>
      </p:nvGrpSpPr>
      <p:grpSpPr>
        <a:xfrm>
          <a:off x="0" y="0"/>
          <a:ext cx="0" cy="0"/>
          <a:chOff x="0" y="0"/>
          <a:chExt cx="0" cy="0"/>
        </a:xfrm>
      </p:grpSpPr>
      <p:sp>
        <p:nvSpPr>
          <p:cNvPr id="1132" name="Google Shape;1132;p187"/>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133" name="Google Shape;1133;p187"/>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sz="1600"/>
              <a:t>As a rule of thumb, the version of the hypothesis that needs to be rejected is put under the null hypothesis and the desired version is stated under the alternate hypothesis.</a:t>
            </a:r>
            <a:endParaRPr sz="1600"/>
          </a:p>
          <a:p>
            <a:pPr marL="0" lvl="0" indent="0" algn="l" rtl="0">
              <a:spcBef>
                <a:spcPts val="1600"/>
              </a:spcBef>
              <a:spcAft>
                <a:spcPts val="0"/>
              </a:spcAft>
              <a:buNone/>
            </a:pPr>
            <a:endParaRPr sz="1600"/>
          </a:p>
          <a:p>
            <a:pPr marL="114300" lvl="0" indent="0" algn="l" rtl="0">
              <a:spcBef>
                <a:spcPts val="1600"/>
              </a:spcBef>
              <a:spcAft>
                <a:spcPts val="0"/>
              </a:spcAft>
              <a:buClr>
                <a:schemeClr val="dk1"/>
              </a:buClr>
              <a:buSzPts val="1100"/>
              <a:buFont typeface="Arial"/>
              <a:buNone/>
            </a:pPr>
            <a:r>
              <a:rPr lang="de-CH" sz="1600" b="1"/>
              <a:t>Eg</a:t>
            </a:r>
            <a:r>
              <a:rPr lang="de-CH" sz="1600"/>
              <a:t>:  We want to test that a coin has exactly a 50% chance of landing on heads. Then,</a:t>
            </a:r>
            <a:endParaRPr sz="1600"/>
          </a:p>
          <a:p>
            <a:pPr marL="114300" lvl="0" indent="0" algn="l" rtl="0">
              <a:spcBef>
                <a:spcPts val="300"/>
              </a:spcBef>
              <a:spcAft>
                <a:spcPts val="0"/>
              </a:spcAft>
              <a:buClr>
                <a:schemeClr val="dk1"/>
              </a:buClr>
              <a:buSzPts val="1100"/>
              <a:buFont typeface="Arial"/>
              <a:buNone/>
            </a:pPr>
            <a:r>
              <a:rPr lang="de-CH" sz="1600"/>
              <a:t>H</a:t>
            </a:r>
            <a:r>
              <a:rPr lang="de-CH" sz="1600" baseline="-25000"/>
              <a:t>0</a:t>
            </a:r>
            <a:r>
              <a:rPr lang="de-CH" sz="1600"/>
              <a:t>: P = 0.5</a:t>
            </a:r>
            <a:endParaRPr sz="1600"/>
          </a:p>
          <a:p>
            <a:pPr marL="114300" lvl="0" indent="0" algn="l" rtl="0">
              <a:spcBef>
                <a:spcPts val="300"/>
              </a:spcBef>
              <a:spcAft>
                <a:spcPts val="0"/>
              </a:spcAft>
              <a:buClr>
                <a:schemeClr val="dk1"/>
              </a:buClr>
              <a:buSzPts val="1100"/>
              <a:buFont typeface="Arial"/>
              <a:buNone/>
            </a:pPr>
            <a:r>
              <a:rPr lang="de-CH" sz="1600"/>
              <a:t>H</a:t>
            </a:r>
            <a:r>
              <a:rPr lang="de-CH" sz="1600" baseline="-25000"/>
              <a:t>a</a:t>
            </a:r>
            <a:r>
              <a:rPr lang="de-CH" sz="1600"/>
              <a:t>: P≠ 0.5</a:t>
            </a:r>
            <a:endParaRPr sz="1600"/>
          </a:p>
          <a:p>
            <a:pPr marL="114300" lvl="0" indent="0" algn="l" rtl="0">
              <a:spcBef>
                <a:spcPts val="300"/>
              </a:spcBef>
              <a:spcAft>
                <a:spcPts val="0"/>
              </a:spcAft>
              <a:buClr>
                <a:schemeClr val="dk1"/>
              </a:buClr>
              <a:buSzPts val="1100"/>
              <a:buFont typeface="Arial"/>
              <a:buNone/>
            </a:pPr>
            <a:r>
              <a:rPr lang="de-CH" sz="1600"/>
              <a:t>A random sample of 100 coin flips is taken, and the null hypothesis is then tested. If it is found that the 100 coin flips were distributed as 40 heads and 60 tails, then the coin does not have a 50% chance of landing on heads and would reject the null hypothesis and accept the alternative hypothesis.</a:t>
            </a:r>
            <a:endParaRPr/>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Shape 1137"/>
        <p:cNvGrpSpPr/>
        <p:nvPr/>
      </p:nvGrpSpPr>
      <p:grpSpPr>
        <a:xfrm>
          <a:off x="0" y="0"/>
          <a:ext cx="0" cy="0"/>
          <a:chOff x="0" y="0"/>
          <a:chExt cx="0" cy="0"/>
        </a:xfrm>
      </p:grpSpPr>
      <p:sp>
        <p:nvSpPr>
          <p:cNvPr id="1138" name="Google Shape;1138;p188"/>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Type I and Type II errors</a:t>
            </a:r>
            <a:endParaRPr/>
          </a:p>
        </p:txBody>
      </p:sp>
      <p:sp>
        <p:nvSpPr>
          <p:cNvPr id="1139" name="Google Shape;1139;p188"/>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sz="1600" b="1"/>
              <a:t>Type I error </a:t>
            </a:r>
            <a:r>
              <a:rPr lang="de-CH" sz="1600"/>
              <a:t>occurs when the null hypothesis is wrongly rejected.</a:t>
            </a:r>
            <a:endParaRPr sz="1600"/>
          </a:p>
          <a:p>
            <a:pPr marL="0" lvl="0" indent="0" algn="l" rtl="0">
              <a:spcBef>
                <a:spcPts val="1600"/>
              </a:spcBef>
              <a:spcAft>
                <a:spcPts val="1600"/>
              </a:spcAft>
              <a:buNone/>
            </a:pPr>
            <a:r>
              <a:rPr lang="de-CH" sz="1600" b="1"/>
              <a:t>Type II error </a:t>
            </a:r>
            <a:r>
              <a:rPr lang="de-CH" sz="1600"/>
              <a:t>occurs when the null hypothesis is not wrongly rejected. </a:t>
            </a:r>
            <a:endParaRPr sz="160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Shape 1143"/>
        <p:cNvGrpSpPr/>
        <p:nvPr/>
      </p:nvGrpSpPr>
      <p:grpSpPr>
        <a:xfrm>
          <a:off x="0" y="0"/>
          <a:ext cx="0" cy="0"/>
          <a:chOff x="0" y="0"/>
          <a:chExt cx="0" cy="0"/>
        </a:xfrm>
      </p:grpSpPr>
      <p:sp>
        <p:nvSpPr>
          <p:cNvPr id="1144" name="Google Shape;1144;p189"/>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Terminologies related to statistical tests</a:t>
            </a:r>
            <a:endParaRPr/>
          </a:p>
        </p:txBody>
      </p:sp>
      <p:sp>
        <p:nvSpPr>
          <p:cNvPr id="1145" name="Google Shape;1145;p189"/>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a:t>Critical value</a:t>
            </a:r>
            <a:r>
              <a:rPr lang="de-CH"/>
              <a:t>: It is a threshold used to make decision about a null hypothesis</a:t>
            </a:r>
            <a:endParaRPr/>
          </a:p>
          <a:p>
            <a:pPr marL="0" lvl="0" indent="0" algn="l" rtl="0">
              <a:spcBef>
                <a:spcPts val="1600"/>
              </a:spcBef>
              <a:spcAft>
                <a:spcPts val="0"/>
              </a:spcAft>
              <a:buNone/>
            </a:pPr>
            <a:r>
              <a:rPr lang="de-CH" b="1"/>
              <a:t>p value</a:t>
            </a:r>
            <a:r>
              <a:rPr lang="de-CH"/>
              <a:t>: It measures the strength of evidence against the null hypothesis. Smaller p value indicates stronger evidence against the null hypothesis.</a:t>
            </a:r>
            <a:endParaRPr/>
          </a:p>
          <a:p>
            <a:pPr marL="0" lvl="0" indent="0" algn="l" rtl="0">
              <a:spcBef>
                <a:spcPts val="1600"/>
              </a:spcBef>
              <a:spcAft>
                <a:spcPts val="1600"/>
              </a:spcAft>
              <a:buNone/>
            </a:pPr>
            <a:r>
              <a:rPr lang="de-CH" b="1"/>
              <a:t>Significance level</a:t>
            </a:r>
            <a:r>
              <a:rPr lang="de-CH"/>
              <a:t>: It is a predetermined probability threshold to make a decision about null hypothesis. If p value is &lt;= significance level, we reject null hypothesis otherwise we fail to reject null hypothesis.</a:t>
            </a:r>
            <a:endParaRPr/>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Shape 1149"/>
        <p:cNvGrpSpPr/>
        <p:nvPr/>
      </p:nvGrpSpPr>
      <p:grpSpPr>
        <a:xfrm>
          <a:off x="0" y="0"/>
          <a:ext cx="0" cy="0"/>
          <a:chOff x="0" y="0"/>
          <a:chExt cx="0" cy="0"/>
        </a:xfrm>
      </p:grpSpPr>
      <p:sp>
        <p:nvSpPr>
          <p:cNvPr id="1150" name="Google Shape;1150;p190"/>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Statistical tests</a:t>
            </a:r>
            <a:endParaRPr/>
          </a:p>
        </p:txBody>
      </p:sp>
      <p:sp>
        <p:nvSpPr>
          <p:cNvPr id="1151" name="Google Shape;1151;p190"/>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a:t>It is a way to determine whether a random variable is following null hypothesis or alternate hypothesis. Different measures like mean, median, mode, SD etc can be used for this, but commonly used measure is mean.</a:t>
            </a:r>
            <a:endParaRPr/>
          </a:p>
          <a:p>
            <a:pPr marL="0" lvl="0" indent="0" algn="l" rtl="0">
              <a:spcBef>
                <a:spcPts val="1600"/>
              </a:spcBef>
              <a:spcAft>
                <a:spcPts val="0"/>
              </a:spcAft>
              <a:buNone/>
            </a:pPr>
            <a:r>
              <a:rPr lang="de-CH"/>
              <a:t>Steps for conducting statistical tests:</a:t>
            </a:r>
            <a:endParaRPr/>
          </a:p>
          <a:p>
            <a:pPr marL="457200" lvl="0" indent="-342900" algn="l" rtl="0">
              <a:spcBef>
                <a:spcPts val="1600"/>
              </a:spcBef>
              <a:spcAft>
                <a:spcPts val="0"/>
              </a:spcAft>
              <a:buSzPts val="1800"/>
              <a:buChar char="●"/>
            </a:pPr>
            <a:r>
              <a:rPr lang="de-CH"/>
              <a:t>calculate statistical value using the mathematical formula</a:t>
            </a:r>
            <a:endParaRPr/>
          </a:p>
          <a:p>
            <a:pPr marL="457200" lvl="0" indent="-342900" algn="l" rtl="0">
              <a:spcBef>
                <a:spcPts val="0"/>
              </a:spcBef>
              <a:spcAft>
                <a:spcPts val="0"/>
              </a:spcAft>
              <a:buSzPts val="1800"/>
              <a:buChar char="●"/>
            </a:pPr>
            <a:r>
              <a:rPr lang="de-CH"/>
              <a:t>calculate the critical value from this using the statistical tables</a:t>
            </a:r>
            <a:endParaRPr/>
          </a:p>
          <a:p>
            <a:pPr marL="457200" lvl="0" indent="-342900" algn="l" rtl="0">
              <a:spcBef>
                <a:spcPts val="0"/>
              </a:spcBef>
              <a:spcAft>
                <a:spcPts val="0"/>
              </a:spcAft>
              <a:buSzPts val="1800"/>
              <a:buChar char="●"/>
            </a:pPr>
            <a:r>
              <a:rPr lang="de-CH"/>
              <a:t>using critical value calculate the value of p</a:t>
            </a:r>
            <a:endParaRPr/>
          </a:p>
          <a:p>
            <a:pPr marL="457200" lvl="0" indent="-342900" algn="l" rtl="0">
              <a:spcBef>
                <a:spcPts val="0"/>
              </a:spcBef>
              <a:spcAft>
                <a:spcPts val="0"/>
              </a:spcAft>
              <a:buSzPts val="1800"/>
              <a:buChar char="●"/>
            </a:pPr>
            <a:r>
              <a:rPr lang="de-CH"/>
              <a:t>if p&gt;=0.05, accept null hypothesis, else reject it</a:t>
            </a:r>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1156" name="Google Shape;1156;p191"/>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z-test</a:t>
            </a:r>
            <a:endParaRPr/>
          </a:p>
        </p:txBody>
      </p:sp>
      <p:sp>
        <p:nvSpPr>
          <p:cNvPr id="1157" name="Google Shape;1157;p191"/>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It applies to a population that follows normal distribution.</a:t>
            </a:r>
            <a:endParaRPr/>
          </a:p>
          <a:p>
            <a:pPr marL="457200" lvl="0" indent="-342900" algn="l" rtl="0">
              <a:spcBef>
                <a:spcPts val="0"/>
              </a:spcBef>
              <a:spcAft>
                <a:spcPts val="0"/>
              </a:spcAft>
              <a:buSzPts val="1800"/>
              <a:buChar char="●"/>
            </a:pPr>
            <a:r>
              <a:rPr lang="de-CH"/>
              <a:t>It is used when sample size is greater than 30.</a:t>
            </a:r>
            <a:endParaRPr/>
          </a:p>
          <a:p>
            <a:pPr marL="457200" lvl="0" indent="-342900" algn="l" rtl="0">
              <a:spcBef>
                <a:spcPts val="0"/>
              </a:spcBef>
              <a:spcAft>
                <a:spcPts val="0"/>
              </a:spcAft>
              <a:buSzPts val="1800"/>
              <a:buChar char="●"/>
            </a:pPr>
            <a:r>
              <a:rPr lang="de-CH"/>
              <a:t>One-sample z-test determines whether a sample mean differs from the hypothesized mean.</a:t>
            </a:r>
            <a:endParaRPr/>
          </a:p>
          <a:p>
            <a:pPr marL="457200" lvl="0" indent="-342900" algn="l" rtl="0">
              <a:spcBef>
                <a:spcPts val="0"/>
              </a:spcBef>
              <a:spcAft>
                <a:spcPts val="0"/>
              </a:spcAft>
              <a:buSzPts val="1800"/>
              <a:buChar char="●"/>
            </a:pPr>
            <a:r>
              <a:rPr lang="de-CH"/>
              <a:t>Two-sample z-test compares 2 independent variables.</a:t>
            </a:r>
            <a:endParaRPr/>
          </a:p>
          <a:p>
            <a:pPr marL="457200" lvl="0" indent="-342900" algn="l" rtl="0">
              <a:spcBef>
                <a:spcPts val="0"/>
              </a:spcBef>
              <a:spcAft>
                <a:spcPts val="0"/>
              </a:spcAft>
              <a:buSzPts val="1800"/>
              <a:buChar char="●"/>
            </a:pPr>
            <a:r>
              <a:rPr lang="de-CH"/>
              <a:t>It is primarily used for binary classification problem.</a:t>
            </a:r>
            <a:endParaRPr/>
          </a:p>
          <a:p>
            <a:pPr marL="457200" lvl="0" indent="0" algn="l" rtl="0">
              <a:spcBef>
                <a:spcPts val="1600"/>
              </a:spcBef>
              <a:spcAft>
                <a:spcPts val="0"/>
              </a:spcAft>
              <a:buNone/>
            </a:pPr>
            <a:endParaRPr/>
          </a:p>
          <a:p>
            <a:pPr marL="0" lvl="0" indent="0" algn="l" rtl="0">
              <a:spcBef>
                <a:spcPts val="1600"/>
              </a:spcBef>
              <a:spcAft>
                <a:spcPts val="0"/>
              </a:spcAft>
              <a:buNone/>
            </a:pPr>
            <a:r>
              <a:rPr lang="de-CH" sz="1600"/>
              <a:t>where x1 and x2 are the means, σ1 and σ2 are the standard deviations, and n1 and n2 are the size of the 2 variables respectively.</a:t>
            </a:r>
            <a:endParaRPr sz="1600"/>
          </a:p>
          <a:p>
            <a:pPr marL="457200" lvl="0" indent="0" algn="l" rtl="0">
              <a:spcBef>
                <a:spcPts val="1200"/>
              </a:spcBef>
              <a:spcAft>
                <a:spcPts val="0"/>
              </a:spcAft>
              <a:buNone/>
            </a:pPr>
            <a:endParaRPr baseline="30000"/>
          </a:p>
          <a:p>
            <a:pPr marL="457200" lvl="0" indent="0" algn="l" rtl="0">
              <a:spcBef>
                <a:spcPts val="1600"/>
              </a:spcBef>
              <a:spcAft>
                <a:spcPts val="0"/>
              </a:spcAft>
              <a:buNone/>
            </a:pPr>
            <a:endParaRPr/>
          </a:p>
          <a:p>
            <a:pPr marL="457200" lvl="0" indent="0" algn="l" rtl="0">
              <a:spcBef>
                <a:spcPts val="1600"/>
              </a:spcBef>
              <a:spcAft>
                <a:spcPts val="0"/>
              </a:spcAft>
              <a:buNone/>
            </a:pPr>
            <a:endParaRPr/>
          </a:p>
          <a:p>
            <a:pPr marL="0" lvl="0" indent="0" algn="l" rtl="0">
              <a:spcBef>
                <a:spcPts val="1600"/>
              </a:spcBef>
              <a:spcAft>
                <a:spcPts val="1600"/>
              </a:spcAft>
              <a:buNone/>
            </a:pPr>
            <a:endParaRPr/>
          </a:p>
        </p:txBody>
      </p:sp>
      <p:pic>
        <p:nvPicPr>
          <p:cNvPr id="1158" name="Google Shape;1158;p191"/>
          <p:cNvPicPr preferRelativeResize="0"/>
          <p:nvPr/>
        </p:nvPicPr>
        <p:blipFill>
          <a:blip r:embed="rId3">
            <a:alphaModFix/>
          </a:blip>
          <a:stretch>
            <a:fillRect/>
          </a:stretch>
        </p:blipFill>
        <p:spPr>
          <a:xfrm>
            <a:off x="2454375" y="3244900"/>
            <a:ext cx="3907300" cy="574300"/>
          </a:xfrm>
          <a:prstGeom prst="rect">
            <a:avLst/>
          </a:prstGeom>
          <a:noFill/>
          <a:ln>
            <a:noFill/>
          </a:ln>
        </p:spPr>
      </p:pic>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Shape 1162"/>
        <p:cNvGrpSpPr/>
        <p:nvPr/>
      </p:nvGrpSpPr>
      <p:grpSpPr>
        <a:xfrm>
          <a:off x="0" y="0"/>
          <a:ext cx="0" cy="0"/>
          <a:chOff x="0" y="0"/>
          <a:chExt cx="0" cy="0"/>
        </a:xfrm>
      </p:grpSpPr>
      <p:sp>
        <p:nvSpPr>
          <p:cNvPr id="1163" name="Google Shape;1163;p192"/>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t-test</a:t>
            </a:r>
            <a:endParaRPr/>
          </a:p>
        </p:txBody>
      </p:sp>
      <p:sp>
        <p:nvSpPr>
          <p:cNvPr id="1164" name="Google Shape;1164;p192"/>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42900" algn="l" rtl="0">
              <a:spcBef>
                <a:spcPts val="0"/>
              </a:spcBef>
              <a:spcAft>
                <a:spcPts val="0"/>
              </a:spcAft>
              <a:buSzPts val="1800"/>
              <a:buChar char="●"/>
            </a:pPr>
            <a:r>
              <a:rPr lang="de-CH"/>
              <a:t>It is used when sample size is less than 30.</a:t>
            </a:r>
            <a:endParaRPr/>
          </a:p>
          <a:p>
            <a:pPr marL="457200" lvl="0" indent="-342900" algn="l" rtl="0">
              <a:spcBef>
                <a:spcPts val="0"/>
              </a:spcBef>
              <a:spcAft>
                <a:spcPts val="0"/>
              </a:spcAft>
              <a:buSzPts val="1800"/>
              <a:buChar char="●"/>
            </a:pPr>
            <a:r>
              <a:rPr lang="de-CH"/>
              <a:t>Their equations differs only in that one considers sample mean (t-test) and the other considers population mean(z-test)</a:t>
            </a:r>
            <a:endParaRPr/>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Shape 1168"/>
        <p:cNvGrpSpPr/>
        <p:nvPr/>
      </p:nvGrpSpPr>
      <p:grpSpPr>
        <a:xfrm>
          <a:off x="0" y="0"/>
          <a:ext cx="0" cy="0"/>
          <a:chOff x="0" y="0"/>
          <a:chExt cx="0" cy="0"/>
        </a:xfrm>
      </p:grpSpPr>
      <p:sp>
        <p:nvSpPr>
          <p:cNvPr id="1169" name="Google Shape;1169;p193"/>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3. REGRESSION ANALYSIS</a:t>
            </a:r>
            <a:endParaRPr/>
          </a:p>
        </p:txBody>
      </p:sp>
      <p:sp>
        <p:nvSpPr>
          <p:cNvPr id="1170" name="Google Shape;1170;p193"/>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de-CH"/>
              <a:t>Regression analysis is used to understand the relationship between two variables (X and Y) in a data set as a way to estimate the unknown variable to make future projections on events and goals. This helps estimating the value of a random variable  based on the values of some known variables.</a:t>
            </a:r>
            <a:endParaRPr/>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Shape 1174"/>
        <p:cNvGrpSpPr/>
        <p:nvPr/>
      </p:nvGrpSpPr>
      <p:grpSpPr>
        <a:xfrm>
          <a:off x="0" y="0"/>
          <a:ext cx="0" cy="0"/>
          <a:chOff x="0" y="0"/>
          <a:chExt cx="0" cy="0"/>
        </a:xfrm>
      </p:grpSpPr>
      <p:sp>
        <p:nvSpPr>
          <p:cNvPr id="1175" name="Google Shape;1175;p194"/>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PROBABILITY</a:t>
            </a:r>
            <a:endParaRPr/>
          </a:p>
        </p:txBody>
      </p:sp>
      <p:sp>
        <p:nvSpPr>
          <p:cNvPr id="1176" name="Google Shape;1176;p194"/>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30200" algn="l" rtl="0">
              <a:spcBef>
                <a:spcPts val="300"/>
              </a:spcBef>
              <a:spcAft>
                <a:spcPts val="0"/>
              </a:spcAft>
              <a:buSzPts val="1600"/>
              <a:buChar char="●"/>
            </a:pPr>
            <a:r>
              <a:rPr lang="de-CH" sz="1600"/>
              <a:t>A number that reflects the chance or likelihood that a particular event will occur.</a:t>
            </a:r>
            <a:endParaRPr sz="1600"/>
          </a:p>
          <a:p>
            <a:pPr marL="457200" lvl="0" indent="-330200" algn="l" rtl="0">
              <a:spcBef>
                <a:spcPts val="0"/>
              </a:spcBef>
              <a:spcAft>
                <a:spcPts val="0"/>
              </a:spcAft>
              <a:buSzPts val="1600"/>
              <a:buChar char="●"/>
            </a:pPr>
            <a:r>
              <a:rPr lang="de-CH" sz="1600"/>
              <a:t>Probabilities can be expressed as proportions that range from 0 to 1, and they can also be expressed as percentages ranging from 0% to 100%.</a:t>
            </a:r>
            <a:endParaRPr sz="1600"/>
          </a:p>
          <a:p>
            <a:pPr marL="457200" lvl="0" indent="-330200" algn="l" rtl="0">
              <a:spcBef>
                <a:spcPts val="0"/>
              </a:spcBef>
              <a:spcAft>
                <a:spcPts val="0"/>
              </a:spcAft>
              <a:buSzPts val="1600"/>
              <a:buChar char="●"/>
            </a:pPr>
            <a:r>
              <a:rPr lang="de-CH" sz="1600"/>
              <a:t>Probability 0 : Impossible event</a:t>
            </a:r>
            <a:endParaRPr sz="1600"/>
          </a:p>
          <a:p>
            <a:pPr marL="457200" lvl="0" indent="-330200" algn="l" rtl="0">
              <a:spcBef>
                <a:spcPts val="0"/>
              </a:spcBef>
              <a:spcAft>
                <a:spcPts val="0"/>
              </a:spcAft>
              <a:buSzPts val="1600"/>
              <a:buChar char="●"/>
            </a:pPr>
            <a:r>
              <a:rPr lang="de-CH" sz="1600"/>
              <a:t>Probability 1 : Sure event</a:t>
            </a:r>
            <a:endParaRPr sz="1600"/>
          </a:p>
          <a:p>
            <a:pPr marL="457200" lvl="0" indent="0" algn="l" rtl="0">
              <a:spcBef>
                <a:spcPts val="300"/>
              </a:spcBef>
              <a:spcAft>
                <a:spcPts val="0"/>
              </a:spcAft>
              <a:buNone/>
            </a:pPr>
            <a:endParaRPr sz="1600"/>
          </a:p>
          <a:p>
            <a:pPr marL="0" lvl="0" indent="0" algn="l" rtl="0">
              <a:spcBef>
                <a:spcPts val="300"/>
              </a:spcBef>
              <a:spcAft>
                <a:spcPts val="0"/>
              </a:spcAft>
              <a:buClr>
                <a:schemeClr val="dk1"/>
              </a:buClr>
              <a:buSzPts val="1100"/>
              <a:buFont typeface="Arial"/>
              <a:buNone/>
            </a:pPr>
            <a:r>
              <a:rPr lang="de-CH" sz="1600"/>
              <a:t>Probability is calculated as :</a:t>
            </a:r>
            <a:endParaRPr sz="1600"/>
          </a:p>
          <a:p>
            <a:pPr marL="114300" lvl="0" indent="0" algn="l" rtl="0">
              <a:spcBef>
                <a:spcPts val="300"/>
              </a:spcBef>
              <a:spcAft>
                <a:spcPts val="0"/>
              </a:spcAft>
              <a:buClr>
                <a:schemeClr val="dk1"/>
              </a:buClr>
              <a:buSzPts val="1100"/>
              <a:buFont typeface="Arial"/>
              <a:buNone/>
            </a:pPr>
            <a:r>
              <a:rPr lang="de-CH" sz="1600" i="1"/>
              <a:t>P(event) = Number of favorable outcomes/ total no of outcomes</a:t>
            </a:r>
            <a:endParaRPr sz="1600" i="1"/>
          </a:p>
          <a:p>
            <a:pPr marL="0" lvl="0" indent="0" algn="l" rtl="0">
              <a:spcBef>
                <a:spcPts val="0"/>
              </a:spcBef>
              <a:spcAft>
                <a:spcPts val="1600"/>
              </a:spcAft>
              <a:buNone/>
            </a:pPr>
            <a:endParaRPr sz="160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Shape 1180"/>
        <p:cNvGrpSpPr/>
        <p:nvPr/>
      </p:nvGrpSpPr>
      <p:grpSpPr>
        <a:xfrm>
          <a:off x="0" y="0"/>
          <a:ext cx="0" cy="0"/>
          <a:chOff x="0" y="0"/>
          <a:chExt cx="0" cy="0"/>
        </a:xfrm>
      </p:grpSpPr>
      <p:sp>
        <p:nvSpPr>
          <p:cNvPr id="1181" name="Google Shape;1181;p195"/>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182" name="Google Shape;1182;p195"/>
          <p:cNvSpPr txBox="1">
            <a:spLocks noGrp="1"/>
          </p:cNvSpPr>
          <p:nvPr>
            <p:ph type="body" idx="1"/>
          </p:nvPr>
        </p:nvSpPr>
        <p:spPr>
          <a:prstGeom prst="rect">
            <a:avLst/>
          </a:prstGeom>
        </p:spPr>
        <p:txBody>
          <a:bodyPr spcFirstLastPara="1" wrap="square" lIns="91425" tIns="91425" rIns="91425" bIns="91425" anchor="t" anchorCtr="0">
            <a:noAutofit/>
          </a:bodyPr>
          <a:lstStyle/>
          <a:p>
            <a:pPr marL="114300" lvl="0" indent="0" algn="l" rtl="0">
              <a:spcBef>
                <a:spcPts val="300"/>
              </a:spcBef>
              <a:spcAft>
                <a:spcPts val="0"/>
              </a:spcAft>
              <a:buNone/>
            </a:pPr>
            <a:r>
              <a:rPr lang="de-CH" sz="1600"/>
              <a:t>Study of obesity in children 5-10 years of age who are seeking medical care</a:t>
            </a:r>
            <a:endParaRPr sz="1600"/>
          </a:p>
          <a:p>
            <a:pPr marL="114300" lvl="0" indent="0" algn="l" rtl="0">
              <a:spcBef>
                <a:spcPts val="300"/>
              </a:spcBef>
              <a:spcAft>
                <a:spcPts val="0"/>
              </a:spcAft>
              <a:buNone/>
            </a:pPr>
            <a:endParaRPr sz="1600"/>
          </a:p>
          <a:p>
            <a:pPr marL="114300" lvl="0" indent="0" algn="l" rtl="0">
              <a:spcBef>
                <a:spcPts val="300"/>
              </a:spcBef>
              <a:spcAft>
                <a:spcPts val="0"/>
              </a:spcAft>
              <a:buNone/>
            </a:pPr>
            <a:endParaRPr sz="1600"/>
          </a:p>
          <a:p>
            <a:pPr marL="114300" lvl="0" indent="0" algn="l" rtl="0">
              <a:spcBef>
                <a:spcPts val="300"/>
              </a:spcBef>
              <a:spcAft>
                <a:spcPts val="0"/>
              </a:spcAft>
              <a:buNone/>
            </a:pPr>
            <a:endParaRPr sz="1600"/>
          </a:p>
          <a:p>
            <a:pPr marL="114300" lvl="0" indent="0" algn="l" rtl="0">
              <a:spcBef>
                <a:spcPts val="300"/>
              </a:spcBef>
              <a:spcAft>
                <a:spcPts val="0"/>
              </a:spcAft>
              <a:buNone/>
            </a:pPr>
            <a:endParaRPr sz="1600"/>
          </a:p>
          <a:p>
            <a:pPr marL="0" lvl="0" indent="0" algn="l" rtl="0">
              <a:spcBef>
                <a:spcPts val="300"/>
              </a:spcBef>
              <a:spcAft>
                <a:spcPts val="0"/>
              </a:spcAft>
              <a:buNone/>
            </a:pPr>
            <a:endParaRPr sz="1600"/>
          </a:p>
          <a:p>
            <a:pPr marL="114300" lvl="0" indent="0" algn="l" rtl="0">
              <a:spcBef>
                <a:spcPts val="300"/>
              </a:spcBef>
              <a:spcAft>
                <a:spcPts val="0"/>
              </a:spcAft>
              <a:buNone/>
            </a:pPr>
            <a:endParaRPr sz="1600"/>
          </a:p>
          <a:p>
            <a:pPr marL="114300" lvl="0" indent="0" algn="l" rtl="0">
              <a:spcBef>
                <a:spcPts val="300"/>
              </a:spcBef>
              <a:spcAft>
                <a:spcPts val="0"/>
              </a:spcAft>
              <a:buNone/>
            </a:pPr>
            <a:r>
              <a:rPr lang="de-CH" sz="1600"/>
              <a:t>If we select a child at random, each child has the same probability of being chosen and is equal to 1/5290 = 0.0002. Such outcomes are called </a:t>
            </a:r>
            <a:r>
              <a:rPr lang="de-CH" sz="1600" b="1"/>
              <a:t>equally likely </a:t>
            </a:r>
            <a:r>
              <a:rPr lang="de-CH" sz="1600"/>
              <a:t>outcomes.</a:t>
            </a:r>
            <a:endParaRPr sz="1600"/>
          </a:p>
          <a:p>
            <a:pPr marL="114300" lvl="0" indent="0" algn="l" rtl="0">
              <a:spcBef>
                <a:spcPts val="300"/>
              </a:spcBef>
              <a:spcAft>
                <a:spcPts val="0"/>
              </a:spcAft>
              <a:buClr>
                <a:schemeClr val="dk1"/>
              </a:buClr>
              <a:buSzPts val="1100"/>
              <a:buFont typeface="Arial"/>
              <a:buNone/>
            </a:pPr>
            <a:endParaRPr sz="1600"/>
          </a:p>
          <a:p>
            <a:pPr marL="0" lvl="0" indent="0" algn="l" rtl="0">
              <a:spcBef>
                <a:spcPts val="0"/>
              </a:spcBef>
              <a:spcAft>
                <a:spcPts val="1600"/>
              </a:spcAft>
              <a:buNone/>
            </a:pPr>
            <a:endParaRPr/>
          </a:p>
        </p:txBody>
      </p:sp>
      <p:pic>
        <p:nvPicPr>
          <p:cNvPr id="1183" name="Google Shape;1183;p195"/>
          <p:cNvPicPr preferRelativeResize="0"/>
          <p:nvPr/>
        </p:nvPicPr>
        <p:blipFill>
          <a:blip r:embed="rId3">
            <a:alphaModFix/>
          </a:blip>
          <a:stretch>
            <a:fillRect/>
          </a:stretch>
        </p:blipFill>
        <p:spPr>
          <a:xfrm>
            <a:off x="2327175" y="1707775"/>
            <a:ext cx="3574650" cy="1748025"/>
          </a:xfrm>
          <a:prstGeom prst="rect">
            <a:avLst/>
          </a:prstGeom>
          <a:noFill/>
          <a:ln>
            <a:noFill/>
          </a:ln>
        </p:spPr>
      </p:pic>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Shape 1187"/>
        <p:cNvGrpSpPr/>
        <p:nvPr/>
      </p:nvGrpSpPr>
      <p:grpSpPr>
        <a:xfrm>
          <a:off x="0" y="0"/>
          <a:ext cx="0" cy="0"/>
          <a:chOff x="0" y="0"/>
          <a:chExt cx="0" cy="0"/>
        </a:xfrm>
      </p:grpSpPr>
      <p:sp>
        <p:nvSpPr>
          <p:cNvPr id="1188" name="Google Shape;1188;p196"/>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189" name="Google Shape;1189;p196"/>
          <p:cNvSpPr txBox="1">
            <a:spLocks noGrp="1"/>
          </p:cNvSpPr>
          <p:nvPr>
            <p:ph type="body" idx="1"/>
          </p:nvPr>
        </p:nvSpPr>
        <p:spPr>
          <a:prstGeom prst="rect">
            <a:avLst/>
          </a:prstGeom>
        </p:spPr>
        <p:txBody>
          <a:bodyPr spcFirstLastPara="1" wrap="square" lIns="91425" tIns="91425" rIns="91425" bIns="91425" anchor="t" anchorCtr="0">
            <a:noAutofit/>
          </a:bodyPr>
          <a:lstStyle/>
          <a:p>
            <a:pPr marL="114300" lvl="0" indent="0" algn="l" rtl="0">
              <a:spcBef>
                <a:spcPts val="300"/>
              </a:spcBef>
              <a:spcAft>
                <a:spcPts val="0"/>
              </a:spcAft>
              <a:buClr>
                <a:schemeClr val="dk1"/>
              </a:buClr>
              <a:buSzPts val="1100"/>
              <a:buFont typeface="Arial"/>
              <a:buNone/>
            </a:pPr>
            <a:r>
              <a:rPr lang="de-CH" sz="1600"/>
              <a:t>Q. What is the probability of selecting a girl?</a:t>
            </a:r>
            <a:endParaRPr sz="1600"/>
          </a:p>
          <a:p>
            <a:pPr marL="114300" lvl="0" indent="0" algn="l" rtl="0">
              <a:spcBef>
                <a:spcPts val="300"/>
              </a:spcBef>
              <a:spcAft>
                <a:spcPts val="0"/>
              </a:spcAft>
              <a:buClr>
                <a:schemeClr val="dk1"/>
              </a:buClr>
              <a:buSzPts val="1100"/>
              <a:buFont typeface="Arial"/>
              <a:buNone/>
            </a:pPr>
            <a:r>
              <a:rPr lang="de-CH" sz="1600"/>
              <a:t>Q. What is the probability of selecting a 7 year-old?</a:t>
            </a:r>
            <a:endParaRPr sz="1600"/>
          </a:p>
          <a:p>
            <a:pPr marL="114300" lvl="0" indent="0" algn="l" rtl="0">
              <a:spcBef>
                <a:spcPts val="300"/>
              </a:spcBef>
              <a:spcAft>
                <a:spcPts val="0"/>
              </a:spcAft>
              <a:buClr>
                <a:schemeClr val="dk1"/>
              </a:buClr>
              <a:buSzPts val="1100"/>
              <a:buFont typeface="Arial"/>
              <a:buNone/>
            </a:pPr>
            <a:r>
              <a:rPr lang="de-CH" sz="1600"/>
              <a:t>Q. What is the probability of selecting a boy who is 10 years of age?</a:t>
            </a:r>
            <a:endParaRPr sz="1600"/>
          </a:p>
          <a:p>
            <a:pPr marL="114300" lvl="0" indent="0" algn="l" rtl="0">
              <a:spcBef>
                <a:spcPts val="300"/>
              </a:spcBef>
              <a:spcAft>
                <a:spcPts val="0"/>
              </a:spcAft>
              <a:buClr>
                <a:schemeClr val="dk1"/>
              </a:buClr>
              <a:buSzPts val="1100"/>
              <a:buFont typeface="Arial"/>
              <a:buNone/>
            </a:pPr>
            <a:r>
              <a:rPr lang="de-CH" sz="1600"/>
              <a:t>Q. What is the probability of selecting a child (boy or girl) who is at least 8 years of age? </a:t>
            </a:r>
            <a:endParaRPr sz="1600"/>
          </a:p>
          <a:p>
            <a:pPr marL="114300" lvl="0" indent="0" algn="l" rtl="0">
              <a:spcBef>
                <a:spcPts val="300"/>
              </a:spcBef>
              <a:spcAft>
                <a:spcPts val="0"/>
              </a:spcAft>
              <a:buClr>
                <a:schemeClr val="dk1"/>
              </a:buClr>
              <a:buSzPts val="1100"/>
              <a:buFont typeface="Arial"/>
              <a:buNone/>
            </a:pPr>
            <a:r>
              <a:rPr lang="de-CH" sz="1600"/>
              <a:t>All these are cases of unconditional probability. Everyone in the entire population has equal chance of being selected and no other factor can affect its selection.</a:t>
            </a:r>
            <a:endParaRPr sz="1600"/>
          </a:p>
          <a:p>
            <a:pPr marL="0" lvl="0" indent="0" algn="l" rtl="0">
              <a:spcBef>
                <a:spcPts val="0"/>
              </a:spcBef>
              <a:spcAft>
                <a:spcPts val="1600"/>
              </a:spcAft>
              <a:buNone/>
            </a:pPr>
            <a:endParaRPr/>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Shape 1193"/>
        <p:cNvGrpSpPr/>
        <p:nvPr/>
      </p:nvGrpSpPr>
      <p:grpSpPr>
        <a:xfrm>
          <a:off x="0" y="0"/>
          <a:ext cx="0" cy="0"/>
          <a:chOff x="0" y="0"/>
          <a:chExt cx="0" cy="0"/>
        </a:xfrm>
      </p:grpSpPr>
      <p:sp>
        <p:nvSpPr>
          <p:cNvPr id="1194" name="Google Shape;1194;p197"/>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dirty="0"/>
              <a:t>CONDITIONAL PROBABILITY</a:t>
            </a:r>
            <a:endParaRPr dirty="0"/>
          </a:p>
        </p:txBody>
      </p:sp>
      <p:sp>
        <p:nvSpPr>
          <p:cNvPr id="1195" name="Google Shape;1195;p197"/>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30200" algn="l" rtl="0">
              <a:spcBef>
                <a:spcPts val="300"/>
              </a:spcBef>
              <a:spcAft>
                <a:spcPts val="0"/>
              </a:spcAft>
              <a:buSzPts val="1600"/>
              <a:buChar char="●"/>
            </a:pPr>
            <a:r>
              <a:rPr lang="de-CH" sz="1600" dirty="0"/>
              <a:t>Conditional probability of an event B is the probability that the event will occur given the knowledge that an event A has already occurred.</a:t>
            </a:r>
            <a:endParaRPr sz="1600" dirty="0"/>
          </a:p>
          <a:p>
            <a:pPr marL="457200" lvl="0" indent="-330200" algn="l" rtl="0">
              <a:spcBef>
                <a:spcPts val="0"/>
              </a:spcBef>
              <a:spcAft>
                <a:spcPts val="0"/>
              </a:spcAft>
              <a:buSzPts val="1600"/>
              <a:buChar char="●"/>
            </a:pPr>
            <a:r>
              <a:rPr lang="de-CH" sz="1600" dirty="0"/>
              <a:t>Denoted as P(B|A) and read as </a:t>
            </a:r>
            <a:r>
              <a:rPr lang="de-CH" sz="1600" i="1" dirty="0"/>
              <a:t>probability of B given A.</a:t>
            </a:r>
            <a:endParaRPr sz="1600" i="1" dirty="0"/>
          </a:p>
          <a:p>
            <a:pPr marL="0" lvl="0" indent="0" algn="l" rtl="0">
              <a:spcBef>
                <a:spcPts val="300"/>
              </a:spcBef>
              <a:spcAft>
                <a:spcPts val="0"/>
              </a:spcAft>
              <a:buNone/>
            </a:pPr>
            <a:endParaRPr sz="1600" i="1" dirty="0"/>
          </a:p>
          <a:p>
            <a:pPr marL="0" lvl="0" indent="0" algn="l" rtl="0">
              <a:spcBef>
                <a:spcPts val="300"/>
              </a:spcBef>
              <a:spcAft>
                <a:spcPts val="0"/>
              </a:spcAft>
              <a:buNone/>
            </a:pPr>
            <a:endParaRPr sz="1600" i="1" dirty="0"/>
          </a:p>
          <a:p>
            <a:pPr marL="457200" lvl="0" indent="-330200" algn="l" rtl="0">
              <a:spcBef>
                <a:spcPts val="0"/>
              </a:spcBef>
              <a:spcAft>
                <a:spcPts val="0"/>
              </a:spcAft>
              <a:buSzPts val="1600"/>
              <a:buChar char="●"/>
            </a:pPr>
            <a:r>
              <a:rPr lang="de-CH" sz="1600" dirty="0"/>
              <a:t>Bayes’ theorem for finding conditional probability</a:t>
            </a:r>
            <a:endParaRPr sz="1600" dirty="0"/>
          </a:p>
          <a:p>
            <a:pPr marL="0" lvl="0" indent="0" algn="l" rtl="0">
              <a:spcBef>
                <a:spcPts val="300"/>
              </a:spcBef>
              <a:spcAft>
                <a:spcPts val="0"/>
              </a:spcAft>
              <a:buNone/>
            </a:pPr>
            <a:endParaRPr sz="1600" dirty="0"/>
          </a:p>
          <a:p>
            <a:pPr marL="0" lvl="0" indent="0" algn="l" rtl="0">
              <a:spcBef>
                <a:spcPts val="0"/>
              </a:spcBef>
              <a:spcAft>
                <a:spcPts val="1600"/>
              </a:spcAft>
              <a:buNone/>
            </a:pPr>
            <a:endParaRPr dirty="0"/>
          </a:p>
        </p:txBody>
      </p:sp>
      <p:pic>
        <p:nvPicPr>
          <p:cNvPr id="1196" name="Google Shape;1196;p197"/>
          <p:cNvPicPr preferRelativeResize="0"/>
          <p:nvPr/>
        </p:nvPicPr>
        <p:blipFill>
          <a:blip r:embed="rId3">
            <a:alphaModFix/>
          </a:blip>
          <a:stretch>
            <a:fillRect/>
          </a:stretch>
        </p:blipFill>
        <p:spPr>
          <a:xfrm>
            <a:off x="3215275" y="2204950"/>
            <a:ext cx="1908125" cy="619450"/>
          </a:xfrm>
          <a:prstGeom prst="rect">
            <a:avLst/>
          </a:prstGeom>
          <a:noFill/>
          <a:ln>
            <a:noFill/>
          </a:ln>
        </p:spPr>
      </p:pic>
      <p:pic>
        <p:nvPicPr>
          <p:cNvPr id="1197" name="Google Shape;1197;p197"/>
          <p:cNvPicPr preferRelativeResize="0"/>
          <p:nvPr/>
        </p:nvPicPr>
        <p:blipFill>
          <a:blip r:embed="rId4">
            <a:alphaModFix/>
          </a:blip>
          <a:stretch>
            <a:fillRect/>
          </a:stretch>
        </p:blipFill>
        <p:spPr>
          <a:xfrm>
            <a:off x="2935849" y="3786125"/>
            <a:ext cx="2959626" cy="619450"/>
          </a:xfrm>
          <a:prstGeom prst="rect">
            <a:avLst/>
          </a:prstGeom>
          <a:noFill/>
          <a:ln>
            <a:noFill/>
          </a:ln>
        </p:spPr>
      </p:pic>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Shape 1201"/>
        <p:cNvGrpSpPr/>
        <p:nvPr/>
      </p:nvGrpSpPr>
      <p:grpSpPr>
        <a:xfrm>
          <a:off x="0" y="0"/>
          <a:ext cx="0" cy="0"/>
          <a:chOff x="0" y="0"/>
          <a:chExt cx="0" cy="0"/>
        </a:xfrm>
      </p:grpSpPr>
      <p:sp>
        <p:nvSpPr>
          <p:cNvPr id="1202" name="Google Shape;1202;p198"/>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203" name="Google Shape;1203;p198"/>
          <p:cNvSpPr txBox="1">
            <a:spLocks noGrp="1"/>
          </p:cNvSpPr>
          <p:nvPr>
            <p:ph type="body" idx="1"/>
          </p:nvPr>
        </p:nvSpPr>
        <p:spPr>
          <a:prstGeom prst="rect">
            <a:avLst/>
          </a:prstGeom>
        </p:spPr>
        <p:txBody>
          <a:bodyPr spcFirstLastPara="1" wrap="square" lIns="91425" tIns="91425" rIns="91425" bIns="91425" anchor="t" anchorCtr="0">
            <a:noAutofit/>
          </a:bodyPr>
          <a:lstStyle/>
          <a:p>
            <a:pPr marL="114300" lvl="0" indent="0" algn="l" rtl="0">
              <a:spcBef>
                <a:spcPts val="300"/>
              </a:spcBef>
              <a:spcAft>
                <a:spcPts val="0"/>
              </a:spcAft>
              <a:buClr>
                <a:schemeClr val="dk1"/>
              </a:buClr>
              <a:buSzPts val="1100"/>
              <a:buFont typeface="Arial"/>
              <a:buNone/>
            </a:pPr>
            <a:r>
              <a:rPr lang="de-CH" sz="1600" b="1" dirty="0"/>
              <a:t>Eg2: </a:t>
            </a:r>
            <a:r>
              <a:rPr lang="de-CH" sz="1600" dirty="0"/>
              <a:t>Consider rolling a fair die. Let A be the event that the outcome is an odd number, i.e., A={1,3,5}. Also let B be the event that the outcome is less than or equal to 3, i.e., B={1,2,3}.</a:t>
            </a:r>
            <a:endParaRPr sz="1600" dirty="0"/>
          </a:p>
          <a:p>
            <a:pPr marL="114300" lvl="0" indent="0" algn="l" rtl="0">
              <a:spcBef>
                <a:spcPts val="300"/>
              </a:spcBef>
              <a:spcAft>
                <a:spcPts val="0"/>
              </a:spcAft>
              <a:buClr>
                <a:schemeClr val="dk1"/>
              </a:buClr>
              <a:buSzPts val="1100"/>
              <a:buFont typeface="Arial"/>
              <a:buNone/>
            </a:pPr>
            <a:r>
              <a:rPr lang="de-CH" sz="1600" dirty="0"/>
              <a:t>Then </a:t>
            </a:r>
            <a:r>
              <a:rPr lang="de-CH" sz="1600" i="1" dirty="0"/>
              <a:t>P(A|B) </a:t>
            </a:r>
            <a:r>
              <a:rPr lang="de-CH" sz="1600" dirty="0"/>
              <a:t>= 2/3</a:t>
            </a:r>
            <a:endParaRPr sz="1600" dirty="0"/>
          </a:p>
          <a:p>
            <a:pPr marL="0" lvl="0" indent="0" algn="l" rtl="0">
              <a:spcBef>
                <a:spcPts val="0"/>
              </a:spcBef>
              <a:spcAft>
                <a:spcPts val="1600"/>
              </a:spcAft>
              <a:buNone/>
            </a:pPr>
            <a:endParaRPr sz="160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Shape 1207"/>
        <p:cNvGrpSpPr/>
        <p:nvPr/>
      </p:nvGrpSpPr>
      <p:grpSpPr>
        <a:xfrm>
          <a:off x="0" y="0"/>
          <a:ext cx="0" cy="0"/>
          <a:chOff x="0" y="0"/>
          <a:chExt cx="0" cy="0"/>
        </a:xfrm>
      </p:grpSpPr>
      <p:sp>
        <p:nvSpPr>
          <p:cNvPr id="1208" name="Google Shape;1208;p199"/>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209" name="Google Shape;1209;p199"/>
          <p:cNvSpPr txBox="1">
            <a:spLocks noGrp="1"/>
          </p:cNvSpPr>
          <p:nvPr>
            <p:ph type="body" idx="1"/>
          </p:nvPr>
        </p:nvSpPr>
        <p:spPr>
          <a:prstGeom prst="rect">
            <a:avLst/>
          </a:prstGeom>
        </p:spPr>
        <p:txBody>
          <a:bodyPr spcFirstLastPara="1" wrap="square" lIns="91425" tIns="91425" rIns="91425" bIns="91425" anchor="t" anchorCtr="0">
            <a:noAutofit/>
          </a:bodyPr>
          <a:lstStyle/>
          <a:p>
            <a:pPr marL="114300" lvl="0" indent="0" algn="l" rtl="0">
              <a:spcBef>
                <a:spcPts val="300"/>
              </a:spcBef>
              <a:spcAft>
                <a:spcPts val="0"/>
              </a:spcAft>
              <a:buClr>
                <a:schemeClr val="dk1"/>
              </a:buClr>
              <a:buSzPts val="1100"/>
              <a:buFont typeface="Arial"/>
              <a:buNone/>
            </a:pPr>
            <a:r>
              <a:rPr lang="de-CH" sz="2000"/>
              <a:t>Considering the previous example,</a:t>
            </a:r>
            <a:endParaRPr sz="2000"/>
          </a:p>
          <a:p>
            <a:pPr marL="114300" lvl="0" indent="0" algn="l" rtl="0">
              <a:spcBef>
                <a:spcPts val="300"/>
              </a:spcBef>
              <a:spcAft>
                <a:spcPts val="0"/>
              </a:spcAft>
              <a:buClr>
                <a:schemeClr val="dk1"/>
              </a:buClr>
              <a:buSzPts val="1100"/>
              <a:buFont typeface="Arial"/>
              <a:buNone/>
            </a:pPr>
            <a:r>
              <a:rPr lang="de-CH" sz="2000"/>
              <a:t>Q. What is the probability of selecting a 9 year old from the sub-population of girls?</a:t>
            </a:r>
            <a:endParaRPr sz="2000"/>
          </a:p>
          <a:p>
            <a:pPr marL="0" lvl="0" indent="0" algn="l" rtl="0">
              <a:spcBef>
                <a:spcPts val="0"/>
              </a:spcBef>
              <a:spcAft>
                <a:spcPts val="1600"/>
              </a:spcAft>
              <a:buNone/>
            </a:pPr>
            <a:endParaRPr/>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1214" name="Google Shape;1214;p200"/>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RANDOM VARIABLES</a:t>
            </a:r>
            <a:endParaRPr/>
          </a:p>
        </p:txBody>
      </p:sp>
      <p:sp>
        <p:nvSpPr>
          <p:cNvPr id="1215" name="Google Shape;1215;p200"/>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30200" algn="l" rtl="0">
              <a:spcBef>
                <a:spcPts val="300"/>
              </a:spcBef>
              <a:spcAft>
                <a:spcPts val="0"/>
              </a:spcAft>
              <a:buSzPts val="1600"/>
              <a:buChar char="●"/>
            </a:pPr>
            <a:r>
              <a:rPr lang="de-CH" sz="1600" dirty="0"/>
              <a:t>A random variable is a numerical description of the outcome of a statistical experiment. </a:t>
            </a:r>
            <a:endParaRPr sz="1600" dirty="0"/>
          </a:p>
          <a:p>
            <a:pPr marL="0" lvl="0" indent="0" algn="l" rtl="0">
              <a:spcBef>
                <a:spcPts val="300"/>
              </a:spcBef>
              <a:spcAft>
                <a:spcPts val="0"/>
              </a:spcAft>
              <a:buClr>
                <a:schemeClr val="dk1"/>
              </a:buClr>
              <a:buSzPts val="1100"/>
              <a:buFont typeface="Arial"/>
              <a:buNone/>
            </a:pPr>
            <a:endParaRPr sz="1600" dirty="0"/>
          </a:p>
          <a:p>
            <a:pPr marL="457200" lvl="0" indent="-330200" algn="l" rtl="0">
              <a:spcBef>
                <a:spcPts val="300"/>
              </a:spcBef>
              <a:spcAft>
                <a:spcPts val="0"/>
              </a:spcAft>
              <a:buSzPts val="1600"/>
              <a:buChar char="●"/>
            </a:pPr>
            <a:r>
              <a:rPr lang="de-CH" sz="1600" dirty="0"/>
              <a:t>A random variable taking a finite number or infinite sequence of values is said to be </a:t>
            </a:r>
            <a:r>
              <a:rPr lang="de-CH" sz="1600" b="1" dirty="0"/>
              <a:t>discrete</a:t>
            </a:r>
            <a:r>
              <a:rPr lang="de-CH" sz="1600" dirty="0"/>
              <a:t>.</a:t>
            </a:r>
            <a:endParaRPr sz="1600" dirty="0"/>
          </a:p>
          <a:p>
            <a:pPr marL="0" lvl="0" indent="0" algn="l" rtl="0">
              <a:spcBef>
                <a:spcPts val="300"/>
              </a:spcBef>
              <a:spcAft>
                <a:spcPts val="0"/>
              </a:spcAft>
              <a:buNone/>
            </a:pPr>
            <a:r>
              <a:rPr lang="de-CH" sz="1600" dirty="0"/>
              <a:t>  Eg: Number of automobiles sold in a dealership</a:t>
            </a:r>
            <a:endParaRPr sz="1600" dirty="0"/>
          </a:p>
          <a:p>
            <a:pPr marL="0" lvl="0" indent="0" algn="l" rtl="0">
              <a:spcBef>
                <a:spcPts val="300"/>
              </a:spcBef>
              <a:spcAft>
                <a:spcPts val="0"/>
              </a:spcAft>
              <a:buClr>
                <a:schemeClr val="dk1"/>
              </a:buClr>
              <a:buSzPts val="1100"/>
              <a:buFont typeface="Arial"/>
              <a:buNone/>
            </a:pPr>
            <a:endParaRPr sz="1600" dirty="0"/>
          </a:p>
          <a:p>
            <a:pPr marL="457200" lvl="0" indent="-330200" algn="l" rtl="0">
              <a:spcBef>
                <a:spcPts val="300"/>
              </a:spcBef>
              <a:spcAft>
                <a:spcPts val="0"/>
              </a:spcAft>
              <a:buSzPts val="1600"/>
              <a:buChar char="●"/>
            </a:pPr>
            <a:r>
              <a:rPr lang="de-CH" sz="1600" dirty="0"/>
              <a:t>A random variable taking any value in an interval is said to be </a:t>
            </a:r>
            <a:r>
              <a:rPr lang="de-CH" sz="1600" b="1" dirty="0"/>
              <a:t>continuous</a:t>
            </a:r>
            <a:r>
              <a:rPr lang="de-CH" sz="1600" dirty="0"/>
              <a:t>.</a:t>
            </a:r>
            <a:endParaRPr sz="1600" dirty="0"/>
          </a:p>
          <a:p>
            <a:pPr marL="0" lvl="0" indent="0" algn="l" rtl="0">
              <a:spcBef>
                <a:spcPts val="300"/>
              </a:spcBef>
              <a:spcAft>
                <a:spcPts val="0"/>
              </a:spcAft>
              <a:buClr>
                <a:schemeClr val="dk1"/>
              </a:buClr>
              <a:buSzPts val="1100"/>
              <a:buFont typeface="Arial"/>
              <a:buNone/>
            </a:pPr>
            <a:r>
              <a:rPr lang="de-CH" sz="1600" dirty="0"/>
              <a:t>  Eg: Weight of a person in kilograms.</a:t>
            </a:r>
            <a:endParaRPr sz="1600" dirty="0"/>
          </a:p>
          <a:p>
            <a:pPr marL="0" lvl="0" indent="0" algn="l" rtl="0">
              <a:spcBef>
                <a:spcPts val="0"/>
              </a:spcBef>
              <a:spcAft>
                <a:spcPts val="1600"/>
              </a:spcAft>
              <a:buNone/>
            </a:pPr>
            <a:endParaRPr sz="160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Shape 1219"/>
        <p:cNvGrpSpPr/>
        <p:nvPr/>
      </p:nvGrpSpPr>
      <p:grpSpPr>
        <a:xfrm>
          <a:off x="0" y="0"/>
          <a:ext cx="0" cy="0"/>
          <a:chOff x="0" y="0"/>
          <a:chExt cx="0" cy="0"/>
        </a:xfrm>
      </p:grpSpPr>
      <p:sp>
        <p:nvSpPr>
          <p:cNvPr id="1220" name="Google Shape;1220;p201"/>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PROBABILITY DISTRIBUTIONS</a:t>
            </a:r>
            <a:endParaRPr/>
          </a:p>
        </p:txBody>
      </p:sp>
      <p:sp>
        <p:nvSpPr>
          <p:cNvPr id="1221" name="Google Shape;1221;p201"/>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300"/>
              </a:spcBef>
              <a:spcAft>
                <a:spcPts val="0"/>
              </a:spcAft>
              <a:buNone/>
            </a:pPr>
            <a:r>
              <a:rPr lang="de-CH" sz="1600"/>
              <a:t>They are statistical functions that describe the likelihood of obtaining possible values that a random variable can take.</a:t>
            </a:r>
            <a:endParaRPr sz="1600"/>
          </a:p>
          <a:p>
            <a:pPr marL="0" lvl="0" indent="0" algn="l" rtl="0">
              <a:spcBef>
                <a:spcPts val="300"/>
              </a:spcBef>
              <a:spcAft>
                <a:spcPts val="0"/>
              </a:spcAft>
              <a:buClr>
                <a:schemeClr val="dk1"/>
              </a:buClr>
              <a:buSzPts val="1100"/>
              <a:buFont typeface="Arial"/>
              <a:buNone/>
            </a:pPr>
            <a:endParaRPr sz="1600"/>
          </a:p>
          <a:p>
            <a:pPr marL="0" lvl="0" indent="0" algn="l" rtl="0">
              <a:spcBef>
                <a:spcPts val="300"/>
              </a:spcBef>
              <a:spcAft>
                <a:spcPts val="0"/>
              </a:spcAft>
              <a:buClr>
                <a:schemeClr val="dk1"/>
              </a:buClr>
              <a:buSzPts val="1100"/>
              <a:buFont typeface="Arial"/>
              <a:buNone/>
            </a:pPr>
            <a:r>
              <a:rPr lang="de-CH" sz="1600" i="1"/>
              <a:t>General properties of a probability distribution</a:t>
            </a:r>
            <a:endParaRPr sz="1600" i="1"/>
          </a:p>
          <a:p>
            <a:pPr marL="457200" lvl="0" indent="0" algn="l" rtl="0">
              <a:spcBef>
                <a:spcPts val="300"/>
              </a:spcBef>
              <a:spcAft>
                <a:spcPts val="0"/>
              </a:spcAft>
              <a:buClr>
                <a:schemeClr val="dk1"/>
              </a:buClr>
              <a:buSzPts val="1100"/>
              <a:buFont typeface="Arial"/>
              <a:buNone/>
            </a:pPr>
            <a:r>
              <a:rPr lang="de-CH" sz="1600">
                <a:solidFill>
                  <a:srgbClr val="A04DA3"/>
                </a:solidFill>
              </a:rPr>
              <a:t>i. </a:t>
            </a:r>
            <a:r>
              <a:rPr lang="de-CH" sz="1600"/>
              <a:t>Probability of an event will be non negative.</a:t>
            </a:r>
            <a:endParaRPr sz="1600"/>
          </a:p>
          <a:p>
            <a:pPr marL="457200" lvl="0" indent="0" algn="l" rtl="0">
              <a:spcBef>
                <a:spcPts val="300"/>
              </a:spcBef>
              <a:spcAft>
                <a:spcPts val="0"/>
              </a:spcAft>
              <a:buClr>
                <a:schemeClr val="dk1"/>
              </a:buClr>
              <a:buSzPts val="1100"/>
              <a:buFont typeface="Arial"/>
              <a:buNone/>
            </a:pPr>
            <a:r>
              <a:rPr lang="de-CH" sz="1600">
                <a:solidFill>
                  <a:srgbClr val="A04DA3"/>
                </a:solidFill>
              </a:rPr>
              <a:t>ii.</a:t>
            </a:r>
            <a:r>
              <a:rPr lang="de-CH" sz="1600"/>
              <a:t>The probability for a particular value or range of values must be between 0 and 1.</a:t>
            </a:r>
            <a:endParaRPr sz="1600"/>
          </a:p>
          <a:p>
            <a:pPr marL="457200" lvl="0" indent="0" algn="l" rtl="0">
              <a:spcBef>
                <a:spcPts val="300"/>
              </a:spcBef>
              <a:spcAft>
                <a:spcPts val="0"/>
              </a:spcAft>
              <a:buClr>
                <a:schemeClr val="dk1"/>
              </a:buClr>
              <a:buSzPts val="1100"/>
              <a:buFont typeface="Arial"/>
              <a:buNone/>
            </a:pPr>
            <a:r>
              <a:rPr lang="de-CH" sz="1600">
                <a:solidFill>
                  <a:srgbClr val="A04DA3"/>
                </a:solidFill>
              </a:rPr>
              <a:t>iii.</a:t>
            </a:r>
            <a:r>
              <a:rPr lang="de-CH" sz="1600"/>
              <a:t>The sum of all probabilities for all possible values must equal 1. </a:t>
            </a:r>
            <a:endParaRPr sz="1600"/>
          </a:p>
          <a:p>
            <a:pPr marL="0" lvl="0" indent="0" algn="l" rtl="0">
              <a:spcBef>
                <a:spcPts val="0"/>
              </a:spcBef>
              <a:spcAft>
                <a:spcPts val="1600"/>
              </a:spcAft>
              <a:buNone/>
            </a:pPr>
            <a:endParaRPr sz="160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Shape 1225"/>
        <p:cNvGrpSpPr/>
        <p:nvPr/>
      </p:nvGrpSpPr>
      <p:grpSpPr>
        <a:xfrm>
          <a:off x="0" y="0"/>
          <a:ext cx="0" cy="0"/>
          <a:chOff x="0" y="0"/>
          <a:chExt cx="0" cy="0"/>
        </a:xfrm>
      </p:grpSpPr>
      <p:sp>
        <p:nvSpPr>
          <p:cNvPr id="1226" name="Google Shape;1226;p202"/>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sz="4000"/>
              <a:t>Probability distribution of discrete random variables</a:t>
            </a:r>
            <a:endParaRPr sz="4000"/>
          </a:p>
        </p:txBody>
      </p:sp>
      <p:sp>
        <p:nvSpPr>
          <p:cNvPr id="1227" name="Google Shape;1227;p202"/>
          <p:cNvSpPr txBox="1">
            <a:spLocks noGrp="1"/>
          </p:cNvSpPr>
          <p:nvPr>
            <p:ph type="body" idx="1"/>
          </p:nvPr>
        </p:nvSpPr>
        <p:spPr>
          <a:xfrm>
            <a:off x="311700" y="1446225"/>
            <a:ext cx="8520600" cy="3354000"/>
          </a:xfrm>
          <a:prstGeom prst="rect">
            <a:avLst/>
          </a:prstGeom>
        </p:spPr>
        <p:txBody>
          <a:bodyPr spcFirstLastPara="1" wrap="square" lIns="91425" tIns="91425" rIns="91425" bIns="91425" anchor="t" anchorCtr="0">
            <a:noAutofit/>
          </a:bodyPr>
          <a:lstStyle/>
          <a:p>
            <a:pPr marL="0" lvl="0" indent="0" algn="l" rtl="0">
              <a:spcBef>
                <a:spcPts val="300"/>
              </a:spcBef>
              <a:spcAft>
                <a:spcPts val="0"/>
              </a:spcAft>
              <a:buClr>
                <a:schemeClr val="dk1"/>
              </a:buClr>
              <a:buSzPts val="1100"/>
              <a:buFont typeface="Arial"/>
              <a:buNone/>
            </a:pPr>
            <a:r>
              <a:rPr lang="de-CH" sz="1600" dirty="0"/>
              <a:t>The probability distribution of a discrete random variable is the list of all possible values of the variable and their probabilities which sum to 1.</a:t>
            </a:r>
            <a:endParaRPr sz="1600" dirty="0"/>
          </a:p>
          <a:p>
            <a:pPr marL="0" lvl="0" indent="0" algn="l" rtl="0">
              <a:spcBef>
                <a:spcPts val="300"/>
              </a:spcBef>
              <a:spcAft>
                <a:spcPts val="0"/>
              </a:spcAft>
              <a:buNone/>
            </a:pPr>
            <a:r>
              <a:rPr lang="de-CH" sz="1600" dirty="0"/>
              <a:t>The cumulative probability distribution function is the probability that the random variable is less than or equal to a particular value.</a:t>
            </a:r>
            <a:endParaRPr sz="1600" dirty="0"/>
          </a:p>
          <a:p>
            <a:pPr marL="0" lvl="0" indent="0" algn="l" rtl="0">
              <a:spcBef>
                <a:spcPts val="300"/>
              </a:spcBef>
              <a:spcAft>
                <a:spcPts val="0"/>
              </a:spcAft>
              <a:buClr>
                <a:schemeClr val="dk1"/>
              </a:buClr>
              <a:buSzPts val="1100"/>
              <a:buFont typeface="Arial"/>
              <a:buNone/>
            </a:pPr>
            <a:endParaRPr sz="1600" dirty="0"/>
          </a:p>
          <a:p>
            <a:pPr marL="0" lvl="0" indent="0" algn="l" rtl="0">
              <a:spcBef>
                <a:spcPts val="300"/>
              </a:spcBef>
              <a:spcAft>
                <a:spcPts val="0"/>
              </a:spcAft>
              <a:buClr>
                <a:schemeClr val="dk1"/>
              </a:buClr>
              <a:buSzPts val="1100"/>
              <a:buFont typeface="Arial"/>
              <a:buNone/>
            </a:pPr>
            <a:r>
              <a:rPr lang="de-CH" sz="1600" dirty="0"/>
              <a:t>Consider the rolling of a die.</a:t>
            </a:r>
            <a:endParaRPr sz="1600" dirty="0"/>
          </a:p>
          <a:p>
            <a:pPr marL="0" lvl="0" indent="0" algn="l" rtl="0">
              <a:spcBef>
                <a:spcPts val="300"/>
              </a:spcBef>
              <a:spcAft>
                <a:spcPts val="0"/>
              </a:spcAft>
              <a:buClr>
                <a:schemeClr val="dk1"/>
              </a:buClr>
              <a:buSzPts val="1100"/>
              <a:buFont typeface="Arial"/>
              <a:buNone/>
            </a:pPr>
            <a:r>
              <a:rPr lang="de-CH" sz="1600" dirty="0"/>
              <a:t>Sample space = {1,2,3,4,5,6}</a:t>
            </a:r>
            <a:endParaRPr sz="1600" dirty="0"/>
          </a:p>
          <a:p>
            <a:pPr marL="0" lvl="0" indent="0" algn="l" rtl="0">
              <a:spcBef>
                <a:spcPts val="300"/>
              </a:spcBef>
              <a:spcAft>
                <a:spcPts val="0"/>
              </a:spcAft>
              <a:buClr>
                <a:schemeClr val="dk1"/>
              </a:buClr>
              <a:buSzPts val="1100"/>
              <a:buFont typeface="Arial"/>
              <a:buNone/>
            </a:pPr>
            <a:r>
              <a:rPr lang="de-CH" sz="1600" dirty="0"/>
              <a:t>This contains 6 mutually exclusive outcomes. Let x be the random variable that denotes each point in the sample space.  </a:t>
            </a:r>
            <a:endParaRPr sz="1600" dirty="0"/>
          </a:p>
          <a:p>
            <a:pPr marL="0" lvl="0" indent="0" algn="l" rtl="0">
              <a:spcBef>
                <a:spcPts val="0"/>
              </a:spcBef>
              <a:spcAft>
                <a:spcPts val="1600"/>
              </a:spcAft>
              <a:buNone/>
            </a:pPr>
            <a:endParaRPr sz="160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Shape 1231"/>
        <p:cNvGrpSpPr/>
        <p:nvPr/>
      </p:nvGrpSpPr>
      <p:grpSpPr>
        <a:xfrm>
          <a:off x="0" y="0"/>
          <a:ext cx="0" cy="0"/>
          <a:chOff x="0" y="0"/>
          <a:chExt cx="0" cy="0"/>
        </a:xfrm>
      </p:grpSpPr>
      <p:sp>
        <p:nvSpPr>
          <p:cNvPr id="1232" name="Google Shape;1232;p203"/>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233" name="Google Shape;1233;p203"/>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300"/>
              </a:spcBef>
              <a:spcAft>
                <a:spcPts val="0"/>
              </a:spcAft>
              <a:buClr>
                <a:schemeClr val="dk1"/>
              </a:buClr>
              <a:buSzPts val="1100"/>
              <a:buFont typeface="Arial"/>
              <a:buNone/>
            </a:pPr>
            <a:r>
              <a:rPr lang="de-CH" sz="1600" dirty="0"/>
              <a:t>Then </a:t>
            </a:r>
            <a:r>
              <a:rPr lang="de-CH" sz="1600" b="1" dirty="0"/>
              <a:t>P(X=x) </a:t>
            </a:r>
            <a:r>
              <a:rPr lang="de-CH" sz="1600" dirty="0"/>
              <a:t>where x = {1,2,3,4,5,6}, is the probability that the random variable takes a value from the sample space and is called the probability mass function (PMF).</a:t>
            </a:r>
            <a:endParaRPr sz="1600" dirty="0"/>
          </a:p>
          <a:p>
            <a:pPr marL="0" lvl="0" indent="0" algn="l" rtl="0">
              <a:spcBef>
                <a:spcPts val="300"/>
              </a:spcBef>
              <a:spcAft>
                <a:spcPts val="0"/>
              </a:spcAft>
              <a:buClr>
                <a:schemeClr val="dk1"/>
              </a:buClr>
              <a:buSzPts val="1100"/>
              <a:buFont typeface="Arial"/>
              <a:buNone/>
            </a:pPr>
            <a:r>
              <a:rPr lang="de-CH" sz="1600" dirty="0"/>
              <a:t>CDF is given as </a:t>
            </a:r>
            <a:r>
              <a:rPr lang="de-CH" sz="1600" b="1" dirty="0"/>
              <a:t>P(X ≤x) </a:t>
            </a:r>
            <a:r>
              <a:rPr lang="de-CH" sz="1600" dirty="0"/>
              <a:t>where x = {1,2,3,4,5,6}</a:t>
            </a:r>
            <a:endParaRPr sz="1600" dirty="0"/>
          </a:p>
          <a:p>
            <a:pPr marL="0" lvl="0" indent="0" algn="l" rtl="0">
              <a:spcBef>
                <a:spcPts val="300"/>
              </a:spcBef>
              <a:spcAft>
                <a:spcPts val="0"/>
              </a:spcAft>
              <a:buClr>
                <a:schemeClr val="dk1"/>
              </a:buClr>
              <a:buSzPts val="1100"/>
              <a:buFont typeface="Arial"/>
              <a:buNone/>
            </a:pPr>
            <a:r>
              <a:rPr lang="de-CH" sz="1600" dirty="0"/>
              <a:t>PDF and CDF of a rolling die</a:t>
            </a:r>
            <a:endParaRPr sz="1600" dirty="0"/>
          </a:p>
          <a:p>
            <a:pPr marL="0" lvl="0" indent="0" algn="l" rtl="0">
              <a:spcBef>
                <a:spcPts val="0"/>
              </a:spcBef>
              <a:spcAft>
                <a:spcPts val="1600"/>
              </a:spcAft>
              <a:buNone/>
            </a:pPr>
            <a:endParaRPr sz="1600" dirty="0"/>
          </a:p>
        </p:txBody>
      </p:sp>
      <p:pic>
        <p:nvPicPr>
          <p:cNvPr id="1234" name="Google Shape;1234;p203"/>
          <p:cNvPicPr preferRelativeResize="0"/>
          <p:nvPr/>
        </p:nvPicPr>
        <p:blipFill>
          <a:blip r:embed="rId3">
            <a:alphaModFix/>
          </a:blip>
          <a:stretch>
            <a:fillRect/>
          </a:stretch>
        </p:blipFill>
        <p:spPr>
          <a:xfrm>
            <a:off x="401850" y="2571750"/>
            <a:ext cx="7894600" cy="1301425"/>
          </a:xfrm>
          <a:prstGeom prst="rect">
            <a:avLst/>
          </a:prstGeom>
          <a:noFill/>
          <a:ln>
            <a:noFill/>
          </a:ln>
        </p:spPr>
      </p:pic>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Shape 1246"/>
        <p:cNvGrpSpPr/>
        <p:nvPr/>
      </p:nvGrpSpPr>
      <p:grpSpPr>
        <a:xfrm>
          <a:off x="0" y="0"/>
          <a:ext cx="0" cy="0"/>
          <a:chOff x="0" y="0"/>
          <a:chExt cx="0" cy="0"/>
        </a:xfrm>
      </p:grpSpPr>
      <p:sp>
        <p:nvSpPr>
          <p:cNvPr id="1247" name="Google Shape;1247;p205"/>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Types of probability distributions</a:t>
            </a:r>
            <a:endParaRPr/>
          </a:p>
        </p:txBody>
      </p:sp>
      <p:sp>
        <p:nvSpPr>
          <p:cNvPr id="1248" name="Google Shape;1248;p205"/>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i="1" u="sng" dirty="0"/>
              <a:t>Bernoulli distribution</a:t>
            </a:r>
            <a:endParaRPr b="1" i="1" u="sng" dirty="0"/>
          </a:p>
          <a:p>
            <a:pPr marL="457200" lvl="0" indent="-330200" algn="l" rtl="0">
              <a:spcBef>
                <a:spcPts val="1600"/>
              </a:spcBef>
              <a:spcAft>
                <a:spcPts val="0"/>
              </a:spcAft>
              <a:buSzPts val="1600"/>
              <a:buChar char="●"/>
            </a:pPr>
            <a:r>
              <a:rPr lang="de-CH" sz="1600" dirty="0"/>
              <a:t>A bernoulli distribution has only 2 outcomes; success(1) or failure(0).</a:t>
            </a:r>
            <a:endParaRPr sz="1600" dirty="0"/>
          </a:p>
          <a:p>
            <a:pPr marL="457200" lvl="0" indent="-330200" algn="l" rtl="0">
              <a:spcBef>
                <a:spcPts val="0"/>
              </a:spcBef>
              <a:spcAft>
                <a:spcPts val="0"/>
              </a:spcAft>
              <a:buSzPts val="1600"/>
              <a:buChar char="●"/>
            </a:pPr>
            <a:r>
              <a:rPr lang="de-CH" sz="1600" dirty="0"/>
              <a:t>A random variable X with bernoulli distribution can take only 2 values: </a:t>
            </a:r>
            <a:r>
              <a:rPr lang="de-CH" sz="1600" i="1" dirty="0"/>
              <a:t>p</a:t>
            </a:r>
            <a:r>
              <a:rPr lang="de-CH" sz="1600" dirty="0"/>
              <a:t> (success) and </a:t>
            </a:r>
            <a:r>
              <a:rPr lang="de-CH" sz="1600" i="1" dirty="0"/>
              <a:t>q </a:t>
            </a:r>
            <a:r>
              <a:rPr lang="de-CH" sz="1600" dirty="0"/>
              <a:t>(failure) where</a:t>
            </a:r>
            <a:endParaRPr sz="1600" dirty="0"/>
          </a:p>
          <a:p>
            <a:pPr marL="457200" lvl="0" indent="-330200" algn="l" rtl="0">
              <a:spcBef>
                <a:spcPts val="0"/>
              </a:spcBef>
              <a:spcAft>
                <a:spcPts val="0"/>
              </a:spcAft>
              <a:buSzPts val="1600"/>
              <a:buChar char="●"/>
            </a:pPr>
            <a:r>
              <a:rPr lang="de-CH" sz="1600" i="1" dirty="0"/>
              <a:t>  q = 1-p</a:t>
            </a:r>
            <a:endParaRPr sz="1600" i="1" dirty="0"/>
          </a:p>
          <a:p>
            <a:pPr marL="457200" lvl="0" indent="-330200" algn="l" rtl="0">
              <a:spcBef>
                <a:spcPts val="0"/>
              </a:spcBef>
              <a:spcAft>
                <a:spcPts val="0"/>
              </a:spcAft>
              <a:buSzPts val="1600"/>
              <a:buChar char="●"/>
            </a:pPr>
            <a:r>
              <a:rPr lang="de-CH" sz="1600" dirty="0"/>
              <a:t>The values of p and q need not be the same(i.e., need not be equally likely)</a:t>
            </a:r>
            <a:endParaRPr sz="1600" dirty="0"/>
          </a:p>
          <a:p>
            <a:pPr marL="457200" lvl="0" indent="-330200" algn="l" rtl="0">
              <a:spcBef>
                <a:spcPts val="0"/>
              </a:spcBef>
              <a:spcAft>
                <a:spcPts val="0"/>
              </a:spcAft>
              <a:buSzPts val="1600"/>
              <a:buChar char="●"/>
            </a:pPr>
            <a:r>
              <a:rPr lang="de-CH" sz="1600" dirty="0"/>
              <a:t>The probability mass function is given by</a:t>
            </a:r>
            <a:endParaRPr sz="1600" dirty="0"/>
          </a:p>
          <a:p>
            <a:pPr marL="0" lvl="0" indent="0" algn="l" rtl="0">
              <a:spcBef>
                <a:spcPts val="0"/>
              </a:spcBef>
              <a:spcAft>
                <a:spcPts val="1600"/>
              </a:spcAft>
              <a:buNone/>
            </a:pPr>
            <a:endParaRPr sz="1600" dirty="0"/>
          </a:p>
        </p:txBody>
      </p:sp>
      <p:pic>
        <p:nvPicPr>
          <p:cNvPr id="1249" name="Google Shape;1249;p205"/>
          <p:cNvPicPr preferRelativeResize="0"/>
          <p:nvPr/>
        </p:nvPicPr>
        <p:blipFill>
          <a:blip r:embed="rId3">
            <a:alphaModFix/>
          </a:blip>
          <a:stretch>
            <a:fillRect/>
          </a:stretch>
        </p:blipFill>
        <p:spPr>
          <a:xfrm>
            <a:off x="2959363" y="3610938"/>
            <a:ext cx="2562225" cy="714375"/>
          </a:xfrm>
          <a:prstGeom prst="rect">
            <a:avLst/>
          </a:prstGeom>
          <a:noFill/>
          <a:ln>
            <a:noFill/>
          </a:ln>
        </p:spPr>
      </p:pic>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Shape 1253"/>
        <p:cNvGrpSpPr/>
        <p:nvPr/>
      </p:nvGrpSpPr>
      <p:grpSpPr>
        <a:xfrm>
          <a:off x="0" y="0"/>
          <a:ext cx="0" cy="0"/>
          <a:chOff x="0" y="0"/>
          <a:chExt cx="0" cy="0"/>
        </a:xfrm>
      </p:grpSpPr>
      <p:sp>
        <p:nvSpPr>
          <p:cNvPr id="1254" name="Google Shape;1254;p206"/>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255" name="Google Shape;1255;p206"/>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30200" algn="l" rtl="0">
              <a:spcBef>
                <a:spcPts val="300"/>
              </a:spcBef>
              <a:spcAft>
                <a:spcPts val="0"/>
              </a:spcAft>
              <a:buSzPts val="1600"/>
              <a:buChar char="●"/>
            </a:pPr>
            <a:r>
              <a:rPr lang="de-CH" sz="1600" dirty="0"/>
              <a:t>Expected value (mean) of X is </a:t>
            </a:r>
            <a:r>
              <a:rPr lang="de-CH" sz="1600" b="1" dirty="0"/>
              <a:t>E(X)=(1∗p)+(0∗(1-p))=p</a:t>
            </a:r>
            <a:endParaRPr sz="1600" b="1" dirty="0"/>
          </a:p>
          <a:p>
            <a:pPr marL="457200" lvl="0" indent="-330200" algn="l" rtl="0">
              <a:spcBef>
                <a:spcPts val="0"/>
              </a:spcBef>
              <a:spcAft>
                <a:spcPts val="0"/>
              </a:spcAft>
              <a:buSzPts val="1600"/>
              <a:buChar char="●"/>
            </a:pPr>
            <a:r>
              <a:rPr lang="de-CH" sz="1600" dirty="0"/>
              <a:t>Variance of X is </a:t>
            </a:r>
            <a:r>
              <a:rPr lang="de-CH" sz="1600" b="1" dirty="0"/>
              <a:t>V(X) = E(X ) - (E(X))</a:t>
            </a:r>
            <a:r>
              <a:rPr lang="de-CH" sz="1600" b="1" baseline="30000" dirty="0"/>
              <a:t>2 </a:t>
            </a:r>
            <a:r>
              <a:rPr lang="de-CH" sz="1600" b="1" dirty="0"/>
              <a:t>= p - p</a:t>
            </a:r>
            <a:r>
              <a:rPr lang="de-CH" sz="1600" b="1" baseline="30000" dirty="0"/>
              <a:t>2</a:t>
            </a:r>
            <a:r>
              <a:rPr lang="de-CH" sz="1600" b="1" dirty="0"/>
              <a:t> = p(1 - p)</a:t>
            </a:r>
            <a:endParaRPr sz="1600" b="1" dirty="0"/>
          </a:p>
          <a:p>
            <a:pPr marL="457200" lvl="0" indent="-330200" algn="l" rtl="0">
              <a:spcBef>
                <a:spcPts val="0"/>
              </a:spcBef>
              <a:spcAft>
                <a:spcPts val="0"/>
              </a:spcAft>
              <a:buSzPts val="1600"/>
              <a:buChar char="●"/>
            </a:pPr>
            <a:r>
              <a:rPr lang="de-CH" sz="1600" dirty="0"/>
              <a:t>All events that have exactly 2 outcomes can be expected to have a bernoulli distribution.</a:t>
            </a:r>
            <a:endParaRPr sz="1600" dirty="0"/>
          </a:p>
          <a:p>
            <a:pPr marL="0" lvl="0" indent="0" algn="l" rtl="0">
              <a:spcBef>
                <a:spcPts val="0"/>
              </a:spcBef>
              <a:spcAft>
                <a:spcPts val="1600"/>
              </a:spcAft>
              <a:buNone/>
            </a:pPr>
            <a:endParaRPr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Shape 1259"/>
        <p:cNvGrpSpPr/>
        <p:nvPr/>
      </p:nvGrpSpPr>
      <p:grpSpPr>
        <a:xfrm>
          <a:off x="0" y="0"/>
          <a:ext cx="0" cy="0"/>
          <a:chOff x="0" y="0"/>
          <a:chExt cx="0" cy="0"/>
        </a:xfrm>
      </p:grpSpPr>
      <p:sp>
        <p:nvSpPr>
          <p:cNvPr id="1260" name="Google Shape;1260;p207"/>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261" name="Google Shape;1261;p207"/>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i="1" u="sng"/>
              <a:t>Uniform distribution (Rectangular distribution)</a:t>
            </a:r>
            <a:endParaRPr b="1" i="1" u="sng"/>
          </a:p>
          <a:p>
            <a:pPr marL="457200" lvl="0" indent="-330200" algn="l" rtl="0">
              <a:spcBef>
                <a:spcPts val="1600"/>
              </a:spcBef>
              <a:spcAft>
                <a:spcPts val="0"/>
              </a:spcAft>
              <a:buSzPts val="1600"/>
              <a:buChar char="●"/>
            </a:pPr>
            <a:r>
              <a:rPr lang="de-CH" sz="1600"/>
              <a:t>All the possible outcomes of a uniform distribution are equally likely.</a:t>
            </a:r>
            <a:endParaRPr sz="1600"/>
          </a:p>
          <a:p>
            <a:pPr marL="457200" lvl="0" indent="-330200" algn="l" rtl="0">
              <a:spcBef>
                <a:spcPts val="0"/>
              </a:spcBef>
              <a:spcAft>
                <a:spcPts val="0"/>
              </a:spcAft>
              <a:buSzPts val="1600"/>
              <a:buChar char="●"/>
            </a:pPr>
            <a:r>
              <a:rPr lang="de-CH" sz="1600"/>
              <a:t>Probability of getting a number from 1 to 6 when rolling a die is a uniform distribution.</a:t>
            </a:r>
            <a:endParaRPr sz="1600"/>
          </a:p>
          <a:p>
            <a:pPr marL="457200" lvl="0" indent="-330200" algn="l" rtl="0">
              <a:spcBef>
                <a:spcPts val="0"/>
              </a:spcBef>
              <a:spcAft>
                <a:spcPts val="0"/>
              </a:spcAft>
              <a:buSzPts val="1600"/>
              <a:buChar char="●"/>
            </a:pPr>
            <a:r>
              <a:rPr lang="de-CH" sz="1600"/>
              <a:t>Its probability mass function is</a:t>
            </a:r>
            <a:endParaRPr sz="1600"/>
          </a:p>
          <a:p>
            <a:pPr marL="0" lvl="0" indent="0" algn="l" rtl="0">
              <a:spcBef>
                <a:spcPts val="0"/>
              </a:spcBef>
              <a:spcAft>
                <a:spcPts val="1600"/>
              </a:spcAft>
              <a:buNone/>
            </a:pPr>
            <a:endParaRPr/>
          </a:p>
        </p:txBody>
      </p:sp>
      <p:pic>
        <p:nvPicPr>
          <p:cNvPr id="1262" name="Google Shape;1262;p207"/>
          <p:cNvPicPr preferRelativeResize="0"/>
          <p:nvPr/>
        </p:nvPicPr>
        <p:blipFill>
          <a:blip r:embed="rId3">
            <a:alphaModFix/>
          </a:blip>
          <a:stretch>
            <a:fillRect/>
          </a:stretch>
        </p:blipFill>
        <p:spPr>
          <a:xfrm>
            <a:off x="1709500" y="3077308"/>
            <a:ext cx="4130075" cy="422100"/>
          </a:xfrm>
          <a:prstGeom prst="rect">
            <a:avLst/>
          </a:prstGeom>
          <a:noFill/>
          <a:ln>
            <a:noFill/>
          </a:ln>
        </p:spPr>
      </p:pic>
      <p:pic>
        <p:nvPicPr>
          <p:cNvPr id="1263" name="Google Shape;1263;p207"/>
          <p:cNvPicPr preferRelativeResize="0"/>
          <p:nvPr/>
        </p:nvPicPr>
        <p:blipFill>
          <a:blip r:embed="rId4">
            <a:alphaModFix/>
          </a:blip>
          <a:stretch>
            <a:fillRect/>
          </a:stretch>
        </p:blipFill>
        <p:spPr>
          <a:xfrm>
            <a:off x="2104074" y="3667449"/>
            <a:ext cx="3242509" cy="1273425"/>
          </a:xfrm>
          <a:prstGeom prst="rect">
            <a:avLst/>
          </a:prstGeom>
          <a:noFill/>
          <a:ln>
            <a:noFill/>
          </a:ln>
        </p:spPr>
      </p:pic>
    </p:spTree>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Shape 1267"/>
        <p:cNvGrpSpPr/>
        <p:nvPr/>
      </p:nvGrpSpPr>
      <p:grpSpPr>
        <a:xfrm>
          <a:off x="0" y="0"/>
          <a:ext cx="0" cy="0"/>
          <a:chOff x="0" y="0"/>
          <a:chExt cx="0" cy="0"/>
        </a:xfrm>
      </p:grpSpPr>
      <p:sp>
        <p:nvSpPr>
          <p:cNvPr id="1268" name="Google Shape;1268;p208"/>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269" name="Google Shape;1269;p208"/>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sz="1600"/>
              <a:t>Mean</a:t>
            </a:r>
            <a:endParaRPr sz="1600"/>
          </a:p>
          <a:p>
            <a:pPr marL="0" lvl="0" indent="0" algn="l" rtl="0">
              <a:spcBef>
                <a:spcPts val="1600"/>
              </a:spcBef>
              <a:spcAft>
                <a:spcPts val="0"/>
              </a:spcAft>
              <a:buNone/>
            </a:pPr>
            <a:endParaRPr sz="1600"/>
          </a:p>
          <a:p>
            <a:pPr marL="0" lvl="0" indent="0" algn="l" rtl="0">
              <a:spcBef>
                <a:spcPts val="1600"/>
              </a:spcBef>
              <a:spcAft>
                <a:spcPts val="0"/>
              </a:spcAft>
              <a:buNone/>
            </a:pPr>
            <a:r>
              <a:rPr lang="de-CH" sz="1600"/>
              <a:t>Variance</a:t>
            </a:r>
            <a:endParaRPr sz="1600"/>
          </a:p>
          <a:p>
            <a:pPr marL="0" lvl="0" indent="0" algn="l" rtl="0">
              <a:spcBef>
                <a:spcPts val="1600"/>
              </a:spcBef>
              <a:spcAft>
                <a:spcPts val="0"/>
              </a:spcAft>
              <a:buNone/>
            </a:pPr>
            <a:r>
              <a:rPr lang="de-CH" sz="1600"/>
              <a:t> </a:t>
            </a:r>
            <a:endParaRPr sz="1600"/>
          </a:p>
          <a:p>
            <a:pPr marL="457200" lvl="0" indent="-330200" algn="l" rtl="0">
              <a:spcBef>
                <a:spcPts val="1600"/>
              </a:spcBef>
              <a:spcAft>
                <a:spcPts val="0"/>
              </a:spcAft>
              <a:buSzPts val="1600"/>
              <a:buChar char="●"/>
            </a:pPr>
            <a:r>
              <a:rPr lang="de-CH" sz="1600"/>
              <a:t>A standard uniform density has parameters a=0 and b=1. So the PDF is given by</a:t>
            </a:r>
            <a:endParaRPr sz="1600"/>
          </a:p>
          <a:p>
            <a:pPr marL="0" lvl="0" indent="0" algn="l" rtl="0">
              <a:spcBef>
                <a:spcPts val="0"/>
              </a:spcBef>
              <a:spcAft>
                <a:spcPts val="1600"/>
              </a:spcAft>
              <a:buNone/>
            </a:pPr>
            <a:endParaRPr/>
          </a:p>
        </p:txBody>
      </p:sp>
      <p:pic>
        <p:nvPicPr>
          <p:cNvPr id="1270" name="Google Shape;1270;p208"/>
          <p:cNvPicPr preferRelativeResize="0"/>
          <p:nvPr/>
        </p:nvPicPr>
        <p:blipFill>
          <a:blip r:embed="rId3">
            <a:alphaModFix/>
          </a:blip>
          <a:stretch>
            <a:fillRect/>
          </a:stretch>
        </p:blipFill>
        <p:spPr>
          <a:xfrm>
            <a:off x="956075" y="1597300"/>
            <a:ext cx="1247825" cy="472150"/>
          </a:xfrm>
          <a:prstGeom prst="rect">
            <a:avLst/>
          </a:prstGeom>
          <a:noFill/>
          <a:ln>
            <a:noFill/>
          </a:ln>
        </p:spPr>
      </p:pic>
      <p:pic>
        <p:nvPicPr>
          <p:cNvPr id="1271" name="Google Shape;1271;p208"/>
          <p:cNvPicPr preferRelativeResize="0"/>
          <p:nvPr/>
        </p:nvPicPr>
        <p:blipFill>
          <a:blip r:embed="rId4">
            <a:alphaModFix/>
          </a:blip>
          <a:stretch>
            <a:fillRect/>
          </a:stretch>
        </p:blipFill>
        <p:spPr>
          <a:xfrm>
            <a:off x="905850" y="2620425"/>
            <a:ext cx="1515200" cy="528550"/>
          </a:xfrm>
          <a:prstGeom prst="rect">
            <a:avLst/>
          </a:prstGeom>
          <a:noFill/>
          <a:ln>
            <a:noFill/>
          </a:ln>
        </p:spPr>
      </p:pic>
      <p:pic>
        <p:nvPicPr>
          <p:cNvPr id="1272" name="Google Shape;1272;p208"/>
          <p:cNvPicPr preferRelativeResize="0"/>
          <p:nvPr/>
        </p:nvPicPr>
        <p:blipFill>
          <a:blip r:embed="rId5">
            <a:alphaModFix/>
          </a:blip>
          <a:stretch>
            <a:fillRect/>
          </a:stretch>
        </p:blipFill>
        <p:spPr>
          <a:xfrm>
            <a:off x="2849675" y="3733038"/>
            <a:ext cx="3143250" cy="771525"/>
          </a:xfrm>
          <a:prstGeom prst="rect">
            <a:avLst/>
          </a:prstGeom>
          <a:noFill/>
          <a:ln>
            <a:noFill/>
          </a:ln>
        </p:spPr>
      </p:pic>
    </p:spTree>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Shape 1276"/>
        <p:cNvGrpSpPr/>
        <p:nvPr/>
      </p:nvGrpSpPr>
      <p:grpSpPr>
        <a:xfrm>
          <a:off x="0" y="0"/>
          <a:ext cx="0" cy="0"/>
          <a:chOff x="0" y="0"/>
          <a:chExt cx="0" cy="0"/>
        </a:xfrm>
      </p:grpSpPr>
      <p:sp>
        <p:nvSpPr>
          <p:cNvPr id="1277" name="Google Shape;1277;p209"/>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278" name="Google Shape;1278;p209"/>
          <p:cNvSpPr txBox="1">
            <a:spLocks noGrp="1"/>
          </p:cNvSpPr>
          <p:nvPr>
            <p:ph type="body" idx="1"/>
          </p:nvPr>
        </p:nvSpPr>
        <p:spPr>
          <a:xfrm>
            <a:off x="311700" y="1255375"/>
            <a:ext cx="8520600" cy="335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i="1" u="sng"/>
              <a:t>Geometric distribution</a:t>
            </a:r>
            <a:endParaRPr b="1" i="1" u="sng"/>
          </a:p>
          <a:p>
            <a:pPr marL="457200" lvl="0" indent="-330200" algn="l" rtl="0">
              <a:lnSpc>
                <a:spcPct val="115000"/>
              </a:lnSpc>
              <a:spcBef>
                <a:spcPts val="1600"/>
              </a:spcBef>
              <a:spcAft>
                <a:spcPts val="0"/>
              </a:spcAft>
              <a:buSzPts val="1600"/>
              <a:buChar char="●"/>
            </a:pPr>
            <a:r>
              <a:rPr lang="de-CH" sz="1600"/>
              <a:t>It is a type of discrete probability distribution that represents the probability of the number of successive failures before a success is obtained in a Bernoulli trial.</a:t>
            </a:r>
            <a:endParaRPr sz="1600"/>
          </a:p>
          <a:p>
            <a:pPr marL="457200" lvl="0" indent="-330200" algn="l" rtl="0">
              <a:lnSpc>
                <a:spcPct val="115000"/>
              </a:lnSpc>
              <a:spcBef>
                <a:spcPts val="0"/>
              </a:spcBef>
              <a:spcAft>
                <a:spcPts val="0"/>
              </a:spcAft>
              <a:buSzPts val="1600"/>
              <a:buChar char="●"/>
            </a:pPr>
            <a:r>
              <a:rPr lang="de-CH" sz="1600"/>
              <a:t>In other words, in a geometric distribution, a Bernoulli trial is repeated until a success is obtained and then stopped.</a:t>
            </a:r>
            <a:endParaRPr sz="1600"/>
          </a:p>
          <a:p>
            <a:pPr marL="457200" lvl="0" indent="-330200" algn="l" rtl="0">
              <a:lnSpc>
                <a:spcPct val="115000"/>
              </a:lnSpc>
              <a:spcBef>
                <a:spcPts val="0"/>
              </a:spcBef>
              <a:spcAft>
                <a:spcPts val="0"/>
              </a:spcAft>
              <a:buSzPts val="1600"/>
              <a:buChar char="●"/>
            </a:pPr>
            <a:r>
              <a:rPr lang="de-CH" sz="1600"/>
              <a:t>It is based on 3 important assumptions:</a:t>
            </a:r>
            <a:endParaRPr sz="1600"/>
          </a:p>
          <a:p>
            <a:pPr marL="457200" lvl="0" indent="0" algn="l" rtl="0">
              <a:lnSpc>
                <a:spcPct val="115000"/>
              </a:lnSpc>
              <a:spcBef>
                <a:spcPts val="300"/>
              </a:spcBef>
              <a:spcAft>
                <a:spcPts val="0"/>
              </a:spcAft>
              <a:buClr>
                <a:schemeClr val="dk1"/>
              </a:buClr>
              <a:buSzPts val="1100"/>
              <a:buFont typeface="Arial"/>
              <a:buNone/>
            </a:pPr>
            <a:r>
              <a:rPr lang="de-CH" sz="1600">
                <a:solidFill>
                  <a:srgbClr val="438086"/>
                </a:solidFill>
              </a:rPr>
              <a:t>▫The trials being conducted are independent</a:t>
            </a:r>
            <a:endParaRPr sz="1600">
              <a:solidFill>
                <a:srgbClr val="438086"/>
              </a:solidFill>
            </a:endParaRPr>
          </a:p>
          <a:p>
            <a:pPr marL="457200" lvl="0" indent="0" algn="l" rtl="0">
              <a:lnSpc>
                <a:spcPct val="115000"/>
              </a:lnSpc>
              <a:spcBef>
                <a:spcPts val="300"/>
              </a:spcBef>
              <a:spcAft>
                <a:spcPts val="0"/>
              </a:spcAft>
              <a:buClr>
                <a:schemeClr val="dk1"/>
              </a:buClr>
              <a:buSzPts val="1100"/>
              <a:buFont typeface="Arial"/>
              <a:buNone/>
            </a:pPr>
            <a:r>
              <a:rPr lang="de-CH" sz="1600">
                <a:solidFill>
                  <a:srgbClr val="438086"/>
                </a:solidFill>
              </a:rPr>
              <a:t>▫There can only be 2 outcomes; success or failure.</a:t>
            </a:r>
            <a:endParaRPr sz="1600">
              <a:solidFill>
                <a:srgbClr val="438086"/>
              </a:solidFill>
            </a:endParaRPr>
          </a:p>
          <a:p>
            <a:pPr marL="457200" lvl="0" indent="0" algn="l" rtl="0">
              <a:lnSpc>
                <a:spcPct val="115000"/>
              </a:lnSpc>
              <a:spcBef>
                <a:spcPts val="300"/>
              </a:spcBef>
              <a:spcAft>
                <a:spcPts val="0"/>
              </a:spcAft>
              <a:buClr>
                <a:schemeClr val="dk1"/>
              </a:buClr>
              <a:buSzPts val="1100"/>
              <a:buFont typeface="Arial"/>
              <a:buNone/>
            </a:pPr>
            <a:r>
              <a:rPr lang="de-CH" sz="1600">
                <a:solidFill>
                  <a:srgbClr val="438086"/>
                </a:solidFill>
              </a:rPr>
              <a:t>▫The success probability is same for each trial.</a:t>
            </a:r>
            <a:endParaRPr sz="1600">
              <a:solidFill>
                <a:srgbClr val="438086"/>
              </a:solidFill>
            </a:endParaRPr>
          </a:p>
          <a:p>
            <a:pPr marL="457200" lvl="0" indent="-330200" algn="l" rtl="0">
              <a:lnSpc>
                <a:spcPct val="150000"/>
              </a:lnSpc>
              <a:spcBef>
                <a:spcPts val="300"/>
              </a:spcBef>
              <a:spcAft>
                <a:spcPts val="0"/>
              </a:spcAft>
              <a:buSzPts val="1600"/>
              <a:buChar char="●"/>
            </a:pPr>
            <a:r>
              <a:rPr lang="de-CH" sz="1600"/>
              <a:t>A geometric distribution can have an indefinite number of trials until the first success is obtained.</a:t>
            </a:r>
            <a:endParaRPr sz="1600"/>
          </a:p>
          <a:p>
            <a:pPr marL="0" lvl="0" indent="0" algn="l" rtl="0">
              <a:spcBef>
                <a:spcPts val="0"/>
              </a:spcBef>
              <a:spcAft>
                <a:spcPts val="1600"/>
              </a:spcAft>
              <a:buNone/>
            </a:pPr>
            <a:endParaRPr sz="1600"/>
          </a:p>
        </p:txBody>
      </p:sp>
    </p:spTree>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Shape 1282"/>
        <p:cNvGrpSpPr/>
        <p:nvPr/>
      </p:nvGrpSpPr>
      <p:grpSpPr>
        <a:xfrm>
          <a:off x="0" y="0"/>
          <a:ext cx="0" cy="0"/>
          <a:chOff x="0" y="0"/>
          <a:chExt cx="0" cy="0"/>
        </a:xfrm>
      </p:grpSpPr>
      <p:sp>
        <p:nvSpPr>
          <p:cNvPr id="1283" name="Google Shape;1283;p210"/>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284" name="Google Shape;1284;p210"/>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30200" algn="l" rtl="0">
              <a:spcBef>
                <a:spcPts val="300"/>
              </a:spcBef>
              <a:spcAft>
                <a:spcPts val="0"/>
              </a:spcAft>
              <a:buSzPts val="1600"/>
              <a:buChar char="●"/>
            </a:pPr>
            <a:r>
              <a:rPr lang="de-CH" sz="1600"/>
              <a:t>Example:</a:t>
            </a:r>
            <a:endParaRPr sz="1600"/>
          </a:p>
          <a:p>
            <a:pPr marL="114300" lvl="0" indent="0" algn="l" rtl="0">
              <a:spcBef>
                <a:spcPts val="300"/>
              </a:spcBef>
              <a:spcAft>
                <a:spcPts val="0"/>
              </a:spcAft>
              <a:buClr>
                <a:schemeClr val="dk1"/>
              </a:buClr>
              <a:buSzPts val="1100"/>
              <a:buFont typeface="Arial"/>
              <a:buNone/>
            </a:pPr>
            <a:r>
              <a:rPr lang="de-CH" sz="1600"/>
              <a:t>A die repeatedly rolled until a 3 is obtained.</a:t>
            </a:r>
            <a:endParaRPr sz="1600"/>
          </a:p>
          <a:p>
            <a:pPr marL="114300" lvl="0" indent="0" algn="l" rtl="0">
              <a:spcBef>
                <a:spcPts val="300"/>
              </a:spcBef>
              <a:spcAft>
                <a:spcPts val="0"/>
              </a:spcAft>
              <a:buNone/>
            </a:pPr>
            <a:r>
              <a:rPr lang="de-CH" sz="1600"/>
              <a:t>Here p=1/6 and the random variable X can take any value from 1 to 6 until the first success is obtained.</a:t>
            </a:r>
            <a:endParaRPr sz="1600"/>
          </a:p>
          <a:p>
            <a:pPr marL="457200" lvl="0" indent="-330200" algn="l" rtl="0">
              <a:spcBef>
                <a:spcPts val="300"/>
              </a:spcBef>
              <a:spcAft>
                <a:spcPts val="0"/>
              </a:spcAft>
              <a:buSzPts val="1600"/>
              <a:buChar char="●"/>
            </a:pPr>
            <a:r>
              <a:rPr lang="de-CH" sz="1600"/>
              <a:t>PMF:  P(X = x) = (1 - p)</a:t>
            </a:r>
            <a:r>
              <a:rPr lang="de-CH" sz="1600" baseline="30000"/>
              <a:t>(x - 1)</a:t>
            </a:r>
            <a:r>
              <a:rPr lang="de-CH" sz="1600"/>
              <a:t> p where 0 &lt; p ≤ 1</a:t>
            </a:r>
            <a:endParaRPr sz="1600"/>
          </a:p>
          <a:p>
            <a:pPr marL="457200" lvl="0" indent="-330200" algn="l" rtl="0">
              <a:spcBef>
                <a:spcPts val="0"/>
              </a:spcBef>
              <a:spcAft>
                <a:spcPts val="0"/>
              </a:spcAft>
              <a:buSzPts val="1600"/>
              <a:buChar char="●"/>
            </a:pPr>
            <a:r>
              <a:rPr lang="de-CH" sz="1600"/>
              <a:t>CDF: P(X ≤ x)=1 - (1 - p)</a:t>
            </a:r>
            <a:r>
              <a:rPr lang="de-CH" sz="1600" baseline="30000"/>
              <a:t>x</a:t>
            </a:r>
            <a:endParaRPr sz="1600" baseline="30000"/>
          </a:p>
          <a:p>
            <a:pPr marL="457200" lvl="0" indent="-330200" algn="l" rtl="0">
              <a:spcBef>
                <a:spcPts val="0"/>
              </a:spcBef>
              <a:spcAft>
                <a:spcPts val="0"/>
              </a:spcAft>
              <a:buSzPts val="1600"/>
              <a:buChar char="●"/>
            </a:pPr>
            <a:r>
              <a:rPr lang="de-CH" sz="1600"/>
              <a:t>Mean,  E(X) = 1/p</a:t>
            </a:r>
            <a:endParaRPr sz="1600"/>
          </a:p>
          <a:p>
            <a:pPr marL="457200" lvl="0" indent="-330200" algn="l" rtl="0">
              <a:spcBef>
                <a:spcPts val="0"/>
              </a:spcBef>
              <a:spcAft>
                <a:spcPts val="0"/>
              </a:spcAft>
              <a:buSzPts val="1600"/>
              <a:buChar char="●"/>
            </a:pPr>
            <a:r>
              <a:rPr lang="de-CH" sz="1600"/>
              <a:t>Variance, V(X) = (1 - p)/p</a:t>
            </a:r>
            <a:r>
              <a:rPr lang="de-CH" sz="1600" baseline="30000"/>
              <a:t>2</a:t>
            </a:r>
            <a:endParaRPr sz="1200" baseline="30000"/>
          </a:p>
          <a:p>
            <a:pPr marL="0" lvl="0" indent="0" algn="l" rtl="0">
              <a:spcBef>
                <a:spcPts val="0"/>
              </a:spcBef>
              <a:spcAft>
                <a:spcPts val="1600"/>
              </a:spcAft>
              <a:buNone/>
            </a:pPr>
            <a:endParaRPr sz="1600"/>
          </a:p>
        </p:txBody>
      </p:sp>
    </p:spTree>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Shape 1288"/>
        <p:cNvGrpSpPr/>
        <p:nvPr/>
      </p:nvGrpSpPr>
      <p:grpSpPr>
        <a:xfrm>
          <a:off x="0" y="0"/>
          <a:ext cx="0" cy="0"/>
          <a:chOff x="0" y="0"/>
          <a:chExt cx="0" cy="0"/>
        </a:xfrm>
      </p:grpSpPr>
      <p:sp>
        <p:nvSpPr>
          <p:cNvPr id="1289" name="Google Shape;1289;p211"/>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290" name="Google Shape;1290;p211"/>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i="1" u="sng"/>
              <a:t>Binomial distribution</a:t>
            </a:r>
            <a:endParaRPr b="1" i="1" u="sng"/>
          </a:p>
          <a:p>
            <a:pPr marL="457200" lvl="0" indent="-330200" algn="l" rtl="0">
              <a:lnSpc>
                <a:spcPct val="115000"/>
              </a:lnSpc>
              <a:spcBef>
                <a:spcPts val="1600"/>
              </a:spcBef>
              <a:spcAft>
                <a:spcPts val="0"/>
              </a:spcAft>
              <a:buSzPts val="1600"/>
              <a:buChar char="●"/>
            </a:pPr>
            <a:r>
              <a:rPr lang="de-CH" sz="1600"/>
              <a:t>A distribution with only 2 possible outcomes: success or failure where the probability of success or failure is same for all trials is a binomial distribution.</a:t>
            </a:r>
            <a:endParaRPr sz="1600"/>
          </a:p>
          <a:p>
            <a:pPr marL="457200" lvl="0" indent="-330200" algn="l" rtl="0">
              <a:lnSpc>
                <a:spcPct val="115000"/>
              </a:lnSpc>
              <a:spcBef>
                <a:spcPts val="0"/>
              </a:spcBef>
              <a:spcAft>
                <a:spcPts val="0"/>
              </a:spcAft>
              <a:buSzPts val="1600"/>
              <a:buChar char="●"/>
            </a:pPr>
            <a:r>
              <a:rPr lang="de-CH" sz="1600"/>
              <a:t>The outcomes need not be equally likely.</a:t>
            </a:r>
            <a:endParaRPr sz="1600"/>
          </a:p>
          <a:p>
            <a:pPr marL="457200" lvl="0" indent="-330200" algn="l" rtl="0">
              <a:lnSpc>
                <a:spcPct val="115000"/>
              </a:lnSpc>
              <a:spcBef>
                <a:spcPts val="0"/>
              </a:spcBef>
              <a:spcAft>
                <a:spcPts val="0"/>
              </a:spcAft>
              <a:buSzPts val="1600"/>
              <a:buChar char="●"/>
            </a:pPr>
            <a:r>
              <a:rPr lang="de-CH" sz="1600"/>
              <a:t>Consider a fight between you and wrestling champion; probability of you winning can be 0.2 and probability of losing will be 1-0.2=0.8.</a:t>
            </a:r>
            <a:endParaRPr sz="1600"/>
          </a:p>
          <a:p>
            <a:pPr marL="457200" lvl="0" indent="-330200" algn="l" rtl="0">
              <a:lnSpc>
                <a:spcPct val="115000"/>
              </a:lnSpc>
              <a:spcBef>
                <a:spcPts val="0"/>
              </a:spcBef>
              <a:spcAft>
                <a:spcPts val="0"/>
              </a:spcAft>
              <a:buSzPts val="1600"/>
              <a:buChar char="●"/>
            </a:pPr>
            <a:r>
              <a:rPr lang="de-CH" sz="1600"/>
              <a:t>The parameters of a binomial distribution are n and p; n is the total number of trials and p is the probability of success in each trial.</a:t>
            </a:r>
            <a:endParaRPr sz="1600"/>
          </a:p>
          <a:p>
            <a:pPr marL="0" lvl="0" indent="0" algn="l" rtl="0">
              <a:spcBef>
                <a:spcPts val="0"/>
              </a:spcBef>
              <a:spcAft>
                <a:spcPts val="1600"/>
              </a:spcAft>
              <a:buNone/>
            </a:pPr>
            <a:endParaRPr/>
          </a:p>
        </p:txBody>
      </p:sp>
    </p:spTree>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Shape 1294"/>
        <p:cNvGrpSpPr/>
        <p:nvPr/>
      </p:nvGrpSpPr>
      <p:grpSpPr>
        <a:xfrm>
          <a:off x="0" y="0"/>
          <a:ext cx="0" cy="0"/>
          <a:chOff x="0" y="0"/>
          <a:chExt cx="0" cy="0"/>
        </a:xfrm>
      </p:grpSpPr>
      <p:sp>
        <p:nvSpPr>
          <p:cNvPr id="1295" name="Google Shape;1295;p212"/>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296" name="Google Shape;1296;p212"/>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30200" algn="l" rtl="0">
              <a:lnSpc>
                <a:spcPct val="115000"/>
              </a:lnSpc>
              <a:spcBef>
                <a:spcPts val="300"/>
              </a:spcBef>
              <a:spcAft>
                <a:spcPts val="0"/>
              </a:spcAft>
              <a:buSzPts val="1600"/>
              <a:buChar char="●"/>
            </a:pPr>
            <a:r>
              <a:rPr lang="de-CH" sz="1600" dirty="0"/>
              <a:t>Properties of a binomial distribution:</a:t>
            </a:r>
            <a:endParaRPr sz="1600" dirty="0"/>
          </a:p>
          <a:p>
            <a:pPr marL="457200" lvl="0" indent="0" algn="l" rtl="0">
              <a:lnSpc>
                <a:spcPct val="115000"/>
              </a:lnSpc>
              <a:spcBef>
                <a:spcPts val="300"/>
              </a:spcBef>
              <a:spcAft>
                <a:spcPts val="0"/>
              </a:spcAft>
              <a:buClr>
                <a:schemeClr val="dk1"/>
              </a:buClr>
              <a:buSzPts val="1100"/>
              <a:buFont typeface="Arial"/>
              <a:buNone/>
            </a:pPr>
            <a:r>
              <a:rPr lang="de-CH" sz="1600" dirty="0">
                <a:solidFill>
                  <a:srgbClr val="438086"/>
                </a:solidFill>
              </a:rPr>
              <a:t>▫Each trial is independent</a:t>
            </a:r>
            <a:endParaRPr sz="1600" dirty="0">
              <a:solidFill>
                <a:srgbClr val="438086"/>
              </a:solidFill>
            </a:endParaRPr>
          </a:p>
          <a:p>
            <a:pPr marL="457200" lvl="0" indent="0" algn="l" rtl="0">
              <a:lnSpc>
                <a:spcPct val="115000"/>
              </a:lnSpc>
              <a:spcBef>
                <a:spcPts val="300"/>
              </a:spcBef>
              <a:spcAft>
                <a:spcPts val="0"/>
              </a:spcAft>
              <a:buClr>
                <a:schemeClr val="dk1"/>
              </a:buClr>
              <a:buSzPts val="1100"/>
              <a:buFont typeface="Arial"/>
              <a:buNone/>
            </a:pPr>
            <a:r>
              <a:rPr lang="de-CH" sz="1600" dirty="0">
                <a:solidFill>
                  <a:srgbClr val="438086"/>
                </a:solidFill>
              </a:rPr>
              <a:t>▫Only 2 possible outcomes are there; success or a failure</a:t>
            </a:r>
            <a:endParaRPr sz="1600" dirty="0">
              <a:solidFill>
                <a:srgbClr val="438086"/>
              </a:solidFill>
            </a:endParaRPr>
          </a:p>
          <a:p>
            <a:pPr marL="457200" lvl="0" indent="0" algn="l" rtl="0">
              <a:lnSpc>
                <a:spcPct val="115000"/>
              </a:lnSpc>
              <a:spcBef>
                <a:spcPts val="300"/>
              </a:spcBef>
              <a:spcAft>
                <a:spcPts val="0"/>
              </a:spcAft>
              <a:buClr>
                <a:schemeClr val="dk1"/>
              </a:buClr>
              <a:buSzPts val="1100"/>
              <a:buFont typeface="Arial"/>
              <a:buNone/>
            </a:pPr>
            <a:r>
              <a:rPr lang="de-CH" sz="1600" dirty="0">
                <a:solidFill>
                  <a:srgbClr val="438086"/>
                </a:solidFill>
              </a:rPr>
              <a:t>▫A total number of n identical trials are conducted.</a:t>
            </a:r>
            <a:endParaRPr sz="1600" dirty="0">
              <a:solidFill>
                <a:srgbClr val="438086"/>
              </a:solidFill>
            </a:endParaRPr>
          </a:p>
          <a:p>
            <a:pPr marL="457200" lvl="0" indent="0" algn="l" rtl="0">
              <a:lnSpc>
                <a:spcPct val="115000"/>
              </a:lnSpc>
              <a:spcBef>
                <a:spcPts val="300"/>
              </a:spcBef>
              <a:spcAft>
                <a:spcPts val="0"/>
              </a:spcAft>
              <a:buClr>
                <a:schemeClr val="dk1"/>
              </a:buClr>
              <a:buSzPts val="1100"/>
              <a:buFont typeface="Arial"/>
              <a:buNone/>
            </a:pPr>
            <a:r>
              <a:rPr lang="de-CH" sz="1600" dirty="0">
                <a:solidFill>
                  <a:srgbClr val="438086"/>
                </a:solidFill>
              </a:rPr>
              <a:t>▫The probability of success and failure is same for all trials.</a:t>
            </a:r>
            <a:endParaRPr sz="1600" dirty="0"/>
          </a:p>
          <a:p>
            <a:pPr marL="0" lvl="0" indent="0" algn="l" rtl="0">
              <a:lnSpc>
                <a:spcPct val="115000"/>
              </a:lnSpc>
              <a:spcBef>
                <a:spcPts val="300"/>
              </a:spcBef>
              <a:spcAft>
                <a:spcPts val="0"/>
              </a:spcAft>
              <a:buNone/>
            </a:pPr>
            <a:endParaRPr sz="1600" dirty="0"/>
          </a:p>
          <a:p>
            <a:pPr marL="457200" lvl="0" indent="-330200" algn="l" rtl="0">
              <a:lnSpc>
                <a:spcPct val="150000"/>
              </a:lnSpc>
              <a:spcBef>
                <a:spcPts val="300"/>
              </a:spcBef>
              <a:spcAft>
                <a:spcPts val="0"/>
              </a:spcAft>
              <a:buSzPts val="1600"/>
              <a:buChar char="●"/>
            </a:pPr>
            <a:r>
              <a:rPr lang="de-CH" sz="1600" dirty="0"/>
              <a:t>Mean E(x) = np</a:t>
            </a:r>
            <a:endParaRPr sz="1600" dirty="0"/>
          </a:p>
          <a:p>
            <a:pPr marL="457200" lvl="0" indent="-330200" algn="l" rtl="0">
              <a:lnSpc>
                <a:spcPct val="150000"/>
              </a:lnSpc>
              <a:spcBef>
                <a:spcPts val="0"/>
              </a:spcBef>
              <a:spcAft>
                <a:spcPts val="0"/>
              </a:spcAft>
              <a:buSzPts val="1600"/>
              <a:buChar char="●"/>
            </a:pPr>
            <a:r>
              <a:rPr lang="de-CH" sz="1600" dirty="0"/>
              <a:t>Variance V(x) = npq</a:t>
            </a:r>
            <a:endParaRPr sz="1600" dirty="0"/>
          </a:p>
          <a:p>
            <a:pPr marL="0" lvl="0" indent="0" algn="l" rtl="0">
              <a:lnSpc>
                <a:spcPct val="115000"/>
              </a:lnSpc>
              <a:spcBef>
                <a:spcPts val="300"/>
              </a:spcBef>
              <a:spcAft>
                <a:spcPts val="0"/>
              </a:spcAft>
              <a:buNone/>
            </a:pPr>
            <a:endParaRPr sz="1600" dirty="0"/>
          </a:p>
          <a:p>
            <a:pPr marL="0" lvl="0" indent="0" algn="l" rtl="0">
              <a:lnSpc>
                <a:spcPct val="115000"/>
              </a:lnSpc>
              <a:spcBef>
                <a:spcPts val="0"/>
              </a:spcBef>
              <a:spcAft>
                <a:spcPts val="1600"/>
              </a:spcAft>
              <a:buNone/>
            </a:pPr>
            <a:endParaRPr sz="1600" dirty="0"/>
          </a:p>
        </p:txBody>
      </p:sp>
    </p:spTree>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Shape 1301"/>
        <p:cNvGrpSpPr/>
        <p:nvPr/>
      </p:nvGrpSpPr>
      <p:grpSpPr>
        <a:xfrm>
          <a:off x="0" y="0"/>
          <a:ext cx="0" cy="0"/>
          <a:chOff x="0" y="0"/>
          <a:chExt cx="0" cy="0"/>
        </a:xfrm>
      </p:grpSpPr>
      <p:sp>
        <p:nvSpPr>
          <p:cNvPr id="1302" name="Google Shape;1302;p213"/>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303" name="Google Shape;1303;p213"/>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i="1" u="sng"/>
              <a:t>Poisson distribution</a:t>
            </a:r>
            <a:endParaRPr b="1" i="1" u="sng"/>
          </a:p>
          <a:p>
            <a:pPr marL="457200" lvl="0" indent="-330200" algn="l" rtl="0">
              <a:lnSpc>
                <a:spcPct val="115000"/>
              </a:lnSpc>
              <a:spcBef>
                <a:spcPts val="1600"/>
              </a:spcBef>
              <a:spcAft>
                <a:spcPts val="0"/>
              </a:spcAft>
              <a:buSzPts val="1600"/>
              <a:buChar char="●"/>
            </a:pPr>
            <a:r>
              <a:rPr lang="de-CH" sz="1600"/>
              <a:t>When events occur at random points of time and space and the no of occurrences of the event is the only thing that matters, then it follows a poisson distribution.</a:t>
            </a:r>
            <a:endParaRPr sz="1600"/>
          </a:p>
          <a:p>
            <a:pPr marL="457200" lvl="0" indent="-330200" algn="l" rtl="0">
              <a:lnSpc>
                <a:spcPct val="115000"/>
              </a:lnSpc>
              <a:spcBef>
                <a:spcPts val="0"/>
              </a:spcBef>
              <a:spcAft>
                <a:spcPts val="0"/>
              </a:spcAft>
              <a:buSzPts val="1600"/>
              <a:buChar char="●"/>
            </a:pPr>
            <a:r>
              <a:rPr lang="de-CH" sz="1600"/>
              <a:t>Eg: No of customers arriving in a restaurant, no of emergency calls recorded in a hospital in a day, etc.</a:t>
            </a:r>
            <a:endParaRPr sz="1600"/>
          </a:p>
          <a:p>
            <a:pPr marL="457200" lvl="0" indent="-330200" algn="l" rtl="0">
              <a:lnSpc>
                <a:spcPct val="115000"/>
              </a:lnSpc>
              <a:spcBef>
                <a:spcPts val="0"/>
              </a:spcBef>
              <a:spcAft>
                <a:spcPts val="0"/>
              </a:spcAft>
              <a:buSzPts val="1600"/>
              <a:buChar char="●"/>
            </a:pPr>
            <a:r>
              <a:rPr lang="de-CH" sz="1600"/>
              <a:t>A distribution is called poisson when the following are valid:</a:t>
            </a:r>
            <a:endParaRPr sz="1600"/>
          </a:p>
          <a:p>
            <a:pPr marL="457200" lvl="0" indent="0" algn="l" rtl="0">
              <a:lnSpc>
                <a:spcPct val="115000"/>
              </a:lnSpc>
              <a:spcBef>
                <a:spcPts val="300"/>
              </a:spcBef>
              <a:spcAft>
                <a:spcPts val="0"/>
              </a:spcAft>
              <a:buClr>
                <a:schemeClr val="dk1"/>
              </a:buClr>
              <a:buSzPts val="1100"/>
              <a:buFont typeface="Arial"/>
              <a:buNone/>
            </a:pPr>
            <a:r>
              <a:rPr lang="de-CH" sz="1600">
                <a:solidFill>
                  <a:srgbClr val="438086"/>
                </a:solidFill>
              </a:rPr>
              <a:t>▫Any successful event should not influence the outcome of another successful event.</a:t>
            </a:r>
            <a:endParaRPr sz="1600">
              <a:solidFill>
                <a:srgbClr val="438086"/>
              </a:solidFill>
            </a:endParaRPr>
          </a:p>
          <a:p>
            <a:pPr marL="457200" lvl="0" indent="0" algn="l" rtl="0">
              <a:lnSpc>
                <a:spcPct val="115000"/>
              </a:lnSpc>
              <a:spcBef>
                <a:spcPts val="300"/>
              </a:spcBef>
              <a:spcAft>
                <a:spcPts val="0"/>
              </a:spcAft>
              <a:buClr>
                <a:schemeClr val="dk1"/>
              </a:buClr>
              <a:buSzPts val="1100"/>
              <a:buFont typeface="Arial"/>
              <a:buNone/>
            </a:pPr>
            <a:r>
              <a:rPr lang="de-CH" sz="1600">
                <a:solidFill>
                  <a:srgbClr val="438086"/>
                </a:solidFill>
              </a:rPr>
              <a:t>▫The probability of success in an interval approaches zero as the interval becomes smaller.</a:t>
            </a:r>
            <a:endParaRPr sz="1600">
              <a:solidFill>
                <a:srgbClr val="438086"/>
              </a:solidFill>
            </a:endParaRPr>
          </a:p>
          <a:p>
            <a:pPr marL="457200" lvl="0" indent="0" algn="l" rtl="0">
              <a:lnSpc>
                <a:spcPct val="115000"/>
              </a:lnSpc>
              <a:spcBef>
                <a:spcPts val="300"/>
              </a:spcBef>
              <a:spcAft>
                <a:spcPts val="0"/>
              </a:spcAft>
              <a:buClr>
                <a:schemeClr val="dk1"/>
              </a:buClr>
              <a:buSzPts val="1100"/>
              <a:buFont typeface="Arial"/>
              <a:buNone/>
            </a:pPr>
            <a:r>
              <a:rPr lang="de-CH" sz="1600">
                <a:solidFill>
                  <a:srgbClr val="438086"/>
                </a:solidFill>
              </a:rPr>
              <a:t>▫2 events cannot happen at the same time.</a:t>
            </a:r>
            <a:endParaRPr sz="1600">
              <a:solidFill>
                <a:srgbClr val="438086"/>
              </a:solidFill>
            </a:endParaRPr>
          </a:p>
          <a:p>
            <a:pPr marL="457200" lvl="0" indent="0" algn="l" rtl="0">
              <a:lnSpc>
                <a:spcPct val="115000"/>
              </a:lnSpc>
              <a:spcBef>
                <a:spcPts val="300"/>
              </a:spcBef>
              <a:spcAft>
                <a:spcPts val="0"/>
              </a:spcAft>
              <a:buClr>
                <a:schemeClr val="dk1"/>
              </a:buClr>
              <a:buSzPts val="1100"/>
              <a:buFont typeface="Arial"/>
              <a:buNone/>
            </a:pPr>
            <a:endParaRPr sz="1600">
              <a:solidFill>
                <a:srgbClr val="438086"/>
              </a:solidFill>
            </a:endParaRPr>
          </a:p>
          <a:p>
            <a:pPr marL="0" lvl="0" indent="0" algn="l" rtl="0">
              <a:spcBef>
                <a:spcPts val="0"/>
              </a:spcBef>
              <a:spcAft>
                <a:spcPts val="1600"/>
              </a:spcAft>
              <a:buNone/>
            </a:pPr>
            <a:endParaRPr/>
          </a:p>
        </p:txBody>
      </p:sp>
    </p:spTree>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Shape 1307"/>
        <p:cNvGrpSpPr/>
        <p:nvPr/>
      </p:nvGrpSpPr>
      <p:grpSpPr>
        <a:xfrm>
          <a:off x="0" y="0"/>
          <a:ext cx="0" cy="0"/>
          <a:chOff x="0" y="0"/>
          <a:chExt cx="0" cy="0"/>
        </a:xfrm>
      </p:grpSpPr>
      <p:sp>
        <p:nvSpPr>
          <p:cNvPr id="1308" name="Google Shape;1308;p214"/>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309" name="Google Shape;1309;p214"/>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30200" algn="l" rtl="0">
              <a:lnSpc>
                <a:spcPct val="150000"/>
              </a:lnSpc>
              <a:spcBef>
                <a:spcPts val="300"/>
              </a:spcBef>
              <a:spcAft>
                <a:spcPts val="0"/>
              </a:spcAft>
              <a:buSzPts val="1600"/>
              <a:buChar char="●"/>
            </a:pPr>
            <a:r>
              <a:rPr lang="de-CH" sz="1600"/>
              <a:t>PMF of poisson distribution</a:t>
            </a:r>
            <a:endParaRPr sz="1600"/>
          </a:p>
          <a:p>
            <a:pPr marL="0" lvl="0" indent="0" algn="l" rtl="0">
              <a:lnSpc>
                <a:spcPct val="150000"/>
              </a:lnSpc>
              <a:spcBef>
                <a:spcPts val="300"/>
              </a:spcBef>
              <a:spcAft>
                <a:spcPts val="0"/>
              </a:spcAft>
              <a:buNone/>
            </a:pPr>
            <a:endParaRPr sz="2000">
              <a:latin typeface="Georgia"/>
              <a:ea typeface="Georgia"/>
              <a:cs typeface="Georgia"/>
              <a:sym typeface="Georgia"/>
            </a:endParaRPr>
          </a:p>
          <a:p>
            <a:pPr marL="457200" lvl="0" indent="0" algn="l" rtl="0">
              <a:lnSpc>
                <a:spcPct val="150000"/>
              </a:lnSpc>
              <a:spcBef>
                <a:spcPts val="300"/>
              </a:spcBef>
              <a:spcAft>
                <a:spcPts val="0"/>
              </a:spcAft>
              <a:buNone/>
            </a:pPr>
            <a:r>
              <a:rPr lang="de-CH" sz="1600"/>
              <a:t>where λ is the rate at which an event occurs and X is the number of events in a time interval t.</a:t>
            </a:r>
            <a:endParaRPr sz="1600"/>
          </a:p>
          <a:p>
            <a:pPr marL="457200" lvl="0" indent="-330200" algn="l" rtl="0">
              <a:lnSpc>
                <a:spcPct val="150000"/>
              </a:lnSpc>
              <a:spcBef>
                <a:spcPts val="300"/>
              </a:spcBef>
              <a:spcAft>
                <a:spcPts val="0"/>
              </a:spcAft>
              <a:buSzPts val="1600"/>
              <a:buChar char="●"/>
            </a:pPr>
            <a:r>
              <a:rPr lang="de-CH" sz="1600"/>
              <a:t>Mean E(x) = λ</a:t>
            </a:r>
            <a:endParaRPr sz="1600"/>
          </a:p>
          <a:p>
            <a:pPr marL="457200" lvl="0" indent="-330200" algn="l" rtl="0">
              <a:lnSpc>
                <a:spcPct val="150000"/>
              </a:lnSpc>
              <a:spcBef>
                <a:spcPts val="0"/>
              </a:spcBef>
              <a:spcAft>
                <a:spcPts val="0"/>
              </a:spcAft>
              <a:buSzPts val="1600"/>
              <a:buChar char="●"/>
            </a:pPr>
            <a:r>
              <a:rPr lang="de-CH" sz="1600"/>
              <a:t>Variance V(x) = λ</a:t>
            </a:r>
            <a:endParaRPr sz="1600"/>
          </a:p>
          <a:p>
            <a:pPr marL="457200" lvl="0" indent="0" algn="l" rtl="0">
              <a:lnSpc>
                <a:spcPct val="150000"/>
              </a:lnSpc>
              <a:spcBef>
                <a:spcPts val="300"/>
              </a:spcBef>
              <a:spcAft>
                <a:spcPts val="0"/>
              </a:spcAft>
              <a:buNone/>
            </a:pPr>
            <a:endParaRPr sz="1600"/>
          </a:p>
          <a:p>
            <a:pPr marL="0" lvl="0" indent="0" algn="l" rtl="0">
              <a:spcBef>
                <a:spcPts val="0"/>
              </a:spcBef>
              <a:spcAft>
                <a:spcPts val="1600"/>
              </a:spcAft>
              <a:buNone/>
            </a:pPr>
            <a:endParaRPr/>
          </a:p>
        </p:txBody>
      </p:sp>
    </p:spTree>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Shape 1314"/>
        <p:cNvGrpSpPr/>
        <p:nvPr/>
      </p:nvGrpSpPr>
      <p:grpSpPr>
        <a:xfrm>
          <a:off x="0" y="0"/>
          <a:ext cx="0" cy="0"/>
          <a:chOff x="0" y="0"/>
          <a:chExt cx="0" cy="0"/>
        </a:xfrm>
      </p:grpSpPr>
      <p:sp>
        <p:nvSpPr>
          <p:cNvPr id="1315" name="Google Shape;1315;p215"/>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316" name="Google Shape;1316;p215"/>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i="1" u="sng"/>
              <a:t>Normal distribution</a:t>
            </a:r>
            <a:endParaRPr b="1" i="1" u="sng"/>
          </a:p>
          <a:p>
            <a:pPr marL="457200" lvl="0" indent="-330200" algn="l" rtl="0">
              <a:spcBef>
                <a:spcPts val="1600"/>
              </a:spcBef>
              <a:spcAft>
                <a:spcPts val="0"/>
              </a:spcAft>
              <a:buSzPts val="1600"/>
              <a:buChar char="●"/>
            </a:pPr>
            <a:r>
              <a:rPr lang="de-CH" sz="1600"/>
              <a:t>Any distribution with the following features can be a normal distribution:</a:t>
            </a:r>
            <a:endParaRPr sz="1600"/>
          </a:p>
          <a:p>
            <a:pPr marL="457200" lvl="0" indent="0" algn="l" rtl="0">
              <a:spcBef>
                <a:spcPts val="300"/>
              </a:spcBef>
              <a:spcAft>
                <a:spcPts val="0"/>
              </a:spcAft>
              <a:buClr>
                <a:schemeClr val="dk1"/>
              </a:buClr>
              <a:buSzPts val="1100"/>
              <a:buFont typeface="Arial"/>
              <a:buNone/>
            </a:pPr>
            <a:r>
              <a:rPr lang="de-CH" sz="1600">
                <a:solidFill>
                  <a:srgbClr val="438086"/>
                </a:solidFill>
              </a:rPr>
              <a:t>▫The mean , median and mode of the distribution coincide</a:t>
            </a:r>
            <a:endParaRPr sz="1600">
              <a:solidFill>
                <a:srgbClr val="438086"/>
              </a:solidFill>
            </a:endParaRPr>
          </a:p>
          <a:p>
            <a:pPr marL="457200" lvl="0" indent="0" algn="l" rtl="0">
              <a:spcBef>
                <a:spcPts val="300"/>
              </a:spcBef>
              <a:spcAft>
                <a:spcPts val="0"/>
              </a:spcAft>
              <a:buClr>
                <a:schemeClr val="dk1"/>
              </a:buClr>
              <a:buSzPts val="1100"/>
              <a:buFont typeface="Arial"/>
              <a:buNone/>
            </a:pPr>
            <a:r>
              <a:rPr lang="de-CH" sz="1600">
                <a:solidFill>
                  <a:srgbClr val="438086"/>
                </a:solidFill>
              </a:rPr>
              <a:t>▫A bell-shaped distribution curve symmetrical about the line x = μ.</a:t>
            </a:r>
            <a:endParaRPr sz="1600">
              <a:solidFill>
                <a:srgbClr val="438086"/>
              </a:solidFill>
            </a:endParaRPr>
          </a:p>
          <a:p>
            <a:pPr marL="457200" lvl="0" indent="0" algn="l" rtl="0">
              <a:spcBef>
                <a:spcPts val="300"/>
              </a:spcBef>
              <a:spcAft>
                <a:spcPts val="0"/>
              </a:spcAft>
              <a:buClr>
                <a:schemeClr val="dk1"/>
              </a:buClr>
              <a:buSzPts val="1100"/>
              <a:buFont typeface="Arial"/>
              <a:buNone/>
            </a:pPr>
            <a:r>
              <a:rPr lang="de-CH" sz="1600">
                <a:solidFill>
                  <a:srgbClr val="438086"/>
                </a:solidFill>
              </a:rPr>
              <a:t>▫Total area under the curve =1</a:t>
            </a:r>
            <a:endParaRPr sz="1600">
              <a:solidFill>
                <a:srgbClr val="438086"/>
              </a:solidFill>
            </a:endParaRPr>
          </a:p>
          <a:p>
            <a:pPr marL="457200" lvl="0" indent="0" algn="l" rtl="0">
              <a:spcBef>
                <a:spcPts val="300"/>
              </a:spcBef>
              <a:spcAft>
                <a:spcPts val="0"/>
              </a:spcAft>
              <a:buClr>
                <a:schemeClr val="dk1"/>
              </a:buClr>
              <a:buSzPts val="1100"/>
              <a:buFont typeface="Arial"/>
              <a:buNone/>
            </a:pPr>
            <a:r>
              <a:rPr lang="de-CH" sz="1600">
                <a:solidFill>
                  <a:srgbClr val="438086"/>
                </a:solidFill>
              </a:rPr>
              <a:t>▫Exactly half of the values are to the left of the center and the other half to the right.</a:t>
            </a:r>
            <a:endParaRPr sz="1600">
              <a:solidFill>
                <a:srgbClr val="438086"/>
              </a:solidFill>
            </a:endParaRPr>
          </a:p>
          <a:p>
            <a:pPr marL="0" lvl="0" indent="0" algn="l" rtl="0">
              <a:spcBef>
                <a:spcPts val="0"/>
              </a:spcBef>
              <a:spcAft>
                <a:spcPts val="1600"/>
              </a:spcAft>
              <a:buNone/>
            </a:pPr>
            <a:endParaRPr/>
          </a:p>
        </p:txBody>
      </p:sp>
      <p:pic>
        <p:nvPicPr>
          <p:cNvPr id="1317" name="Google Shape;1317;p215"/>
          <p:cNvPicPr preferRelativeResize="0"/>
          <p:nvPr/>
        </p:nvPicPr>
        <p:blipFill>
          <a:blip r:embed="rId3">
            <a:alphaModFix/>
          </a:blip>
          <a:stretch>
            <a:fillRect/>
          </a:stretch>
        </p:blipFill>
        <p:spPr>
          <a:xfrm>
            <a:off x="2096850" y="3345275"/>
            <a:ext cx="3172301" cy="1647525"/>
          </a:xfrm>
          <a:prstGeom prst="rect">
            <a:avLst/>
          </a:prstGeom>
          <a:noFill/>
          <a:ln>
            <a:noFill/>
          </a:ln>
        </p:spPr>
      </p:pic>
    </p:spTree>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Shape 1321"/>
        <p:cNvGrpSpPr/>
        <p:nvPr/>
      </p:nvGrpSpPr>
      <p:grpSpPr>
        <a:xfrm>
          <a:off x="0" y="0"/>
          <a:ext cx="0" cy="0"/>
          <a:chOff x="0" y="0"/>
          <a:chExt cx="0" cy="0"/>
        </a:xfrm>
      </p:grpSpPr>
      <p:sp>
        <p:nvSpPr>
          <p:cNvPr id="1322" name="Google Shape;1322;p216"/>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323" name="Google Shape;1323;p216"/>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lnSpc>
                <a:spcPct val="150000"/>
              </a:lnSpc>
              <a:spcBef>
                <a:spcPts val="300"/>
              </a:spcBef>
              <a:spcAft>
                <a:spcPts val="0"/>
              </a:spcAft>
              <a:buNone/>
            </a:pPr>
            <a:endParaRPr sz="1600" dirty="0"/>
          </a:p>
          <a:p>
            <a:pPr marL="457200" lvl="0" indent="-330200" algn="l" rtl="0">
              <a:lnSpc>
                <a:spcPct val="150000"/>
              </a:lnSpc>
              <a:spcBef>
                <a:spcPts val="300"/>
              </a:spcBef>
              <a:spcAft>
                <a:spcPts val="0"/>
              </a:spcAft>
              <a:buSzPts val="1600"/>
              <a:buChar char="●"/>
            </a:pPr>
            <a:r>
              <a:rPr lang="de-CH" sz="1600" dirty="0"/>
              <a:t>Mean E(x) = μ</a:t>
            </a:r>
            <a:endParaRPr sz="1600" dirty="0"/>
          </a:p>
          <a:p>
            <a:pPr marL="457200" lvl="0" indent="-330200" algn="l" rtl="0">
              <a:lnSpc>
                <a:spcPct val="150000"/>
              </a:lnSpc>
              <a:spcBef>
                <a:spcPts val="0"/>
              </a:spcBef>
              <a:spcAft>
                <a:spcPts val="0"/>
              </a:spcAft>
              <a:buSzPts val="1600"/>
              <a:buChar char="●"/>
            </a:pPr>
            <a:r>
              <a:rPr lang="de-CH" sz="1600" dirty="0"/>
              <a:t>Variance V(x) = σ</a:t>
            </a:r>
            <a:r>
              <a:rPr lang="de-CH" sz="1600" baseline="30000" dirty="0"/>
              <a:t>2</a:t>
            </a:r>
            <a:endParaRPr sz="1600" baseline="30000" dirty="0"/>
          </a:p>
          <a:p>
            <a:pPr marL="457200" lvl="0" indent="-330200" algn="l" rtl="0">
              <a:lnSpc>
                <a:spcPct val="150000"/>
              </a:lnSpc>
              <a:spcBef>
                <a:spcPts val="0"/>
              </a:spcBef>
              <a:spcAft>
                <a:spcPts val="0"/>
              </a:spcAft>
              <a:buSzPts val="1600"/>
              <a:buChar char="●"/>
            </a:pPr>
            <a:r>
              <a:rPr lang="de-CH" sz="1600" dirty="0"/>
              <a:t>When mean is 0 and standard deviation is 1, the distribution is called a standard normal distribution. </a:t>
            </a:r>
            <a:endParaRPr sz="1600" dirty="0"/>
          </a:p>
        </p:txBody>
      </p:sp>
    </p:spTree>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Shape 1329"/>
        <p:cNvGrpSpPr/>
        <p:nvPr/>
      </p:nvGrpSpPr>
      <p:grpSpPr>
        <a:xfrm>
          <a:off x="0" y="0"/>
          <a:ext cx="0" cy="0"/>
          <a:chOff x="0" y="0"/>
          <a:chExt cx="0" cy="0"/>
        </a:xfrm>
      </p:grpSpPr>
      <p:sp>
        <p:nvSpPr>
          <p:cNvPr id="1330" name="Google Shape;1330;p217"/>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331" name="Google Shape;1331;p217"/>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i="1" u="sng"/>
              <a:t>Exponential distribution</a:t>
            </a:r>
            <a:endParaRPr b="1" i="1" u="sng"/>
          </a:p>
          <a:p>
            <a:pPr marL="457200" lvl="0" indent="-330200" algn="l" rtl="0">
              <a:spcBef>
                <a:spcPts val="1600"/>
              </a:spcBef>
              <a:spcAft>
                <a:spcPts val="0"/>
              </a:spcAft>
              <a:buSzPts val="1600"/>
              <a:buChar char="●"/>
            </a:pPr>
            <a:r>
              <a:rPr lang="de-CH" sz="1600"/>
              <a:t>It is the probability distribution of the time between the events in a poisson process.</a:t>
            </a:r>
            <a:endParaRPr sz="1600"/>
          </a:p>
          <a:p>
            <a:pPr marL="457200" lvl="0" indent="-330200" algn="l" rtl="0">
              <a:spcBef>
                <a:spcPts val="0"/>
              </a:spcBef>
              <a:spcAft>
                <a:spcPts val="0"/>
              </a:spcAft>
              <a:buSzPts val="1600"/>
              <a:buChar char="●"/>
            </a:pPr>
            <a:r>
              <a:rPr lang="de-CH" sz="1600"/>
              <a:t>The amount of time until the event occurs means during the waiting period, not a single event has happened. This is Poisson (X=0)</a:t>
            </a:r>
            <a:endParaRPr sz="1600"/>
          </a:p>
          <a:p>
            <a:pPr marL="457200" lvl="0" indent="-330200" algn="l" rtl="0">
              <a:spcBef>
                <a:spcPts val="0"/>
              </a:spcBef>
              <a:spcAft>
                <a:spcPts val="0"/>
              </a:spcAft>
              <a:buSzPts val="1600"/>
              <a:buChar char="●"/>
            </a:pPr>
            <a:r>
              <a:rPr lang="de-CH" sz="1600"/>
              <a:t>Eg: Length of time between metro arrivals, interval of time between the calls in a call centre etc.</a:t>
            </a:r>
            <a:endParaRPr sz="1600"/>
          </a:p>
          <a:p>
            <a:pPr marL="0" lvl="0" indent="0" algn="l" rtl="0">
              <a:spcBef>
                <a:spcPts val="0"/>
              </a:spcBef>
              <a:spcAft>
                <a:spcPts val="1600"/>
              </a:spcAft>
              <a:buNone/>
            </a:pPr>
            <a:endParaRPr/>
          </a:p>
        </p:txBody>
      </p:sp>
      <p:pic>
        <p:nvPicPr>
          <p:cNvPr id="1332" name="Google Shape;1332;p217"/>
          <p:cNvPicPr preferRelativeResize="0"/>
          <p:nvPr/>
        </p:nvPicPr>
        <p:blipFill>
          <a:blip r:embed="rId3">
            <a:alphaModFix/>
          </a:blip>
          <a:stretch>
            <a:fillRect/>
          </a:stretch>
        </p:blipFill>
        <p:spPr>
          <a:xfrm>
            <a:off x="3181275" y="3170125"/>
            <a:ext cx="3569575" cy="1749150"/>
          </a:xfrm>
          <a:prstGeom prst="rect">
            <a:avLst/>
          </a:prstGeom>
          <a:noFill/>
          <a:ln>
            <a:noFill/>
          </a:ln>
        </p:spPr>
      </p:pic>
    </p:spTree>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Shape 1336"/>
        <p:cNvGrpSpPr/>
        <p:nvPr/>
      </p:nvGrpSpPr>
      <p:grpSpPr>
        <a:xfrm>
          <a:off x="0" y="0"/>
          <a:ext cx="0" cy="0"/>
          <a:chOff x="0" y="0"/>
          <a:chExt cx="0" cy="0"/>
        </a:xfrm>
      </p:grpSpPr>
      <p:sp>
        <p:nvSpPr>
          <p:cNvPr id="1337" name="Google Shape;1337;p218"/>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338" name="Google Shape;1338;p218"/>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lnSpc>
                <a:spcPct val="150000"/>
              </a:lnSpc>
              <a:spcBef>
                <a:spcPts val="300"/>
              </a:spcBef>
              <a:spcAft>
                <a:spcPts val="0"/>
              </a:spcAft>
              <a:buNone/>
            </a:pPr>
            <a:endParaRPr sz="1600" dirty="0"/>
          </a:p>
          <a:p>
            <a:pPr marL="114300" lvl="0" indent="0" algn="l" rtl="0">
              <a:lnSpc>
                <a:spcPct val="150000"/>
              </a:lnSpc>
              <a:spcBef>
                <a:spcPts val="300"/>
              </a:spcBef>
              <a:spcAft>
                <a:spcPts val="0"/>
              </a:spcAft>
              <a:buClr>
                <a:schemeClr val="dk1"/>
              </a:buClr>
              <a:buSzPts val="1100"/>
              <a:buFont typeface="Arial"/>
              <a:buNone/>
            </a:pPr>
            <a:r>
              <a:rPr lang="de-CH" sz="1600" dirty="0"/>
              <a:t> where λ&gt;0 is called the rate</a:t>
            </a:r>
            <a:endParaRPr sz="1600" dirty="0"/>
          </a:p>
          <a:p>
            <a:pPr marL="457200" lvl="0" indent="-330200" algn="l" rtl="0">
              <a:lnSpc>
                <a:spcPct val="150000"/>
              </a:lnSpc>
              <a:spcBef>
                <a:spcPts val="300"/>
              </a:spcBef>
              <a:spcAft>
                <a:spcPts val="0"/>
              </a:spcAft>
              <a:buSzPts val="1600"/>
              <a:buChar char="●"/>
            </a:pPr>
            <a:r>
              <a:rPr lang="de-CH" sz="1600" dirty="0"/>
              <a:t>Mean E(x) = 1/ λ</a:t>
            </a:r>
            <a:endParaRPr sz="1600" dirty="0"/>
          </a:p>
          <a:p>
            <a:pPr marL="457200" lvl="0" indent="-330200" algn="l" rtl="0">
              <a:lnSpc>
                <a:spcPct val="150000"/>
              </a:lnSpc>
              <a:spcBef>
                <a:spcPts val="0"/>
              </a:spcBef>
              <a:spcAft>
                <a:spcPts val="0"/>
              </a:spcAft>
              <a:buSzPts val="1600"/>
              <a:buChar char="●"/>
            </a:pPr>
            <a:r>
              <a:rPr lang="de-CH" sz="1600" dirty="0"/>
              <a:t>Variance V(x) = 1/λ</a:t>
            </a:r>
            <a:r>
              <a:rPr lang="de-CH" sz="1600" baseline="30000" dirty="0"/>
              <a:t>2 </a:t>
            </a:r>
            <a:endParaRPr sz="1600" baseline="30000" dirty="0"/>
          </a:p>
          <a:p>
            <a:pPr marL="0" lvl="0" indent="0" algn="l" rtl="0">
              <a:spcBef>
                <a:spcPts val="0"/>
              </a:spcBef>
              <a:spcAft>
                <a:spcPts val="1600"/>
              </a:spcAft>
              <a:buNone/>
            </a:pPr>
            <a:endParaRPr dirty="0"/>
          </a:p>
        </p:txBody>
      </p:sp>
    </p:spTree>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Shape 1343"/>
        <p:cNvGrpSpPr/>
        <p:nvPr/>
      </p:nvGrpSpPr>
      <p:grpSpPr>
        <a:xfrm>
          <a:off x="0" y="0"/>
          <a:ext cx="0" cy="0"/>
          <a:chOff x="0" y="0"/>
          <a:chExt cx="0" cy="0"/>
        </a:xfrm>
      </p:grpSpPr>
      <p:sp>
        <p:nvSpPr>
          <p:cNvPr id="1344" name="Google Shape;1344;p219"/>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Covariance and Correlation</a:t>
            </a:r>
            <a:endParaRPr/>
          </a:p>
        </p:txBody>
      </p:sp>
      <p:grpSp>
        <p:nvGrpSpPr>
          <p:cNvPr id="1345" name="Google Shape;1345;p219"/>
          <p:cNvGrpSpPr/>
          <p:nvPr/>
        </p:nvGrpSpPr>
        <p:grpSpPr>
          <a:xfrm>
            <a:off x="550075" y="1203075"/>
            <a:ext cx="7693375" cy="3605450"/>
            <a:chOff x="473875" y="1363800"/>
            <a:chExt cx="7693375" cy="3605450"/>
          </a:xfrm>
        </p:grpSpPr>
        <p:pic>
          <p:nvPicPr>
            <p:cNvPr id="1346" name="Google Shape;1346;p219"/>
            <p:cNvPicPr preferRelativeResize="0"/>
            <p:nvPr/>
          </p:nvPicPr>
          <p:blipFill>
            <a:blip r:embed="rId3">
              <a:alphaModFix/>
            </a:blip>
            <a:stretch>
              <a:fillRect/>
            </a:stretch>
          </p:blipFill>
          <p:spPr>
            <a:xfrm>
              <a:off x="1193225" y="2200200"/>
              <a:ext cx="5929350" cy="2769050"/>
            </a:xfrm>
            <a:prstGeom prst="rect">
              <a:avLst/>
            </a:prstGeom>
            <a:noFill/>
            <a:ln>
              <a:noFill/>
            </a:ln>
          </p:spPr>
        </p:pic>
        <p:pic>
          <p:nvPicPr>
            <p:cNvPr id="1347" name="Google Shape;1347;p219"/>
            <p:cNvPicPr preferRelativeResize="0"/>
            <p:nvPr/>
          </p:nvPicPr>
          <p:blipFill>
            <a:blip r:embed="rId4">
              <a:alphaModFix/>
            </a:blip>
            <a:stretch>
              <a:fillRect/>
            </a:stretch>
          </p:blipFill>
          <p:spPr>
            <a:xfrm>
              <a:off x="473875" y="1363800"/>
              <a:ext cx="3287450" cy="670900"/>
            </a:xfrm>
            <a:prstGeom prst="rect">
              <a:avLst/>
            </a:prstGeom>
            <a:noFill/>
            <a:ln>
              <a:noFill/>
            </a:ln>
          </p:spPr>
        </p:pic>
        <p:pic>
          <p:nvPicPr>
            <p:cNvPr id="1348" name="Google Shape;1348;p219"/>
            <p:cNvPicPr preferRelativeResize="0"/>
            <p:nvPr/>
          </p:nvPicPr>
          <p:blipFill>
            <a:blip r:embed="rId5">
              <a:alphaModFix/>
            </a:blip>
            <a:stretch>
              <a:fillRect/>
            </a:stretch>
          </p:blipFill>
          <p:spPr>
            <a:xfrm>
              <a:off x="5539475" y="1384149"/>
              <a:ext cx="2627775" cy="739850"/>
            </a:xfrm>
            <a:prstGeom prst="rect">
              <a:avLst/>
            </a:prstGeom>
            <a:noFill/>
            <a:ln>
              <a:noFill/>
            </a:ln>
          </p:spPr>
        </p:pic>
      </p:grpSp>
    </p:spTree>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Shape 1352"/>
        <p:cNvGrpSpPr/>
        <p:nvPr/>
      </p:nvGrpSpPr>
      <p:grpSpPr>
        <a:xfrm>
          <a:off x="0" y="0"/>
          <a:ext cx="0" cy="0"/>
          <a:chOff x="0" y="0"/>
          <a:chExt cx="0" cy="0"/>
        </a:xfrm>
      </p:grpSpPr>
      <p:sp>
        <p:nvSpPr>
          <p:cNvPr id="1353" name="Google Shape;1353;p220"/>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Central Limit Theorem (CLT)</a:t>
            </a:r>
            <a:endParaRPr/>
          </a:p>
        </p:txBody>
      </p:sp>
      <p:sp>
        <p:nvSpPr>
          <p:cNvPr id="1354" name="Google Shape;1354;p220"/>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30200" algn="l" rtl="0">
              <a:spcBef>
                <a:spcPts val="300"/>
              </a:spcBef>
              <a:spcAft>
                <a:spcPts val="0"/>
              </a:spcAft>
              <a:buSzPts val="1600"/>
              <a:buChar char="●"/>
            </a:pPr>
            <a:r>
              <a:rPr lang="de-CH" sz="1600" i="1"/>
              <a:t>It states that the distribution of a sample variable approximates a normal distribution (bell curve) as the sample size becomes larger, regardless of the population's actual distribution shape.</a:t>
            </a:r>
            <a:endParaRPr sz="1600" i="1"/>
          </a:p>
          <a:p>
            <a:pPr marL="457200" lvl="0" indent="-330200" algn="l" rtl="0">
              <a:spcBef>
                <a:spcPts val="0"/>
              </a:spcBef>
              <a:spcAft>
                <a:spcPts val="0"/>
              </a:spcAft>
              <a:buSzPts val="1600"/>
              <a:buChar char="●"/>
            </a:pPr>
            <a:r>
              <a:rPr lang="de-CH" sz="1600"/>
              <a:t>Sample sizes equal to or greater than 30 are often considered sufficient for the CLT to hold.</a:t>
            </a:r>
            <a:endParaRPr sz="1600"/>
          </a:p>
          <a:p>
            <a:pPr marL="457200" lvl="0" indent="-330200" algn="l" rtl="0">
              <a:spcBef>
                <a:spcPts val="0"/>
              </a:spcBef>
              <a:spcAft>
                <a:spcPts val="0"/>
              </a:spcAft>
              <a:buSzPts val="1600"/>
              <a:buChar char="●"/>
            </a:pPr>
            <a:r>
              <a:rPr lang="de-CH" sz="1600"/>
              <a:t>The average of the sample means and standard deviations will equal the population mean and standard deviation which helps in accurately predicting the characteristics of populations.</a:t>
            </a:r>
            <a:endParaRPr sz="1600"/>
          </a:p>
          <a:p>
            <a:pPr marL="457200" lvl="0" indent="0" algn="l" rtl="0">
              <a:spcBef>
                <a:spcPts val="0"/>
              </a:spcBef>
              <a:spcAft>
                <a:spcPts val="1600"/>
              </a:spcAft>
              <a:buNone/>
            </a:pPr>
            <a:endParaRPr sz="1600"/>
          </a:p>
        </p:txBody>
      </p:sp>
    </p:spTree>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Shape 1358"/>
        <p:cNvGrpSpPr/>
        <p:nvPr/>
      </p:nvGrpSpPr>
      <p:grpSpPr>
        <a:xfrm>
          <a:off x="0" y="0"/>
          <a:ext cx="0" cy="0"/>
          <a:chOff x="0" y="0"/>
          <a:chExt cx="0" cy="0"/>
        </a:xfrm>
      </p:grpSpPr>
      <p:sp>
        <p:nvSpPr>
          <p:cNvPr id="1359" name="Google Shape;1359;p221"/>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Describing Frequencies</a:t>
            </a:r>
            <a:endParaRPr/>
          </a:p>
        </p:txBody>
      </p:sp>
      <p:sp>
        <p:nvSpPr>
          <p:cNvPr id="1360" name="Google Shape;1360;p221"/>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30200" algn="l" rtl="0">
              <a:spcBef>
                <a:spcPts val="300"/>
              </a:spcBef>
              <a:spcAft>
                <a:spcPts val="0"/>
              </a:spcAft>
              <a:buSzPts val="1600"/>
              <a:buChar char="●"/>
            </a:pPr>
            <a:r>
              <a:rPr lang="de-CH" sz="1600"/>
              <a:t>Frequency is the number of times a particular value for a variable has occurred.</a:t>
            </a:r>
            <a:endParaRPr sz="1600"/>
          </a:p>
          <a:p>
            <a:pPr marL="457200" lvl="0" indent="-330200" algn="l" rtl="0">
              <a:spcBef>
                <a:spcPts val="0"/>
              </a:spcBef>
              <a:spcAft>
                <a:spcPts val="0"/>
              </a:spcAft>
              <a:buSzPts val="1600"/>
              <a:buChar char="●"/>
            </a:pPr>
            <a:r>
              <a:rPr lang="de-CH" sz="1600"/>
              <a:t>Measurement of frequencies can be done in different ways.</a:t>
            </a:r>
            <a:endParaRPr sz="1600"/>
          </a:p>
          <a:p>
            <a:pPr marL="457200" lvl="0" indent="-330200" algn="l" rtl="0">
              <a:spcBef>
                <a:spcPts val="0"/>
              </a:spcBef>
              <a:spcAft>
                <a:spcPts val="0"/>
              </a:spcAft>
              <a:buSzPts val="1600"/>
              <a:buChar char="●"/>
            </a:pPr>
            <a:r>
              <a:rPr lang="de-CH" sz="1600" b="1"/>
              <a:t>Absolute frequency</a:t>
            </a:r>
            <a:r>
              <a:rPr lang="de-CH" sz="1600"/>
              <a:t>: It is the number of times a particular value for a variable has occurred. It is the simplest way to represent frequency.</a:t>
            </a:r>
            <a:endParaRPr sz="1600"/>
          </a:p>
          <a:p>
            <a:pPr marL="457200" lvl="0" indent="-330200" algn="l" rtl="0">
              <a:spcBef>
                <a:spcPts val="0"/>
              </a:spcBef>
              <a:spcAft>
                <a:spcPts val="0"/>
              </a:spcAft>
              <a:buSzPts val="1600"/>
              <a:buChar char="●"/>
            </a:pPr>
            <a:r>
              <a:rPr lang="de-CH" sz="1600" b="1"/>
              <a:t>Relative frequency</a:t>
            </a:r>
            <a:r>
              <a:rPr lang="de-CH" sz="1600"/>
              <a:t>: It is the number of times a particular value for a variable has been observed to occur in relation to the total number of values for that variable. It is calculated by dividing the absolute frequency by the total number of values for the variable.</a:t>
            </a:r>
            <a:endParaRPr sz="1600"/>
          </a:p>
          <a:p>
            <a:pPr marL="457200" lvl="0" indent="0" algn="l" rtl="0">
              <a:spcBef>
                <a:spcPts val="0"/>
              </a:spcBef>
              <a:spcAft>
                <a:spcPts val="1600"/>
              </a:spcAft>
              <a:buNone/>
            </a:pPr>
            <a:endParaRPr sz="1600"/>
          </a:p>
        </p:txBody>
      </p:sp>
    </p:spTree>
  </p:cSld>
  <p:clrMapOvr>
    <a:masterClrMapping/>
  </p:clrMapOvr>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Shape 1364"/>
        <p:cNvGrpSpPr/>
        <p:nvPr/>
      </p:nvGrpSpPr>
      <p:grpSpPr>
        <a:xfrm>
          <a:off x="0" y="0"/>
          <a:ext cx="0" cy="0"/>
          <a:chOff x="0" y="0"/>
          <a:chExt cx="0" cy="0"/>
        </a:xfrm>
      </p:grpSpPr>
      <p:sp>
        <p:nvSpPr>
          <p:cNvPr id="1365" name="Google Shape;1365;p222"/>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366" name="Google Shape;1366;p222"/>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sz="1600"/>
              <a:t>Methods of expressing relative frequency</a:t>
            </a:r>
            <a:endParaRPr sz="1600"/>
          </a:p>
          <a:p>
            <a:pPr marL="457200" lvl="0" indent="-330200" algn="l" rtl="0">
              <a:spcBef>
                <a:spcPts val="1600"/>
              </a:spcBef>
              <a:spcAft>
                <a:spcPts val="0"/>
              </a:spcAft>
              <a:buSzPts val="1600"/>
              <a:buFont typeface="Georgia"/>
              <a:buChar char="★"/>
            </a:pPr>
            <a:r>
              <a:rPr lang="de-CH" sz="1600" b="1" i="1"/>
              <a:t>Ratio </a:t>
            </a:r>
            <a:r>
              <a:rPr lang="de-CH" sz="1600"/>
              <a:t>: It compares the frequency of one value for a variable with another value for the variable.</a:t>
            </a:r>
            <a:endParaRPr sz="1600"/>
          </a:p>
          <a:p>
            <a:pPr marL="571500" lvl="0" indent="0" algn="l" rtl="0">
              <a:spcBef>
                <a:spcPts val="300"/>
              </a:spcBef>
              <a:spcAft>
                <a:spcPts val="0"/>
              </a:spcAft>
              <a:buClr>
                <a:schemeClr val="dk1"/>
              </a:buClr>
              <a:buSzPts val="1100"/>
              <a:buFont typeface="Arial"/>
              <a:buNone/>
            </a:pPr>
            <a:r>
              <a:rPr lang="de-CH" sz="1600" b="1"/>
              <a:t>Eg: </a:t>
            </a:r>
            <a:r>
              <a:rPr lang="de-CH" sz="1600"/>
              <a:t>In a total of 20 coin tosses where there are 12 heads and 8 tails, the ratio of heads to tails is 12:8.</a:t>
            </a:r>
            <a:endParaRPr sz="1600"/>
          </a:p>
          <a:p>
            <a:pPr marL="571500" lvl="0" indent="0" algn="l" rtl="0">
              <a:spcBef>
                <a:spcPts val="300"/>
              </a:spcBef>
              <a:spcAft>
                <a:spcPts val="0"/>
              </a:spcAft>
              <a:buClr>
                <a:schemeClr val="dk1"/>
              </a:buClr>
              <a:buSzPts val="1100"/>
              <a:buFont typeface="Arial"/>
              <a:buNone/>
            </a:pPr>
            <a:r>
              <a:rPr lang="de-CH" sz="1600"/>
              <a:t>Similarly, the ratio of tails to heads is 8:12.</a:t>
            </a:r>
            <a:endParaRPr sz="1600"/>
          </a:p>
          <a:p>
            <a:pPr marL="457200" lvl="0" indent="-330200" algn="l" rtl="0">
              <a:spcBef>
                <a:spcPts val="300"/>
              </a:spcBef>
              <a:spcAft>
                <a:spcPts val="0"/>
              </a:spcAft>
              <a:buSzPts val="1600"/>
              <a:buFont typeface="Georgia"/>
              <a:buChar char="★"/>
            </a:pPr>
            <a:r>
              <a:rPr lang="de-CH" sz="1600" b="1" i="1"/>
              <a:t>Rate: </a:t>
            </a:r>
            <a:r>
              <a:rPr lang="de-CH" sz="1600"/>
              <a:t>It is a measurement of one value for a variable in relation to another measured quantity.</a:t>
            </a:r>
            <a:endParaRPr sz="1600"/>
          </a:p>
          <a:p>
            <a:pPr marL="571500" lvl="0" indent="0" algn="l" rtl="0">
              <a:spcBef>
                <a:spcPts val="300"/>
              </a:spcBef>
              <a:spcAft>
                <a:spcPts val="0"/>
              </a:spcAft>
              <a:buClr>
                <a:schemeClr val="dk1"/>
              </a:buClr>
              <a:buSzPts val="1100"/>
              <a:buFont typeface="Arial"/>
              <a:buNone/>
            </a:pPr>
            <a:r>
              <a:rPr lang="de-CH" sz="1600"/>
              <a:t>Eg: In a total of 20 coin tosses where there are 12 heads and 8 tails, the rate is 12 heads per 20 coin tosses. Similarly, the rate is 8 tails per 20 coin tosses.</a:t>
            </a:r>
            <a:endParaRPr sz="1600"/>
          </a:p>
          <a:p>
            <a:pPr marL="457200" lvl="0" indent="0" algn="l" rtl="0">
              <a:spcBef>
                <a:spcPts val="0"/>
              </a:spcBef>
              <a:spcAft>
                <a:spcPts val="1600"/>
              </a:spcAft>
              <a:buNone/>
            </a:pPr>
            <a:endParaRPr sz="1600"/>
          </a:p>
        </p:txBody>
      </p:sp>
    </p:spTree>
  </p:cSld>
  <p:clrMapOvr>
    <a:masterClrMapping/>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Shape 1370"/>
        <p:cNvGrpSpPr/>
        <p:nvPr/>
      </p:nvGrpSpPr>
      <p:grpSpPr>
        <a:xfrm>
          <a:off x="0" y="0"/>
          <a:ext cx="0" cy="0"/>
          <a:chOff x="0" y="0"/>
          <a:chExt cx="0" cy="0"/>
        </a:xfrm>
      </p:grpSpPr>
      <p:sp>
        <p:nvSpPr>
          <p:cNvPr id="1371" name="Google Shape;1371;p223"/>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372" name="Google Shape;1372;p223"/>
          <p:cNvSpPr txBox="1">
            <a:spLocks noGrp="1"/>
          </p:cNvSpPr>
          <p:nvPr>
            <p:ph type="body" idx="1"/>
          </p:nvPr>
        </p:nvSpPr>
        <p:spPr>
          <a:prstGeom prst="rect">
            <a:avLst/>
          </a:prstGeom>
        </p:spPr>
        <p:txBody>
          <a:bodyPr spcFirstLastPara="1" wrap="square" lIns="91425" tIns="91425" rIns="91425" bIns="91425" anchor="t" anchorCtr="0">
            <a:noAutofit/>
          </a:bodyPr>
          <a:lstStyle/>
          <a:p>
            <a:pPr marL="457200" lvl="0" indent="-330200" algn="l" rtl="0">
              <a:spcBef>
                <a:spcPts val="300"/>
              </a:spcBef>
              <a:spcAft>
                <a:spcPts val="0"/>
              </a:spcAft>
              <a:buSzPts val="1600"/>
              <a:buChar char="★"/>
            </a:pPr>
            <a:r>
              <a:rPr lang="de-CH" sz="1600" b="1" i="1"/>
              <a:t>Proportion: </a:t>
            </a:r>
            <a:r>
              <a:rPr lang="de-CH" sz="1600"/>
              <a:t>It describes the share of one value for a variable in relation to a whole. It is calculated by dividing the number of times a particular value for a variable has been observed, by the total number of values in the population.</a:t>
            </a:r>
            <a:endParaRPr sz="1600"/>
          </a:p>
          <a:p>
            <a:pPr marL="571500" lvl="0" indent="0" algn="l" rtl="0">
              <a:spcBef>
                <a:spcPts val="300"/>
              </a:spcBef>
              <a:spcAft>
                <a:spcPts val="0"/>
              </a:spcAft>
              <a:buClr>
                <a:schemeClr val="dk1"/>
              </a:buClr>
              <a:buSzPts val="1100"/>
              <a:buFont typeface="Arial"/>
              <a:buNone/>
            </a:pPr>
            <a:r>
              <a:rPr lang="de-CH" sz="1600" b="1"/>
              <a:t>Eg: </a:t>
            </a:r>
            <a:r>
              <a:rPr lang="de-CH" sz="1600"/>
              <a:t>in a total of 20 coin tosses where there are 12 heads and 8 tails, the proportion of heads is 0.6 (12 divided by 20).</a:t>
            </a:r>
            <a:endParaRPr sz="1600"/>
          </a:p>
          <a:p>
            <a:pPr marL="571500" lvl="0" indent="0" algn="l" rtl="0">
              <a:spcBef>
                <a:spcPts val="300"/>
              </a:spcBef>
              <a:spcAft>
                <a:spcPts val="0"/>
              </a:spcAft>
              <a:buClr>
                <a:schemeClr val="dk1"/>
              </a:buClr>
              <a:buSzPts val="1100"/>
              <a:buFont typeface="Arial"/>
              <a:buNone/>
            </a:pPr>
            <a:r>
              <a:rPr lang="de-CH" sz="1600"/>
              <a:t>Similarly, the proportion of tails is 0.4 (8 divided by 20).</a:t>
            </a:r>
            <a:endParaRPr sz="1600">
              <a:solidFill>
                <a:srgbClr val="A04DA3"/>
              </a:solidFill>
            </a:endParaRPr>
          </a:p>
          <a:p>
            <a:pPr marL="457200" lvl="0" indent="-330200" algn="l" rtl="0">
              <a:spcBef>
                <a:spcPts val="300"/>
              </a:spcBef>
              <a:spcAft>
                <a:spcPts val="0"/>
              </a:spcAft>
              <a:buSzPts val="1600"/>
              <a:buChar char="★"/>
            </a:pPr>
            <a:r>
              <a:rPr lang="de-CH" sz="1600" b="1" i="1"/>
              <a:t>Percentage</a:t>
            </a:r>
            <a:r>
              <a:rPr lang="de-CH" sz="1600"/>
              <a:t>: It expresses a value for a variable in relation to a whole population as a fraction of one hundred.</a:t>
            </a:r>
            <a:endParaRPr sz="1600"/>
          </a:p>
          <a:p>
            <a:pPr marL="571500" lvl="0" indent="0" algn="l" rtl="0">
              <a:spcBef>
                <a:spcPts val="300"/>
              </a:spcBef>
              <a:spcAft>
                <a:spcPts val="0"/>
              </a:spcAft>
              <a:buClr>
                <a:schemeClr val="dk1"/>
              </a:buClr>
              <a:buSzPts val="1100"/>
              <a:buFont typeface="Arial"/>
              <a:buNone/>
            </a:pPr>
            <a:r>
              <a:rPr lang="de-CH" sz="1600" b="1"/>
              <a:t>Eg</a:t>
            </a:r>
            <a:r>
              <a:rPr lang="de-CH" sz="1600"/>
              <a:t>: In a total of 20 coin tosses where there are 12 heads and 8 tails, the percentage of heads is 60% (12 divided by 20, multiplied by 100). Alternatively, the percentage of tails is 40% (8 divided by 20, multiplied by 100).</a:t>
            </a:r>
            <a:endParaRPr sz="1600"/>
          </a:p>
          <a:p>
            <a:pPr marL="457200" lvl="0" indent="0" algn="l" rtl="0">
              <a:spcBef>
                <a:spcPts val="0"/>
              </a:spcBef>
              <a:spcAft>
                <a:spcPts val="1600"/>
              </a:spcAft>
              <a:buNone/>
            </a:pPr>
            <a:endParaRPr sz="1600"/>
          </a:p>
        </p:txBody>
      </p:sp>
    </p:spTree>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Shape 1376"/>
        <p:cNvGrpSpPr/>
        <p:nvPr/>
      </p:nvGrpSpPr>
      <p:grpSpPr>
        <a:xfrm>
          <a:off x="0" y="0"/>
          <a:ext cx="0" cy="0"/>
          <a:chOff x="0" y="0"/>
          <a:chExt cx="0" cy="0"/>
        </a:xfrm>
      </p:grpSpPr>
      <p:sp>
        <p:nvSpPr>
          <p:cNvPr id="1377" name="Google Shape;1377;p224"/>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MEASURE OF ERRORS</a:t>
            </a:r>
            <a:endParaRPr/>
          </a:p>
        </p:txBody>
      </p:sp>
      <p:sp>
        <p:nvSpPr>
          <p:cNvPr id="1378" name="Google Shape;1378;p224"/>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i="1" u="sng"/>
              <a:t>Absolute (Standard error)</a:t>
            </a:r>
            <a:endParaRPr b="1" i="1" u="sng"/>
          </a:p>
          <a:p>
            <a:pPr marL="0" lvl="0" indent="0" algn="l" rtl="0">
              <a:spcBef>
                <a:spcPts val="1600"/>
              </a:spcBef>
              <a:spcAft>
                <a:spcPts val="0"/>
              </a:spcAft>
              <a:buNone/>
            </a:pPr>
            <a:r>
              <a:rPr lang="de-CH"/>
              <a:t>It is the absolute difference between the measured value and true value of a quantity. </a:t>
            </a:r>
            <a:endParaRPr/>
          </a:p>
          <a:p>
            <a:pPr marL="0" lvl="0" indent="0" algn="l" rtl="0">
              <a:spcBef>
                <a:spcPts val="1600"/>
              </a:spcBef>
              <a:spcAft>
                <a:spcPts val="0"/>
              </a:spcAft>
              <a:buNone/>
            </a:pPr>
            <a:r>
              <a:rPr lang="de-CH" b="1" i="1" u="sng"/>
              <a:t>Random error</a:t>
            </a:r>
            <a:endParaRPr b="1" i="1" u="sng"/>
          </a:p>
          <a:p>
            <a:pPr marL="0" lvl="0" indent="0" algn="l" rtl="0">
              <a:spcBef>
                <a:spcPts val="1600"/>
              </a:spcBef>
              <a:spcAft>
                <a:spcPts val="1600"/>
              </a:spcAft>
              <a:buNone/>
            </a:pPr>
            <a:r>
              <a:rPr lang="de-CH" sz="1600">
                <a:highlight>
                  <a:srgbClr val="FFFFFF"/>
                </a:highlight>
              </a:rPr>
              <a:t>An error is considered random if the value of what is being measured sometimes goes up or sometimes goes down. Eg. Blood pressure of a healthy person may go up and down each time it is measured.</a:t>
            </a:r>
            <a:endParaRPr sz="1600"/>
          </a:p>
        </p:txBody>
      </p:sp>
    </p:spTree>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Shape 1382"/>
        <p:cNvGrpSpPr/>
        <p:nvPr/>
      </p:nvGrpSpPr>
      <p:grpSpPr>
        <a:xfrm>
          <a:off x="0" y="0"/>
          <a:ext cx="0" cy="0"/>
          <a:chOff x="0" y="0"/>
          <a:chExt cx="0" cy="0"/>
        </a:xfrm>
      </p:grpSpPr>
      <p:sp>
        <p:nvSpPr>
          <p:cNvPr id="1383" name="Google Shape;1383;p225"/>
          <p:cNvSpPr txBox="1">
            <a:spLocks noGrp="1"/>
          </p:cNvSpPr>
          <p:nvPr>
            <p:ph type="title"/>
          </p:nvPr>
        </p:nvSpPr>
        <p:spPr>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de-CH"/>
              <a:t>CONT...</a:t>
            </a:r>
            <a:endParaRPr/>
          </a:p>
        </p:txBody>
      </p:sp>
      <p:sp>
        <p:nvSpPr>
          <p:cNvPr id="1384" name="Google Shape;1384;p225"/>
          <p:cNvSpPr txBox="1">
            <a:spLocks noGrp="1"/>
          </p:cNvSpPr>
          <p:nvPr>
            <p:ph type="body" idx="1"/>
          </p:nvPr>
        </p:nvSpPr>
        <p:spPr>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de-CH" b="1" i="1" u="sng"/>
              <a:t>Constant error</a:t>
            </a:r>
            <a:endParaRPr b="1" i="1" u="sng"/>
          </a:p>
          <a:p>
            <a:pPr marL="0" lvl="0" indent="0" algn="l" rtl="0">
              <a:spcBef>
                <a:spcPts val="1600"/>
              </a:spcBef>
              <a:spcAft>
                <a:spcPts val="0"/>
              </a:spcAft>
              <a:buNone/>
            </a:pPr>
            <a:r>
              <a:rPr lang="de-CH" sz="1600"/>
              <a:t>It cause measurements to deviate constantly from the true value. Eg: measuring device errors.</a:t>
            </a:r>
            <a:endParaRPr sz="1600"/>
          </a:p>
          <a:p>
            <a:pPr marL="0" lvl="0" indent="0" algn="l" rtl="0">
              <a:spcBef>
                <a:spcPts val="1600"/>
              </a:spcBef>
              <a:spcAft>
                <a:spcPts val="0"/>
              </a:spcAft>
              <a:buNone/>
            </a:pPr>
            <a:r>
              <a:rPr lang="de-CH" b="1" i="1" u="sng"/>
              <a:t>Relative error</a:t>
            </a:r>
            <a:endParaRPr b="1" i="1" u="sng"/>
          </a:p>
          <a:p>
            <a:pPr marL="0" lvl="0" indent="0" algn="l" rtl="0">
              <a:spcBef>
                <a:spcPts val="1600"/>
              </a:spcBef>
              <a:spcAft>
                <a:spcPts val="0"/>
              </a:spcAft>
              <a:buNone/>
            </a:pPr>
            <a:r>
              <a:rPr lang="de-CH" sz="1600">
                <a:highlight>
                  <a:srgbClr val="FFFFFF"/>
                </a:highlight>
              </a:rPr>
              <a:t>It is defined as the ratio of the absolute error of the measurement to the actual measurement.</a:t>
            </a:r>
            <a:endParaRPr sz="1600">
              <a:highlight>
                <a:srgbClr val="FFFFFF"/>
              </a:highlight>
            </a:endParaRPr>
          </a:p>
          <a:p>
            <a:pPr marL="0" lvl="0" indent="0" algn="l" rtl="0">
              <a:spcBef>
                <a:spcPts val="1600"/>
              </a:spcBef>
              <a:spcAft>
                <a:spcPts val="0"/>
              </a:spcAft>
              <a:buNone/>
            </a:pPr>
            <a:r>
              <a:rPr lang="de-CH" sz="1600" b="1" i="1" u="sng">
                <a:highlight>
                  <a:srgbClr val="FFFFFF"/>
                </a:highlight>
              </a:rPr>
              <a:t>Percentage error</a:t>
            </a:r>
            <a:endParaRPr sz="1600" b="1" i="1" u="sng">
              <a:highlight>
                <a:srgbClr val="FFFFFF"/>
              </a:highlight>
            </a:endParaRPr>
          </a:p>
          <a:p>
            <a:pPr marL="0" lvl="0" indent="0" algn="l" rtl="0">
              <a:spcBef>
                <a:spcPts val="1600"/>
              </a:spcBef>
              <a:spcAft>
                <a:spcPts val="0"/>
              </a:spcAft>
              <a:buNone/>
            </a:pPr>
            <a:r>
              <a:rPr lang="de-CH" sz="1600">
                <a:highlight>
                  <a:srgbClr val="FFFFFF"/>
                </a:highlight>
              </a:rPr>
              <a:t>It is relative error expressed in percentage.</a:t>
            </a:r>
            <a:endParaRPr sz="1600">
              <a:highlight>
                <a:srgbClr val="FFFFFF"/>
              </a:highlight>
            </a:endParaRPr>
          </a:p>
          <a:p>
            <a:pPr marL="0" lvl="0" indent="0" algn="l" rtl="0">
              <a:spcBef>
                <a:spcPts val="1600"/>
              </a:spcBef>
              <a:spcAft>
                <a:spcPts val="0"/>
              </a:spcAft>
              <a:buNone/>
            </a:pPr>
            <a:endParaRPr sz="1600">
              <a:highlight>
                <a:srgbClr val="FFFFFF"/>
              </a:highlight>
            </a:endParaRPr>
          </a:p>
          <a:p>
            <a:pPr marL="0" lvl="0" indent="0" algn="l" rtl="0">
              <a:spcBef>
                <a:spcPts val="1600"/>
              </a:spcBef>
              <a:spcAft>
                <a:spcPts val="1600"/>
              </a:spcAft>
              <a:buNone/>
            </a:pPr>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148</TotalTime>
  <Words>15079</Words>
  <Application>Microsoft Office PowerPoint</Application>
  <PresentationFormat>On-screen Show (16:9)</PresentationFormat>
  <Paragraphs>1209</Paragraphs>
  <Slides>211</Slides>
  <Notes>211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211</vt:i4>
      </vt:variant>
    </vt:vector>
  </HeadingPairs>
  <TitlesOfParts>
    <vt:vector size="219" baseType="lpstr">
      <vt:lpstr>Calibri</vt:lpstr>
      <vt:lpstr>Open Sans</vt:lpstr>
      <vt:lpstr>Source Code Pro</vt:lpstr>
      <vt:lpstr>Calibri Light</vt:lpstr>
      <vt:lpstr>Arial</vt:lpstr>
      <vt:lpstr>Georgia</vt:lpstr>
      <vt:lpstr>Spectral</vt:lpstr>
      <vt:lpstr>Office Theme</vt:lpstr>
      <vt:lpstr>DATA SCIENCE</vt:lpstr>
      <vt:lpstr>WHAT IS DATA??</vt:lpstr>
      <vt:lpstr>DATA BEFORE SOME YEARS AGO..</vt:lpstr>
      <vt:lpstr>DATA NOW..</vt:lpstr>
      <vt:lpstr>DATA.. DATA.. DATA...</vt:lpstr>
      <vt:lpstr>NEED OF DATA SCIENCE??</vt:lpstr>
      <vt:lpstr>WHAT IS DATA SCIENCE??</vt:lpstr>
      <vt:lpstr>What are those skills??</vt:lpstr>
      <vt:lpstr> So ...Where  Data Science ... ??</vt:lpstr>
      <vt:lpstr>Life Cycle Of Data Science..</vt:lpstr>
      <vt:lpstr>DATA ACQUISITION..</vt:lpstr>
      <vt:lpstr>Data Pre Processing.. </vt:lpstr>
      <vt:lpstr>DATA MODELLING..</vt:lpstr>
      <vt:lpstr>Data Validation..</vt:lpstr>
      <vt:lpstr>Knowledge Representation </vt:lpstr>
      <vt:lpstr>Application of Data Science..</vt:lpstr>
      <vt:lpstr>   NUMPY...</vt:lpstr>
      <vt:lpstr>Installation..</vt:lpstr>
      <vt:lpstr>What is Numpy..?</vt:lpstr>
      <vt:lpstr>Numpy Array..</vt:lpstr>
      <vt:lpstr>How to create Numpy array</vt:lpstr>
      <vt:lpstr>2D array..</vt:lpstr>
      <vt:lpstr>Numpy array continues.. Initialization</vt:lpstr>
      <vt:lpstr>random</vt:lpstr>
      <vt:lpstr>continues..</vt:lpstr>
      <vt:lpstr>Astype- to convert the type of the array</vt:lpstr>
      <vt:lpstr>Add or remove elements</vt:lpstr>
      <vt:lpstr>Copy &amp; Sort</vt:lpstr>
      <vt:lpstr>Element operation</vt:lpstr>
      <vt:lpstr>continues..</vt:lpstr>
      <vt:lpstr>continue..</vt:lpstr>
      <vt:lpstr>continues...</vt:lpstr>
      <vt:lpstr>continues..</vt:lpstr>
      <vt:lpstr>Numpy slicing</vt:lpstr>
      <vt:lpstr>Linear Algebra</vt:lpstr>
      <vt:lpstr>Statistics..</vt:lpstr>
      <vt:lpstr>continues..</vt:lpstr>
      <vt:lpstr>Load Data From File</vt:lpstr>
      <vt:lpstr>Boolean Masking and Advanced Indexing</vt:lpstr>
      <vt:lpstr>continues..</vt:lpstr>
      <vt:lpstr>Index It</vt:lpstr>
      <vt:lpstr>Array comparison..</vt:lpstr>
      <vt:lpstr>Array BroadCasting..</vt:lpstr>
      <vt:lpstr>Split array..</vt:lpstr>
      <vt:lpstr>Split continues..</vt:lpstr>
      <vt:lpstr>exercises..</vt:lpstr>
      <vt:lpstr>Exercise continues...</vt:lpstr>
      <vt:lpstr>Exercises continues...</vt:lpstr>
      <vt:lpstr>   PANDAS...</vt:lpstr>
      <vt:lpstr>Intro..</vt:lpstr>
      <vt:lpstr>Intro continues..</vt:lpstr>
      <vt:lpstr>Pandas Series</vt:lpstr>
      <vt:lpstr>Data Frame</vt:lpstr>
      <vt:lpstr>Different ways to create a dataframe</vt:lpstr>
      <vt:lpstr>Create DataFrame using python dictionary..</vt:lpstr>
      <vt:lpstr>Create Dataframe using python tuple list</vt:lpstr>
      <vt:lpstr>Create Dataframe using a list of dictionaries..</vt:lpstr>
      <vt:lpstr>Create dataframe  using CSV</vt:lpstr>
      <vt:lpstr>Skip the unnecessary header or add yours..</vt:lpstr>
      <vt:lpstr>Read csv continues.,,</vt:lpstr>
      <vt:lpstr>Write csv ..</vt:lpstr>
      <vt:lpstr>Read txt file</vt:lpstr>
      <vt:lpstr>Create dataframe using excel file</vt:lpstr>
      <vt:lpstr>Read Excel...</vt:lpstr>
      <vt:lpstr>Using converters..</vt:lpstr>
      <vt:lpstr>Write EXCEL ...</vt:lpstr>
      <vt:lpstr>Write two data frames in a single excel file</vt:lpstr>
      <vt:lpstr>Read SQL</vt:lpstr>
      <vt:lpstr>read_sql_query()</vt:lpstr>
      <vt:lpstr>Write to sql table..</vt:lpstr>
      <vt:lpstr>Basics..</vt:lpstr>
      <vt:lpstr>Basics continues..</vt:lpstr>
      <vt:lpstr>Basics continues..</vt:lpstr>
      <vt:lpstr>Basics continues..</vt:lpstr>
      <vt:lpstr>Basics continues..</vt:lpstr>
      <vt:lpstr>Iterate over pandas dataframes..</vt:lpstr>
      <vt:lpstr>Slicing and indexing</vt:lpstr>
      <vt:lpstr>Basic Operations..</vt:lpstr>
      <vt:lpstr>Conditional Selecting..</vt:lpstr>
      <vt:lpstr>Date as the index</vt:lpstr>
      <vt:lpstr>date_range() ..</vt:lpstr>
      <vt:lpstr>to_datetime()</vt:lpstr>
      <vt:lpstr>Replace missing  values in a dataframe..</vt:lpstr>
      <vt:lpstr>Linear Interpolation</vt:lpstr>
      <vt:lpstr>DROP rows having NaN values</vt:lpstr>
      <vt:lpstr>replace()..</vt:lpstr>
      <vt:lpstr>replace() continues..</vt:lpstr>
      <vt:lpstr>replace() continues..</vt:lpstr>
      <vt:lpstr>Group By..</vt:lpstr>
      <vt:lpstr>Pictorial representation..</vt:lpstr>
      <vt:lpstr>Group by continues..</vt:lpstr>
      <vt:lpstr>Group operations..</vt:lpstr>
      <vt:lpstr>Group by multiple columns..</vt:lpstr>
      <vt:lpstr>concat..</vt:lpstr>
      <vt:lpstr>concat..</vt:lpstr>
      <vt:lpstr>merge...</vt:lpstr>
      <vt:lpstr>merge..</vt:lpstr>
      <vt:lpstr>Pivot and pivot tables...</vt:lpstr>
      <vt:lpstr>melt..</vt:lpstr>
      <vt:lpstr>Cross tab or contingency table..</vt:lpstr>
      <vt:lpstr>map..</vt:lpstr>
      <vt:lpstr>Map on dataframe → applymap()</vt:lpstr>
      <vt:lpstr>map() on pandas series</vt:lpstr>
      <vt:lpstr>   MATPLOTLIB...</vt:lpstr>
      <vt:lpstr>Matplotlib Intro..</vt:lpstr>
      <vt:lpstr>Installation and import..</vt:lpstr>
      <vt:lpstr>Plot your first..</vt:lpstr>
      <vt:lpstr>Add title and Label</vt:lpstr>
      <vt:lpstr>Multiple plot and adding legends</vt:lpstr>
      <vt:lpstr>continues..</vt:lpstr>
      <vt:lpstr>Same can be done in this way as well..</vt:lpstr>
      <vt:lpstr>color,linestyle,marker</vt:lpstr>
      <vt:lpstr>output..</vt:lpstr>
      <vt:lpstr>Same using format String..</vt:lpstr>
      <vt:lpstr>Color code and Increase line width..</vt:lpstr>
      <vt:lpstr>output..</vt:lpstr>
      <vt:lpstr>Adding Grid..</vt:lpstr>
      <vt:lpstr>Styles in pyplot..</vt:lpstr>
      <vt:lpstr>Apply the style..</vt:lpstr>
      <vt:lpstr>output..</vt:lpstr>
      <vt:lpstr>To save plot as image</vt:lpstr>
      <vt:lpstr>Bar chart..</vt:lpstr>
      <vt:lpstr>Multiple plotting in barchart..</vt:lpstr>
      <vt:lpstr>Horizontal barchart</vt:lpstr>
      <vt:lpstr>Pie Chart..</vt:lpstr>
      <vt:lpstr>Custom colors.. And wedge properties</vt:lpstr>
      <vt:lpstr>Explodes.. And shadow</vt:lpstr>
      <vt:lpstr>Startangle and percentage value..</vt:lpstr>
      <vt:lpstr>Scatter plots..</vt:lpstr>
      <vt:lpstr>Scalar plot..</vt:lpstr>
      <vt:lpstr>continue..</vt:lpstr>
      <vt:lpstr>continues...</vt:lpstr>
      <vt:lpstr>  STATISTICS FOR DATA SCIENCE</vt:lpstr>
      <vt:lpstr>Statistics</vt:lpstr>
      <vt:lpstr>What is Data??</vt:lpstr>
      <vt:lpstr>Data..</vt:lpstr>
      <vt:lpstr>….</vt:lpstr>
      <vt:lpstr>Quantitative and qualitative data..</vt:lpstr>
      <vt:lpstr>VARIABLE..</vt:lpstr>
      <vt:lpstr>TYPES oF Variables..</vt:lpstr>
      <vt:lpstr>Numeric Variables..</vt:lpstr>
      <vt:lpstr>Categorical Variable..</vt:lpstr>
      <vt:lpstr>Population and samples..</vt:lpstr>
      <vt:lpstr>SAMPLING</vt:lpstr>
      <vt:lpstr>PROBABILITY SAMPLING</vt:lpstr>
      <vt:lpstr>RANDOM SAMPLING</vt:lpstr>
      <vt:lpstr>Systematic sampling.</vt:lpstr>
      <vt:lpstr>STRATIFIED SAMPLING..</vt:lpstr>
      <vt:lpstr>TYPES OF STATISTICS</vt:lpstr>
      <vt:lpstr>TOOLS FOR DESCRIPTIVE STATISTIC ANALYSIS</vt:lpstr>
      <vt:lpstr>MEASURES OF CENTRAL TENDENCY</vt:lpstr>
      <vt:lpstr>MEAN∑</vt:lpstr>
      <vt:lpstr>2. MEDIAN</vt:lpstr>
      <vt:lpstr>3. MODE</vt:lpstr>
      <vt:lpstr>MEASURE OF SPREAD..</vt:lpstr>
      <vt:lpstr>CONT...</vt:lpstr>
      <vt:lpstr>RANGE</vt:lpstr>
      <vt:lpstr>CONT...</vt:lpstr>
      <vt:lpstr>2. QUARTILES</vt:lpstr>
      <vt:lpstr>CONT...</vt:lpstr>
      <vt:lpstr>INTERQUARTILE RANGE</vt:lpstr>
      <vt:lpstr>CONT...</vt:lpstr>
      <vt:lpstr>3. VARIANCE</vt:lpstr>
      <vt:lpstr>CONT...</vt:lpstr>
      <vt:lpstr>4. STANDARD DEVIATION</vt:lpstr>
      <vt:lpstr>finding the variance and std</vt:lpstr>
      <vt:lpstr>CONT...</vt:lpstr>
      <vt:lpstr>SKEWNESS</vt:lpstr>
      <vt:lpstr>CONT...</vt:lpstr>
      <vt:lpstr>KURTOSIS</vt:lpstr>
      <vt:lpstr>TOOLS FOR INFERENTIAL STATISTIC ANALYSIS</vt:lpstr>
      <vt:lpstr>CONFIDENCE INTERVAL</vt:lpstr>
      <vt:lpstr>2. HYPOTHESIS TESTING</vt:lpstr>
      <vt:lpstr>CONT...</vt:lpstr>
      <vt:lpstr>Type I and Type II errors</vt:lpstr>
      <vt:lpstr>Terminologies related to statistical tests</vt:lpstr>
      <vt:lpstr>Statistical tests</vt:lpstr>
      <vt:lpstr>z-test</vt:lpstr>
      <vt:lpstr>t-test</vt:lpstr>
      <vt:lpstr>3. REGRESSION ANALYSIS</vt:lpstr>
      <vt:lpstr>PROBABILITY</vt:lpstr>
      <vt:lpstr>CONT...</vt:lpstr>
      <vt:lpstr>CONT...</vt:lpstr>
      <vt:lpstr>CONDITIONAL PROBABILITY</vt:lpstr>
      <vt:lpstr>CONT...</vt:lpstr>
      <vt:lpstr>CONT...</vt:lpstr>
      <vt:lpstr>RANDOM VARIABLES</vt:lpstr>
      <vt:lpstr>PROBABILITY DISTRIBUTIONS</vt:lpstr>
      <vt:lpstr>Probability distribution of discrete random variables</vt:lpstr>
      <vt:lpstr>CONT...</vt:lpstr>
      <vt:lpstr>Types of probability distributions</vt:lpstr>
      <vt:lpstr>CONT...</vt:lpstr>
      <vt:lpstr>CONT...</vt:lpstr>
      <vt:lpstr>CONT...</vt:lpstr>
      <vt:lpstr>CONT...</vt:lpstr>
      <vt:lpstr>CONT...</vt:lpstr>
      <vt:lpstr>CONT...</vt:lpstr>
      <vt:lpstr>CONT...</vt:lpstr>
      <vt:lpstr>CONT...</vt:lpstr>
      <vt:lpstr>CONT...</vt:lpstr>
      <vt:lpstr>CONT...</vt:lpstr>
      <vt:lpstr>CONT...</vt:lpstr>
      <vt:lpstr>CONT...</vt:lpstr>
      <vt:lpstr>CONT...</vt:lpstr>
      <vt:lpstr>Covariance and Correlation</vt:lpstr>
      <vt:lpstr>Central Limit Theorem (CLT)</vt:lpstr>
      <vt:lpstr>Describing Frequencies</vt:lpstr>
      <vt:lpstr>CONT...</vt:lpstr>
      <vt:lpstr>CONT...</vt:lpstr>
      <vt:lpstr>MEASURE OF ERRORS</vt:lpstr>
      <vt:lpstr>CONT...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dc:title>
  <dc:creator>Power User</dc:creator>
  <cp:lastModifiedBy>Muhammed Shahil P</cp:lastModifiedBy>
  <cp:revision>8</cp:revision>
  <dcterms:modified xsi:type="dcterms:W3CDTF">2025-07-04T08:54:18Z</dcterms:modified>
</cp:coreProperties>
</file>